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37"/>
  </p:notesMasterIdLst>
  <p:handoutMasterIdLst>
    <p:handoutMasterId r:id="rId38"/>
  </p:handoutMasterIdLst>
  <p:sldIdLst>
    <p:sldId id="256" r:id="rId5"/>
    <p:sldId id="257" r:id="rId6"/>
    <p:sldId id="258" r:id="rId7"/>
    <p:sldId id="259" r:id="rId8"/>
    <p:sldId id="260" r:id="rId9"/>
    <p:sldId id="280" r:id="rId10"/>
    <p:sldId id="281" r:id="rId11"/>
    <p:sldId id="261" r:id="rId12"/>
    <p:sldId id="263" r:id="rId13"/>
    <p:sldId id="264" r:id="rId14"/>
    <p:sldId id="265" r:id="rId15"/>
    <p:sldId id="291" r:id="rId16"/>
    <p:sldId id="268" r:id="rId17"/>
    <p:sldId id="269" r:id="rId18"/>
    <p:sldId id="270" r:id="rId19"/>
    <p:sldId id="271" r:id="rId20"/>
    <p:sldId id="273" r:id="rId21"/>
    <p:sldId id="275" r:id="rId22"/>
    <p:sldId id="267" r:id="rId23"/>
    <p:sldId id="282" r:id="rId24"/>
    <p:sldId id="283" r:id="rId25"/>
    <p:sldId id="284" r:id="rId26"/>
    <p:sldId id="289" r:id="rId27"/>
    <p:sldId id="290" r:id="rId28"/>
    <p:sldId id="285" r:id="rId29"/>
    <p:sldId id="286" r:id="rId30"/>
    <p:sldId id="287" r:id="rId31"/>
    <p:sldId id="288" r:id="rId32"/>
    <p:sldId id="293" r:id="rId33"/>
    <p:sldId id="292" r:id="rId34"/>
    <p:sldId id="262" r:id="rId35"/>
    <p:sldId id="272" r:id="rId36"/>
  </p:sldIdLst>
  <p:sldSz cx="9144000" cy="5143500" type="screen16x9"/>
  <p:notesSz cx="9144000" cy="51435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0D7473-CA05-4553-A2FF-D0049BDEBC73}" v="42" dt="2026-04-24T07:04:11.287"/>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4660"/>
  </p:normalViewPr>
  <p:slideViewPr>
    <p:cSldViewPr snapToGrid="0">
      <p:cViewPr varScale="1">
        <p:scale>
          <a:sx n="103" d="100"/>
          <a:sy n="103" d="100"/>
        </p:scale>
        <p:origin x="878"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ul Rahim" userId="4623b2d216936659" providerId="LiveId" clId="{588CDE8C-B580-4563-AB19-9FFFD2F1ECCD}"/>
    <pc:docChg chg="undo redo custSel addSld delSld modSld sldOrd">
      <pc:chgData name="Abdul Rahim" userId="4623b2d216936659" providerId="LiveId" clId="{588CDE8C-B580-4563-AB19-9FFFD2F1ECCD}" dt="2026-04-24T07:08:21.635" v="1529" actId="1076"/>
      <pc:docMkLst>
        <pc:docMk/>
      </pc:docMkLst>
      <pc:sldChg chg="modSp mod">
        <pc:chgData name="Abdul Rahim" userId="4623b2d216936659" providerId="LiveId" clId="{588CDE8C-B580-4563-AB19-9FFFD2F1ECCD}" dt="2026-04-24T06:51:29.389" v="1391" actId="1076"/>
        <pc:sldMkLst>
          <pc:docMk/>
          <pc:sldMk cId="0" sldId="258"/>
        </pc:sldMkLst>
        <pc:spChg chg="mod">
          <ac:chgData name="Abdul Rahim" userId="4623b2d216936659" providerId="LiveId" clId="{588CDE8C-B580-4563-AB19-9FFFD2F1ECCD}" dt="2026-04-24T06:51:29.389" v="1391" actId="1076"/>
          <ac:spMkLst>
            <pc:docMk/>
            <pc:sldMk cId="0" sldId="258"/>
            <ac:spMk id="2" creationId="{371E71C2-75EF-4D89-E1D8-E2C0B6205571}"/>
          </ac:spMkLst>
        </pc:spChg>
      </pc:sldChg>
      <pc:sldChg chg="modSp mod">
        <pc:chgData name="Abdul Rahim" userId="4623b2d216936659" providerId="LiveId" clId="{588CDE8C-B580-4563-AB19-9FFFD2F1ECCD}" dt="2026-04-24T06:39:20.386" v="1304" actId="20577"/>
        <pc:sldMkLst>
          <pc:docMk/>
          <pc:sldMk cId="0" sldId="259"/>
        </pc:sldMkLst>
        <pc:graphicFrameChg chg="mod modGraphic">
          <ac:chgData name="Abdul Rahim" userId="4623b2d216936659" providerId="LiveId" clId="{588CDE8C-B580-4563-AB19-9FFFD2F1ECCD}" dt="2026-04-24T06:39:20.386" v="1304" actId="20577"/>
          <ac:graphicFrameMkLst>
            <pc:docMk/>
            <pc:sldMk cId="0" sldId="259"/>
            <ac:graphicFrameMk id="7" creationId="{97F09D4D-175D-78C8-9F21-BEFD2929485E}"/>
          </ac:graphicFrameMkLst>
        </pc:graphicFrameChg>
      </pc:sldChg>
      <pc:sldChg chg="modSp mod">
        <pc:chgData name="Abdul Rahim" userId="4623b2d216936659" providerId="LiveId" clId="{588CDE8C-B580-4563-AB19-9FFFD2F1ECCD}" dt="2026-04-24T06:40:23.519" v="1318" actId="20577"/>
        <pc:sldMkLst>
          <pc:docMk/>
          <pc:sldMk cId="0" sldId="260"/>
        </pc:sldMkLst>
        <pc:graphicFrameChg chg="mod modGraphic">
          <ac:chgData name="Abdul Rahim" userId="4623b2d216936659" providerId="LiveId" clId="{588CDE8C-B580-4563-AB19-9FFFD2F1ECCD}" dt="2026-04-24T06:40:23.519" v="1318" actId="20577"/>
          <ac:graphicFrameMkLst>
            <pc:docMk/>
            <pc:sldMk cId="0" sldId="260"/>
            <ac:graphicFrameMk id="2" creationId="{00000000-0000-0000-0000-000000000000}"/>
          </ac:graphicFrameMkLst>
        </pc:graphicFrameChg>
      </pc:sldChg>
      <pc:sldChg chg="addSp delSp modSp mod">
        <pc:chgData name="Abdul Rahim" userId="4623b2d216936659" providerId="LiveId" clId="{588CDE8C-B580-4563-AB19-9FFFD2F1ECCD}" dt="2026-04-24T06:48:15.695" v="1378" actId="1076"/>
        <pc:sldMkLst>
          <pc:docMk/>
          <pc:sldMk cId="2910346103" sldId="265"/>
        </pc:sldMkLst>
        <pc:picChg chg="add mod">
          <ac:chgData name="Abdul Rahim" userId="4623b2d216936659" providerId="LiveId" clId="{588CDE8C-B580-4563-AB19-9FFFD2F1ECCD}" dt="2026-04-24T06:48:15.695" v="1378" actId="1076"/>
          <ac:picMkLst>
            <pc:docMk/>
            <pc:sldMk cId="2910346103" sldId="265"/>
            <ac:picMk id="3" creationId="{BD5C1086-196E-702B-89A8-D260C87005F0}"/>
          </ac:picMkLst>
        </pc:picChg>
        <pc:picChg chg="add del mod modCrop">
          <ac:chgData name="Abdul Rahim" userId="4623b2d216936659" providerId="LiveId" clId="{588CDE8C-B580-4563-AB19-9FFFD2F1ECCD}" dt="2026-04-24T06:48:05.934" v="1375" actId="478"/>
          <ac:picMkLst>
            <pc:docMk/>
            <pc:sldMk cId="2910346103" sldId="265"/>
            <ac:picMk id="4" creationId="{85023F29-0E86-8427-3613-3530A2BB36DB}"/>
          </ac:picMkLst>
        </pc:picChg>
      </pc:sldChg>
      <pc:sldChg chg="addSp delSp modSp mod">
        <pc:chgData name="Abdul Rahim" userId="4623b2d216936659" providerId="LiveId" clId="{588CDE8C-B580-4563-AB19-9FFFD2F1ECCD}" dt="2026-04-01T17:01:07.414" v="1019" actId="20577"/>
        <pc:sldMkLst>
          <pc:docMk/>
          <pc:sldMk cId="690091397" sldId="268"/>
        </pc:sldMkLst>
        <pc:spChg chg="mod">
          <ac:chgData name="Abdul Rahim" userId="4623b2d216936659" providerId="LiveId" clId="{588CDE8C-B580-4563-AB19-9FFFD2F1ECCD}" dt="2026-04-01T17:01:07.414" v="1019" actId="20577"/>
          <ac:spMkLst>
            <pc:docMk/>
            <pc:sldMk cId="690091397" sldId="268"/>
            <ac:spMk id="7" creationId="{F7D0809E-57C4-9FFB-78AC-4542674E27F2}"/>
          </ac:spMkLst>
        </pc:spChg>
      </pc:sldChg>
      <pc:sldChg chg="del">
        <pc:chgData name="Abdul Rahim" userId="4623b2d216936659" providerId="LiveId" clId="{588CDE8C-B580-4563-AB19-9FFFD2F1ECCD}" dt="2026-04-24T06:50:34.145" v="1390" actId="2696"/>
        <pc:sldMkLst>
          <pc:docMk/>
          <pc:sldMk cId="4273166893" sldId="279"/>
        </pc:sldMkLst>
      </pc:sldChg>
      <pc:sldChg chg="modSp mod">
        <pc:chgData name="Abdul Rahim" userId="4623b2d216936659" providerId="LiveId" clId="{588CDE8C-B580-4563-AB19-9FFFD2F1ECCD}" dt="2026-04-24T06:45:20.861" v="1363"/>
        <pc:sldMkLst>
          <pc:docMk/>
          <pc:sldMk cId="225053262" sldId="280"/>
        </pc:sldMkLst>
        <pc:graphicFrameChg chg="mod modGraphic">
          <ac:chgData name="Abdul Rahim" userId="4623b2d216936659" providerId="LiveId" clId="{588CDE8C-B580-4563-AB19-9FFFD2F1ECCD}" dt="2026-04-24T06:45:20.861" v="1363"/>
          <ac:graphicFrameMkLst>
            <pc:docMk/>
            <pc:sldMk cId="225053262" sldId="280"/>
            <ac:graphicFrameMk id="2" creationId="{AA265884-4DB5-9749-87ED-61EF19BE4EAD}"/>
          </ac:graphicFrameMkLst>
        </pc:graphicFrameChg>
      </pc:sldChg>
      <pc:sldChg chg="modSp mod">
        <pc:chgData name="Abdul Rahim" userId="4623b2d216936659" providerId="LiveId" clId="{588CDE8C-B580-4563-AB19-9FFFD2F1ECCD}" dt="2026-04-24T06:46:07.678" v="1373" actId="20577"/>
        <pc:sldMkLst>
          <pc:docMk/>
          <pc:sldMk cId="2147479784" sldId="281"/>
        </pc:sldMkLst>
        <pc:graphicFrameChg chg="mod modGraphic">
          <ac:chgData name="Abdul Rahim" userId="4623b2d216936659" providerId="LiveId" clId="{588CDE8C-B580-4563-AB19-9FFFD2F1ECCD}" dt="2026-04-24T06:46:07.678" v="1373" actId="20577"/>
          <ac:graphicFrameMkLst>
            <pc:docMk/>
            <pc:sldMk cId="2147479784" sldId="281"/>
            <ac:graphicFrameMk id="2" creationId="{8120A135-50AF-BBB0-D0A2-21A41733B4E8}"/>
          </ac:graphicFrameMkLst>
        </pc:graphicFrameChg>
      </pc:sldChg>
      <pc:sldChg chg="addSp delSp modSp mod">
        <pc:chgData name="Abdul Rahim" userId="4623b2d216936659" providerId="LiveId" clId="{588CDE8C-B580-4563-AB19-9FFFD2F1ECCD}" dt="2026-04-24T07:08:07.644" v="1528" actId="1076"/>
        <pc:sldMkLst>
          <pc:docMk/>
          <pc:sldMk cId="3375693823" sldId="285"/>
        </pc:sldMkLst>
        <pc:spChg chg="add mod">
          <ac:chgData name="Abdul Rahim" userId="4623b2d216936659" providerId="LiveId" clId="{588CDE8C-B580-4563-AB19-9FFFD2F1ECCD}" dt="2026-04-24T07:00:42.325" v="1437"/>
          <ac:spMkLst>
            <pc:docMk/>
            <pc:sldMk cId="3375693823" sldId="285"/>
            <ac:spMk id="5" creationId="{9BAF2A1B-2EEC-2FD6-2EEE-5881A6A36BEA}"/>
          </ac:spMkLst>
        </pc:spChg>
        <pc:spChg chg="add del mod">
          <ac:chgData name="Abdul Rahim" userId="4623b2d216936659" providerId="LiveId" clId="{588CDE8C-B580-4563-AB19-9FFFD2F1ECCD}" dt="2026-04-24T07:02:38.219" v="1447"/>
          <ac:spMkLst>
            <pc:docMk/>
            <pc:sldMk cId="3375693823" sldId="285"/>
            <ac:spMk id="7" creationId="{BCCF9A6D-F296-CC1D-EC9C-82AE7EB81F2F}"/>
          </ac:spMkLst>
        </pc:spChg>
        <pc:graphicFrameChg chg="add del mod modGraphic">
          <ac:chgData name="Abdul Rahim" userId="4623b2d216936659" providerId="LiveId" clId="{588CDE8C-B580-4563-AB19-9FFFD2F1ECCD}" dt="2026-04-24T07:08:07.644" v="1528" actId="1076"/>
          <ac:graphicFrameMkLst>
            <pc:docMk/>
            <pc:sldMk cId="3375693823" sldId="285"/>
            <ac:graphicFrameMk id="2" creationId="{1871026B-05E2-0338-FBAE-CF30AD21C10E}"/>
          </ac:graphicFrameMkLst>
        </pc:graphicFrameChg>
        <pc:graphicFrameChg chg="add mod">
          <ac:chgData name="Abdul Rahim" userId="4623b2d216936659" providerId="LiveId" clId="{588CDE8C-B580-4563-AB19-9FFFD2F1ECCD}" dt="2026-04-24T07:00:38.552" v="1436"/>
          <ac:graphicFrameMkLst>
            <pc:docMk/>
            <pc:sldMk cId="3375693823" sldId="285"/>
            <ac:graphicFrameMk id="4" creationId="{7C0D5A5E-8F41-E71B-9724-C26DECE900D7}"/>
          </ac:graphicFrameMkLst>
        </pc:graphicFrameChg>
        <pc:graphicFrameChg chg="add mod modGraphic">
          <ac:chgData name="Abdul Rahim" userId="4623b2d216936659" providerId="LiveId" clId="{588CDE8C-B580-4563-AB19-9FFFD2F1ECCD}" dt="2026-04-24T07:02:16.811" v="1444" actId="12385"/>
          <ac:graphicFrameMkLst>
            <pc:docMk/>
            <pc:sldMk cId="3375693823" sldId="285"/>
            <ac:graphicFrameMk id="6" creationId="{B13B2B32-D52D-A374-7E4A-B43F6F8037E4}"/>
          </ac:graphicFrameMkLst>
        </pc:graphicFrameChg>
        <pc:graphicFrameChg chg="add mod">
          <ac:chgData name="Abdul Rahim" userId="4623b2d216936659" providerId="LiveId" clId="{588CDE8C-B580-4563-AB19-9FFFD2F1ECCD}" dt="2026-04-24T07:03:17.658" v="1452"/>
          <ac:graphicFrameMkLst>
            <pc:docMk/>
            <pc:sldMk cId="3375693823" sldId="285"/>
            <ac:graphicFrameMk id="8" creationId="{38ADEB10-312E-F4BB-2048-567F62E8DDDF}"/>
          </ac:graphicFrameMkLst>
        </pc:graphicFrameChg>
      </pc:sldChg>
      <pc:sldChg chg="addSp delSp modSp mod">
        <pc:chgData name="Abdul Rahim" userId="4623b2d216936659" providerId="LiveId" clId="{588CDE8C-B580-4563-AB19-9FFFD2F1ECCD}" dt="2026-04-12T17:30:21.358" v="1158" actId="1076"/>
        <pc:sldMkLst>
          <pc:docMk/>
          <pc:sldMk cId="1452501342" sldId="286"/>
        </pc:sldMkLst>
        <pc:spChg chg="mod">
          <ac:chgData name="Abdul Rahim" userId="4623b2d216936659" providerId="LiveId" clId="{588CDE8C-B580-4563-AB19-9FFFD2F1ECCD}" dt="2026-04-12T17:30:03.285" v="1156" actId="1076"/>
          <ac:spMkLst>
            <pc:docMk/>
            <pc:sldMk cId="1452501342" sldId="286"/>
            <ac:spMk id="4" creationId="{7310B17D-2011-8FA8-F6AE-545BCBF7B802}"/>
          </ac:spMkLst>
        </pc:spChg>
        <pc:picChg chg="add mod modCrop">
          <ac:chgData name="Abdul Rahim" userId="4623b2d216936659" providerId="LiveId" clId="{588CDE8C-B580-4563-AB19-9FFFD2F1ECCD}" dt="2026-04-12T17:30:21.358" v="1158" actId="1076"/>
          <ac:picMkLst>
            <pc:docMk/>
            <pc:sldMk cId="1452501342" sldId="286"/>
            <ac:picMk id="3" creationId="{9DDB9F57-8B33-DBDB-81D4-F9BFAC37721E}"/>
          </ac:picMkLst>
        </pc:picChg>
      </pc:sldChg>
      <pc:sldChg chg="addSp delSp modSp mod">
        <pc:chgData name="Abdul Rahim" userId="4623b2d216936659" providerId="LiveId" clId="{588CDE8C-B580-4563-AB19-9FFFD2F1ECCD}" dt="2026-04-12T17:32:24.940" v="1177" actId="1076"/>
        <pc:sldMkLst>
          <pc:docMk/>
          <pc:sldMk cId="1988036522" sldId="287"/>
        </pc:sldMkLst>
        <pc:spChg chg="add mod">
          <ac:chgData name="Abdul Rahim" userId="4623b2d216936659" providerId="LiveId" clId="{588CDE8C-B580-4563-AB19-9FFFD2F1ECCD}" dt="2026-04-12T17:32:24.940" v="1177" actId="1076"/>
          <ac:spMkLst>
            <pc:docMk/>
            <pc:sldMk cId="1988036522" sldId="287"/>
            <ac:spMk id="2" creationId="{568239DB-AB09-2553-8085-C70D7703E2C9}"/>
          </ac:spMkLst>
        </pc:spChg>
        <pc:spChg chg="mod">
          <ac:chgData name="Abdul Rahim" userId="4623b2d216936659" providerId="LiveId" clId="{588CDE8C-B580-4563-AB19-9FFFD2F1ECCD}" dt="2026-04-12T17:32:02.712" v="1170" actId="1076"/>
          <ac:spMkLst>
            <pc:docMk/>
            <pc:sldMk cId="1988036522" sldId="287"/>
            <ac:spMk id="8" creationId="{E46EC836-FFFA-5D5D-17CD-71E7D8E6CA53}"/>
          </ac:spMkLst>
        </pc:spChg>
        <pc:picChg chg="add mod modCrop">
          <ac:chgData name="Abdul Rahim" userId="4623b2d216936659" providerId="LiveId" clId="{588CDE8C-B580-4563-AB19-9FFFD2F1ECCD}" dt="2026-04-12T17:32:20.074" v="1176" actId="1076"/>
          <ac:picMkLst>
            <pc:docMk/>
            <pc:sldMk cId="1988036522" sldId="287"/>
            <ac:picMk id="9" creationId="{AEB549B1-2F78-508D-0A9A-8C154F2B7FCE}"/>
          </ac:picMkLst>
        </pc:picChg>
      </pc:sldChg>
      <pc:sldChg chg="addSp delSp modSp mod">
        <pc:chgData name="Abdul Rahim" userId="4623b2d216936659" providerId="LiveId" clId="{588CDE8C-B580-4563-AB19-9FFFD2F1ECCD}" dt="2026-04-12T17:33:17.173" v="1185" actId="1076"/>
        <pc:sldMkLst>
          <pc:docMk/>
          <pc:sldMk cId="1118160181" sldId="288"/>
        </pc:sldMkLst>
        <pc:spChg chg="add mod">
          <ac:chgData name="Abdul Rahim" userId="4623b2d216936659" providerId="LiveId" clId="{588CDE8C-B580-4563-AB19-9FFFD2F1ECCD}" dt="2026-04-12T17:27:26.922" v="1124"/>
          <ac:spMkLst>
            <pc:docMk/>
            <pc:sldMk cId="1118160181" sldId="288"/>
            <ac:spMk id="2" creationId="{DCF9A8E8-7AC3-4EA8-420F-06887A207E8A}"/>
          </ac:spMkLst>
        </pc:spChg>
        <pc:picChg chg="mod">
          <ac:chgData name="Abdul Rahim" userId="4623b2d216936659" providerId="LiveId" clId="{588CDE8C-B580-4563-AB19-9FFFD2F1ECCD}" dt="2026-04-01T17:26:39.533" v="1046" actId="1076"/>
          <ac:picMkLst>
            <pc:docMk/>
            <pc:sldMk cId="1118160181" sldId="288"/>
            <ac:picMk id="6" creationId="{09B12CFD-BDAA-4E9F-D49B-C1F58F0F116C}"/>
          </ac:picMkLst>
        </pc:picChg>
        <pc:picChg chg="add mod modCrop">
          <ac:chgData name="Abdul Rahim" userId="4623b2d216936659" providerId="LiveId" clId="{588CDE8C-B580-4563-AB19-9FFFD2F1ECCD}" dt="2026-04-12T17:33:17.173" v="1185" actId="1076"/>
          <ac:picMkLst>
            <pc:docMk/>
            <pc:sldMk cId="1118160181" sldId="288"/>
            <ac:picMk id="9" creationId="{92452318-1241-496F-169A-8F55D314FD4B}"/>
          </ac:picMkLst>
        </pc:picChg>
      </pc:sldChg>
      <pc:sldChg chg="modSp mod">
        <pc:chgData name="Abdul Rahim" userId="4623b2d216936659" providerId="LiveId" clId="{588CDE8C-B580-4563-AB19-9FFFD2F1ECCD}" dt="2026-04-24T06:59:18.040" v="1433" actId="2711"/>
        <pc:sldMkLst>
          <pc:docMk/>
          <pc:sldMk cId="50302641" sldId="289"/>
        </pc:sldMkLst>
        <pc:spChg chg="mod">
          <ac:chgData name="Abdul Rahim" userId="4623b2d216936659" providerId="LiveId" clId="{588CDE8C-B580-4563-AB19-9FFFD2F1ECCD}" dt="2026-04-24T06:59:18.040" v="1433" actId="2711"/>
          <ac:spMkLst>
            <pc:docMk/>
            <pc:sldMk cId="50302641" sldId="289"/>
            <ac:spMk id="4" creationId="{5AAC2662-CAAD-9828-18E9-40EC3B4C31A6}"/>
          </ac:spMkLst>
        </pc:spChg>
      </pc:sldChg>
      <pc:sldChg chg="modSp mod">
        <pc:chgData name="Abdul Rahim" userId="4623b2d216936659" providerId="LiveId" clId="{588CDE8C-B580-4563-AB19-9FFFD2F1ECCD}" dt="2026-04-24T06:59:36.595" v="1434" actId="2711"/>
        <pc:sldMkLst>
          <pc:docMk/>
          <pc:sldMk cId="1331269040" sldId="290"/>
        </pc:sldMkLst>
        <pc:spChg chg="mod">
          <ac:chgData name="Abdul Rahim" userId="4623b2d216936659" providerId="LiveId" clId="{588CDE8C-B580-4563-AB19-9FFFD2F1ECCD}" dt="2026-04-24T06:59:36.595" v="1434" actId="2711"/>
          <ac:spMkLst>
            <pc:docMk/>
            <pc:sldMk cId="1331269040" sldId="290"/>
            <ac:spMk id="3" creationId="{85C62B9D-997A-596C-1B35-EF1E2CD62997}"/>
          </ac:spMkLst>
        </pc:spChg>
      </pc:sldChg>
      <pc:sldChg chg="addSp delSp modSp mod">
        <pc:chgData name="Abdul Rahim" userId="4623b2d216936659" providerId="LiveId" clId="{588CDE8C-B580-4563-AB19-9FFFD2F1ECCD}" dt="2026-04-24T06:49:53.511" v="1389" actId="14100"/>
        <pc:sldMkLst>
          <pc:docMk/>
          <pc:sldMk cId="3519811041" sldId="291"/>
        </pc:sldMkLst>
        <pc:picChg chg="add mod">
          <ac:chgData name="Abdul Rahim" userId="4623b2d216936659" providerId="LiveId" clId="{588CDE8C-B580-4563-AB19-9FFFD2F1ECCD}" dt="2026-04-24T06:49:53.511" v="1389" actId="14100"/>
          <ac:picMkLst>
            <pc:docMk/>
            <pc:sldMk cId="3519811041" sldId="291"/>
            <ac:picMk id="3" creationId="{D61C4553-57D8-1FDF-5CDC-CF908B93C067}"/>
          </ac:picMkLst>
        </pc:picChg>
        <pc:picChg chg="del mod modCrop">
          <ac:chgData name="Abdul Rahim" userId="4623b2d216936659" providerId="LiveId" clId="{588CDE8C-B580-4563-AB19-9FFFD2F1ECCD}" dt="2026-04-24T06:48:54.672" v="1379" actId="478"/>
          <ac:picMkLst>
            <pc:docMk/>
            <pc:sldMk cId="3519811041" sldId="291"/>
            <ac:picMk id="5" creationId="{DC055CD3-23B7-A8C9-09B9-12EF9DB2A0FF}"/>
          </ac:picMkLst>
        </pc:picChg>
      </pc:sldChg>
      <pc:sldChg chg="addSp modSp new mod">
        <pc:chgData name="Abdul Rahim" userId="4623b2d216936659" providerId="LiveId" clId="{588CDE8C-B580-4563-AB19-9FFFD2F1ECCD}" dt="2026-04-24T07:08:21.635" v="1529" actId="1076"/>
        <pc:sldMkLst>
          <pc:docMk/>
          <pc:sldMk cId="2572659523" sldId="292"/>
        </pc:sldMkLst>
        <pc:spChg chg="add mod">
          <ac:chgData name="Abdul Rahim" userId="4623b2d216936659" providerId="LiveId" clId="{588CDE8C-B580-4563-AB19-9FFFD2F1ECCD}" dt="2026-04-24T07:08:21.635" v="1529" actId="1076"/>
          <ac:spMkLst>
            <pc:docMk/>
            <pc:sldMk cId="2572659523" sldId="292"/>
            <ac:spMk id="3" creationId="{F238A8F4-C5E2-560A-9162-5E7BCAD3678C}"/>
          </ac:spMkLst>
        </pc:spChg>
        <pc:spChg chg="add mod">
          <ac:chgData name="Abdul Rahim" userId="4623b2d216936659" providerId="LiveId" clId="{588CDE8C-B580-4563-AB19-9FFFD2F1ECCD}" dt="2026-04-01T17:44:17.504" v="1106"/>
          <ac:spMkLst>
            <pc:docMk/>
            <pc:sldMk cId="2572659523" sldId="292"/>
            <ac:spMk id="4" creationId="{E8491FE7-A434-D095-EA77-9F91E7C194A5}"/>
          </ac:spMkLst>
        </pc:spChg>
        <pc:picChg chg="add mod">
          <ac:chgData name="Abdul Rahim" userId="4623b2d216936659" providerId="LiveId" clId="{588CDE8C-B580-4563-AB19-9FFFD2F1ECCD}" dt="2026-04-01T17:44:17.504" v="1106"/>
          <ac:picMkLst>
            <pc:docMk/>
            <pc:sldMk cId="2572659523" sldId="292"/>
            <ac:picMk id="5" creationId="{C1EE95BD-7E05-50C9-DAA2-A19B8B17A0DD}"/>
          </ac:picMkLst>
        </pc:picChg>
      </pc:sldChg>
      <pc:sldChg chg="addSp modSp new mod">
        <pc:chgData name="Abdul Rahim" userId="4623b2d216936659" providerId="LiveId" clId="{588CDE8C-B580-4563-AB19-9FFFD2F1ECCD}" dt="2026-04-12T17:34:08.537" v="1190" actId="1076"/>
        <pc:sldMkLst>
          <pc:docMk/>
          <pc:sldMk cId="92175374" sldId="293"/>
        </pc:sldMkLst>
        <pc:spChg chg="add mod">
          <ac:chgData name="Abdul Rahim" userId="4623b2d216936659" providerId="LiveId" clId="{588CDE8C-B580-4563-AB19-9FFFD2F1ECCD}" dt="2026-04-12T17:28:21.832" v="1142" actId="14100"/>
          <ac:spMkLst>
            <pc:docMk/>
            <pc:sldMk cId="92175374" sldId="293"/>
            <ac:spMk id="3" creationId="{CC4825FB-641B-1A61-68AA-B22E10820DFF}"/>
          </ac:spMkLst>
        </pc:spChg>
        <pc:spChg chg="add mod">
          <ac:chgData name="Abdul Rahim" userId="4623b2d216936659" providerId="LiveId" clId="{588CDE8C-B580-4563-AB19-9FFFD2F1ECCD}" dt="2026-04-12T17:28:29.427" v="1143"/>
          <ac:spMkLst>
            <pc:docMk/>
            <pc:sldMk cId="92175374" sldId="293"/>
            <ac:spMk id="4" creationId="{A45A63B4-4326-8143-6454-58415C15EE4A}"/>
          </ac:spMkLst>
        </pc:spChg>
        <pc:picChg chg="add mod">
          <ac:chgData name="Abdul Rahim" userId="4623b2d216936659" providerId="LiveId" clId="{588CDE8C-B580-4563-AB19-9FFFD2F1ECCD}" dt="2026-04-12T17:28:29.427" v="1143"/>
          <ac:picMkLst>
            <pc:docMk/>
            <pc:sldMk cId="92175374" sldId="293"/>
            <ac:picMk id="5" creationId="{F8751737-35E5-6E38-76C7-95968CA4D5EB}"/>
          </ac:picMkLst>
        </pc:picChg>
        <pc:picChg chg="add mod modCrop">
          <ac:chgData name="Abdul Rahim" userId="4623b2d216936659" providerId="LiveId" clId="{588CDE8C-B580-4563-AB19-9FFFD2F1ECCD}" dt="2026-04-12T17:34:08.537" v="1190" actId="1076"/>
          <ac:picMkLst>
            <pc:docMk/>
            <pc:sldMk cId="92175374" sldId="293"/>
            <ac:picMk id="7" creationId="{8A275B5B-8A14-BC1C-D226-77A10B9B2F43}"/>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A13C83-8724-3808-AC57-F3E804850B73}"/>
              </a:ext>
            </a:extLst>
          </p:cNvPr>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3B91B670-BE33-E37C-A6AA-C83132B3D961}"/>
              </a:ext>
            </a:extLst>
          </p:cNvPr>
          <p:cNvSpPr>
            <a:spLocks noGrp="1"/>
          </p:cNvSpPr>
          <p:nvPr>
            <p:ph type="dt" sz="quarter" idx="1"/>
          </p:nvPr>
        </p:nvSpPr>
        <p:spPr>
          <a:xfrm>
            <a:off x="5180013" y="0"/>
            <a:ext cx="3962400" cy="257175"/>
          </a:xfrm>
          <a:prstGeom prst="rect">
            <a:avLst/>
          </a:prstGeom>
        </p:spPr>
        <p:txBody>
          <a:bodyPr vert="horz" lIns="91440" tIns="45720" rIns="91440" bIns="45720" rtlCol="0"/>
          <a:lstStyle>
            <a:lvl1pPr algn="r">
              <a:defRPr sz="1200"/>
            </a:lvl1pPr>
          </a:lstStyle>
          <a:p>
            <a:fld id="{7A96B479-1D20-45CF-A9C5-F086768054E7}" type="datetimeFigureOut">
              <a:rPr lang="en-IN" smtClean="0"/>
              <a:t>24-04-2026</a:t>
            </a:fld>
            <a:endParaRPr lang="en-IN"/>
          </a:p>
        </p:txBody>
      </p:sp>
      <p:sp>
        <p:nvSpPr>
          <p:cNvPr id="4" name="Footer Placeholder 3">
            <a:extLst>
              <a:ext uri="{FF2B5EF4-FFF2-40B4-BE49-F238E27FC236}">
                <a16:creationId xmlns:a16="http://schemas.microsoft.com/office/drawing/2014/main" id="{22530C2E-D012-4E5E-CF35-8F26C5AE1920}"/>
              </a:ext>
            </a:extLst>
          </p:cNvPr>
          <p:cNvSpPr>
            <a:spLocks noGrp="1"/>
          </p:cNvSpPr>
          <p:nvPr>
            <p:ph type="ftr" sz="quarter" idx="2"/>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48BF31F8-970F-136A-9E69-38B3B8D09878}"/>
              </a:ext>
            </a:extLst>
          </p:cNvPr>
          <p:cNvSpPr>
            <a:spLocks noGrp="1"/>
          </p:cNvSpPr>
          <p:nvPr>
            <p:ph type="sldNum" sz="quarter" idx="3"/>
          </p:nvPr>
        </p:nvSpPr>
        <p:spPr>
          <a:xfrm>
            <a:off x="5180013" y="4886325"/>
            <a:ext cx="3962400" cy="257175"/>
          </a:xfrm>
          <a:prstGeom prst="rect">
            <a:avLst/>
          </a:prstGeom>
        </p:spPr>
        <p:txBody>
          <a:bodyPr vert="horz" lIns="91440" tIns="45720" rIns="91440" bIns="45720" rtlCol="0" anchor="b"/>
          <a:lstStyle>
            <a:lvl1pPr algn="r">
              <a:defRPr sz="1200"/>
            </a:lvl1pPr>
          </a:lstStyle>
          <a:p>
            <a:fld id="{D80FB0E6-C782-4759-8BBF-75DE33C4E218}" type="slidenum">
              <a:rPr lang="en-IN" smtClean="0"/>
              <a:t>‹#›</a:t>
            </a:fld>
            <a:endParaRPr lang="en-IN"/>
          </a:p>
        </p:txBody>
      </p:sp>
    </p:spTree>
    <p:extLst>
      <p:ext uri="{BB962C8B-B14F-4D97-AF65-F5344CB8AC3E}">
        <p14:creationId xmlns:p14="http://schemas.microsoft.com/office/powerpoint/2010/main" val="298970505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97FBA5D3-31FA-458C-8A61-B25010E25F6C}" type="datetimeFigureOut">
              <a:rPr lang="en-IN" smtClean="0"/>
              <a:t>24-04-2026</a:t>
            </a:fld>
            <a:endParaRPr lang="en-IN"/>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B3ED5470-0677-4642-B109-CE50E0B04DA8}" type="slidenum">
              <a:rPr lang="en-IN" smtClean="0"/>
              <a:t>‹#›</a:t>
            </a:fld>
            <a:endParaRPr lang="en-IN"/>
          </a:p>
        </p:txBody>
      </p:sp>
    </p:spTree>
    <p:extLst>
      <p:ext uri="{BB962C8B-B14F-4D97-AF65-F5344CB8AC3E}">
        <p14:creationId xmlns:p14="http://schemas.microsoft.com/office/powerpoint/2010/main" val="205973754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B3ED5470-0677-4642-B109-CE50E0B04DA8}" type="slidenum">
              <a:rPr lang="en-IN" smtClean="0"/>
              <a:t>4</a:t>
            </a:fld>
            <a:endParaRPr lang="en-IN"/>
          </a:p>
        </p:txBody>
      </p:sp>
    </p:spTree>
    <p:extLst>
      <p:ext uri="{BB962C8B-B14F-4D97-AF65-F5344CB8AC3E}">
        <p14:creationId xmlns:p14="http://schemas.microsoft.com/office/powerpoint/2010/main" val="17170590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ED5470-0677-4642-B109-CE50E0B04DA8}" type="slidenum">
              <a:rPr lang="en-IN" smtClean="0"/>
              <a:t>17</a:t>
            </a:fld>
            <a:endParaRPr lang="en-IN"/>
          </a:p>
        </p:txBody>
      </p:sp>
    </p:spTree>
    <p:extLst>
      <p:ext uri="{BB962C8B-B14F-4D97-AF65-F5344CB8AC3E}">
        <p14:creationId xmlns:p14="http://schemas.microsoft.com/office/powerpoint/2010/main" val="41207199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3ED5470-0677-4642-B109-CE50E0B04DA8}" type="slidenum">
              <a:rPr lang="en-IN" smtClean="0"/>
              <a:t>32</a:t>
            </a:fld>
            <a:endParaRPr lang="en-IN"/>
          </a:p>
        </p:txBody>
      </p:sp>
    </p:spTree>
    <p:extLst>
      <p:ext uri="{BB962C8B-B14F-4D97-AF65-F5344CB8AC3E}">
        <p14:creationId xmlns:p14="http://schemas.microsoft.com/office/powerpoint/2010/main" val="9588245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1594485"/>
            <a:ext cx="7772400" cy="1080135"/>
          </a:xfrm>
          <a:prstGeom prst="rect">
            <a:avLst/>
          </a:prstGeom>
        </p:spPr>
        <p:txBody>
          <a:bodyPr wrap="square" lIns="0" tIns="0" rIns="0" bIns="0">
            <a:spAutoFit/>
          </a:bodyPr>
          <a:lstStyle>
            <a:lvl1pPr>
              <a:defRPr sz="2800" b="1" i="0">
                <a:solidFill>
                  <a:schemeClr val="tx1"/>
                </a:solidFill>
                <a:latin typeface="Arial"/>
                <a:cs typeface="Arial"/>
              </a:defRPr>
            </a:lvl1pPr>
          </a:lstStyle>
          <a:p>
            <a:endParaRPr/>
          </a:p>
        </p:txBody>
      </p:sp>
      <p:sp>
        <p:nvSpPr>
          <p:cNvPr id="3" name="Holder 3"/>
          <p:cNvSpPr>
            <a:spLocks noGrp="1"/>
          </p:cNvSpPr>
          <p:nvPr>
            <p:ph type="subTitle" idx="4"/>
          </p:nvPr>
        </p:nvSpPr>
        <p:spPr>
          <a:xfrm>
            <a:off x="1371600" y="2880360"/>
            <a:ext cx="6400800" cy="128587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282D14D-BB0C-4D43-B00A-EFFCBF784C55}" type="datetime1">
              <a:rPr lang="en-US" smtClean="0"/>
              <a:t>4/24/2026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0424970A-13DF-46C6-AD76-A5F2CBBC0EBB}" type="datetime1">
              <a:rPr lang="en-US" smtClean="0"/>
              <a:t>4/24/2026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E7B5C584-3ACD-4A1F-965F-018932BE1172}" type="datetime1">
              <a:rPr lang="en-US" smtClean="0"/>
              <a:t>4/24/2026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800" b="1"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D77BD583-6ABA-46C6-BD9E-490D3BEFBBD6}" type="datetime1">
              <a:rPr lang="en-US" smtClean="0"/>
              <a:t>4/24/2026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ED991D12-5990-4CC4-93B0-1636B5E77143}" type="datetime1">
              <a:rPr lang="en-US" smtClean="0"/>
              <a:t>4/24/2026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27524" y="410517"/>
            <a:ext cx="4308641" cy="776365"/>
          </a:xfrm>
          <a:prstGeom prst="rect">
            <a:avLst/>
          </a:prstGeom>
        </p:spPr>
        <p:txBody>
          <a:bodyPr wrap="square" lIns="0" tIns="0" rIns="0" bIns="0">
            <a:spAutoFit/>
          </a:bodyPr>
          <a:lstStyle>
            <a:lvl1pPr>
              <a:defRPr sz="2800" b="1" i="0">
                <a:solidFill>
                  <a:schemeClr val="tx1"/>
                </a:solidFill>
                <a:latin typeface="Arial"/>
                <a:cs typeface="Arial"/>
              </a:defRPr>
            </a:lvl1pPr>
          </a:lstStyle>
          <a:p>
            <a:endParaRPr/>
          </a:p>
        </p:txBody>
      </p:sp>
      <p:sp>
        <p:nvSpPr>
          <p:cNvPr id="3" name="Holder 3"/>
          <p:cNvSpPr>
            <a:spLocks noGrp="1"/>
          </p:cNvSpPr>
          <p:nvPr>
            <p:ph type="body" idx="1"/>
          </p:nvPr>
        </p:nvSpPr>
        <p:spPr>
          <a:xfrm>
            <a:off x="308725" y="957462"/>
            <a:ext cx="8526780" cy="3319145"/>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3108960" y="4783455"/>
            <a:ext cx="2926080" cy="257175"/>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4783455"/>
            <a:ext cx="2103120" cy="257175"/>
          </a:xfrm>
          <a:prstGeom prst="rect">
            <a:avLst/>
          </a:prstGeom>
        </p:spPr>
        <p:txBody>
          <a:bodyPr wrap="square" lIns="0" tIns="0" rIns="0" bIns="0">
            <a:spAutoFit/>
          </a:bodyPr>
          <a:lstStyle>
            <a:lvl1pPr algn="l">
              <a:defRPr>
                <a:solidFill>
                  <a:schemeClr val="tx1">
                    <a:tint val="75000"/>
                  </a:schemeClr>
                </a:solidFill>
              </a:defRPr>
            </a:lvl1pPr>
          </a:lstStyle>
          <a:p>
            <a:fld id="{5AD29A36-C4A1-4B6B-8430-AF4BD83A8EA6}" type="datetime1">
              <a:rPr lang="en-US" smtClean="0"/>
              <a:t>4/24/2026</a:t>
            </a:fld>
            <a:endParaRPr lang="en-US"/>
          </a:p>
        </p:txBody>
      </p:sp>
      <p:sp>
        <p:nvSpPr>
          <p:cNvPr id="6" name="Holder 6"/>
          <p:cNvSpPr>
            <a:spLocks noGrp="1"/>
          </p:cNvSpPr>
          <p:nvPr>
            <p:ph type="sldNum" sz="quarter" idx="7"/>
          </p:nvPr>
        </p:nvSpPr>
        <p:spPr>
          <a:xfrm>
            <a:off x="6583680" y="4783455"/>
            <a:ext cx="2103120" cy="257175"/>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219200" y="2597632"/>
            <a:ext cx="3200400" cy="777136"/>
          </a:xfrm>
          <a:prstGeom prst="rect">
            <a:avLst/>
          </a:prstGeom>
        </p:spPr>
        <p:txBody>
          <a:bodyPr vert="horz" wrap="square" lIns="0" tIns="12700" rIns="0" bIns="0" rtlCol="0">
            <a:spAutoFit/>
          </a:bodyPr>
          <a:lstStyle/>
          <a:p>
            <a:pPr marL="12700" algn="just">
              <a:lnSpc>
                <a:spcPct val="100000"/>
              </a:lnSpc>
              <a:spcBef>
                <a:spcPts val="100"/>
              </a:spcBef>
            </a:pPr>
            <a:r>
              <a:rPr lang="en-IN" sz="1600" b="1" spc="130" dirty="0">
                <a:latin typeface="Arial"/>
                <a:cs typeface="Arial"/>
              </a:rPr>
              <a:t>Name of Students</a:t>
            </a:r>
            <a:r>
              <a:rPr sz="1600" b="1" spc="-20" dirty="0">
                <a:latin typeface="Arial"/>
                <a:cs typeface="Arial"/>
              </a:rPr>
              <a:t>:</a:t>
            </a:r>
            <a:endParaRPr lang="en-IN" sz="1600" b="1" spc="-20" dirty="0">
              <a:latin typeface="Arial"/>
              <a:cs typeface="Arial"/>
            </a:endParaRPr>
          </a:p>
          <a:p>
            <a:pPr marL="12700" algn="just">
              <a:lnSpc>
                <a:spcPct val="100000"/>
              </a:lnSpc>
              <a:spcBef>
                <a:spcPts val="100"/>
              </a:spcBef>
            </a:pPr>
            <a:r>
              <a:rPr lang="en-IN" sz="1600" spc="-20" dirty="0">
                <a:latin typeface="Arial"/>
                <a:cs typeface="Arial"/>
              </a:rPr>
              <a:t>Abdul </a:t>
            </a:r>
            <a:r>
              <a:rPr lang="en-IN" sz="1600" spc="-20" dirty="0" err="1">
                <a:latin typeface="Arial"/>
                <a:cs typeface="Arial"/>
              </a:rPr>
              <a:t>rahim</a:t>
            </a:r>
            <a:r>
              <a:rPr lang="en-IN" sz="1600" spc="-20" dirty="0">
                <a:latin typeface="Arial"/>
                <a:cs typeface="Arial"/>
              </a:rPr>
              <a:t> S – 220171601003</a:t>
            </a:r>
          </a:p>
          <a:p>
            <a:pPr marL="12700" algn="just">
              <a:lnSpc>
                <a:spcPct val="100000"/>
              </a:lnSpc>
              <a:spcBef>
                <a:spcPts val="100"/>
              </a:spcBef>
            </a:pPr>
            <a:r>
              <a:rPr lang="en-IN" sz="1600" spc="-20" dirty="0">
                <a:latin typeface="Arial"/>
                <a:cs typeface="Arial"/>
              </a:rPr>
              <a:t>Ajay M             – 220171601012</a:t>
            </a:r>
            <a:endParaRPr sz="1600" dirty="0">
              <a:latin typeface="Arial"/>
              <a:cs typeface="Arial"/>
            </a:endParaRPr>
          </a:p>
        </p:txBody>
      </p:sp>
      <p:sp>
        <p:nvSpPr>
          <p:cNvPr id="5" name="object 5"/>
          <p:cNvSpPr txBox="1"/>
          <p:nvPr/>
        </p:nvSpPr>
        <p:spPr>
          <a:xfrm>
            <a:off x="5591181" y="2597632"/>
            <a:ext cx="3200400" cy="1295226"/>
          </a:xfrm>
          <a:prstGeom prst="rect">
            <a:avLst/>
          </a:prstGeom>
        </p:spPr>
        <p:txBody>
          <a:bodyPr vert="horz" wrap="square" lIns="0" tIns="12700" rIns="0" bIns="0" rtlCol="0">
            <a:spAutoFit/>
          </a:bodyPr>
          <a:lstStyle/>
          <a:p>
            <a:pPr algn="just">
              <a:lnSpc>
                <a:spcPct val="100000"/>
              </a:lnSpc>
              <a:spcBef>
                <a:spcPts val="100"/>
              </a:spcBef>
            </a:pPr>
            <a:r>
              <a:rPr lang="en-IN" sz="1600" b="1" spc="75" dirty="0">
                <a:latin typeface="Arial"/>
                <a:cs typeface="Arial"/>
              </a:rPr>
              <a:t>Supervisor</a:t>
            </a:r>
            <a:r>
              <a:rPr sz="1600" b="1" spc="75" dirty="0">
                <a:latin typeface="Arial"/>
                <a:cs typeface="Arial"/>
              </a:rPr>
              <a:t>:</a:t>
            </a:r>
            <a:endParaRPr lang="en-IN" sz="1600" b="1" spc="75" dirty="0">
              <a:latin typeface="Arial"/>
              <a:cs typeface="Arial"/>
            </a:endParaRPr>
          </a:p>
          <a:p>
            <a:pPr algn="just">
              <a:spcBef>
                <a:spcPts val="100"/>
              </a:spcBef>
            </a:pPr>
            <a:r>
              <a:rPr lang="en-IN" sz="1600" dirty="0" err="1"/>
              <a:t>Dr.S.Subhashini</a:t>
            </a:r>
            <a:r>
              <a:rPr lang="en-IN" sz="1600" dirty="0"/>
              <a:t> Asst. Prof. </a:t>
            </a:r>
          </a:p>
          <a:p>
            <a:pPr algn="just">
              <a:spcBef>
                <a:spcPts val="100"/>
              </a:spcBef>
            </a:pPr>
            <a:r>
              <a:rPr lang="en-IN" sz="1600" dirty="0"/>
              <a:t>(Sr. Gr.)  CSE</a:t>
            </a:r>
          </a:p>
          <a:p>
            <a:pPr algn="just">
              <a:lnSpc>
                <a:spcPct val="100000"/>
              </a:lnSpc>
              <a:spcBef>
                <a:spcPts val="100"/>
              </a:spcBef>
            </a:pPr>
            <a:endParaRPr lang="en-IN" sz="1600" spc="75" dirty="0">
              <a:latin typeface="Arial"/>
              <a:cs typeface="Arial"/>
            </a:endParaRPr>
          </a:p>
          <a:p>
            <a:pPr algn="ctr">
              <a:lnSpc>
                <a:spcPct val="100000"/>
              </a:lnSpc>
              <a:spcBef>
                <a:spcPts val="100"/>
              </a:spcBef>
            </a:pPr>
            <a:endParaRPr sz="1600" dirty="0">
              <a:latin typeface="Arial"/>
              <a:cs typeface="Arial"/>
            </a:endParaRPr>
          </a:p>
        </p:txBody>
      </p:sp>
      <p:sp>
        <p:nvSpPr>
          <p:cNvPr id="8" name="object 8"/>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11" name="Picture 10">
            <a:extLst>
              <a:ext uri="{FF2B5EF4-FFF2-40B4-BE49-F238E27FC236}">
                <a16:creationId xmlns:a16="http://schemas.microsoft.com/office/drawing/2014/main" id="{D5F729D3-0469-871F-0AD6-221E77577D9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10" name="TextBox 9">
            <a:extLst>
              <a:ext uri="{FF2B5EF4-FFF2-40B4-BE49-F238E27FC236}">
                <a16:creationId xmlns:a16="http://schemas.microsoft.com/office/drawing/2014/main" id="{392992E0-9A0E-3DB5-DE1E-5C71DDBEE188}"/>
              </a:ext>
            </a:extLst>
          </p:cNvPr>
          <p:cNvSpPr txBox="1"/>
          <p:nvPr/>
        </p:nvSpPr>
        <p:spPr>
          <a:xfrm>
            <a:off x="1066800" y="1025692"/>
            <a:ext cx="7239000" cy="646331"/>
          </a:xfrm>
          <a:prstGeom prst="rect">
            <a:avLst/>
          </a:prstGeom>
          <a:noFill/>
        </p:spPr>
        <p:txBody>
          <a:bodyPr wrap="square" lIns="91440" tIns="45720" rIns="91440" bIns="45720" rtlCol="0" anchor="t">
            <a:spAutoFit/>
          </a:bodyPr>
          <a:lstStyle/>
          <a:p>
            <a:pPr algn="ctr"/>
            <a:r>
              <a:rPr lang="en-US" b="1" dirty="0"/>
              <a:t>Explainable Graph‑Based Framework for Twitter Bot Detection</a:t>
            </a:r>
            <a:endParaRPr lang="en-US" dirty="0"/>
          </a:p>
          <a:p>
            <a:pPr algn="ctr"/>
            <a:endParaRPr lang="en-US" b="1" dirty="0">
              <a:latin typeface="Arial"/>
              <a:cs typeface="Arial"/>
            </a:endParaRPr>
          </a:p>
        </p:txBody>
      </p:sp>
      <p:sp>
        <p:nvSpPr>
          <p:cNvPr id="13" name="TextBox 12">
            <a:extLst>
              <a:ext uri="{FF2B5EF4-FFF2-40B4-BE49-F238E27FC236}">
                <a16:creationId xmlns:a16="http://schemas.microsoft.com/office/drawing/2014/main" id="{5A9FA16E-9D7D-941A-3BDD-0A0CB607A30B}"/>
              </a:ext>
            </a:extLst>
          </p:cNvPr>
          <p:cNvSpPr txBox="1"/>
          <p:nvPr/>
        </p:nvSpPr>
        <p:spPr>
          <a:xfrm>
            <a:off x="1345887" y="4665891"/>
            <a:ext cx="6680825" cy="369332"/>
          </a:xfrm>
          <a:prstGeom prst="rect">
            <a:avLst/>
          </a:prstGeom>
          <a:noFill/>
        </p:spPr>
        <p:txBody>
          <a:bodyPr wrap="square" rtlCol="0">
            <a:spAutoFit/>
          </a:bodyPr>
          <a:lstStyle/>
          <a:p>
            <a:r>
              <a:rPr lang="en-IN" b="1">
                <a:latin typeface="Arial" panose="020B0604020202020204" pitchFamily="34" charset="0"/>
                <a:cs typeface="Arial" panose="020B0604020202020204" pitchFamily="34" charset="0"/>
              </a:rPr>
              <a:t>Domain of project: </a:t>
            </a:r>
            <a:r>
              <a:rPr lang="en-IN">
                <a:latin typeface="Arial" panose="020B0604020202020204" pitchFamily="34" charset="0"/>
                <a:cs typeface="Arial" panose="020B0604020202020204" pitchFamily="34" charset="0"/>
              </a:rPr>
              <a:t>Artificial Intelligence and Machine learning</a:t>
            </a:r>
            <a:r>
              <a:rPr lang="en-IN" b="1">
                <a:latin typeface="Arial" panose="020B0604020202020204" pitchFamily="34" charset="0"/>
                <a:cs typeface="Arial" panose="020B0604020202020204" pitchFamily="34" charset="0"/>
              </a:rPr>
              <a:t> </a:t>
            </a:r>
          </a:p>
        </p:txBody>
      </p:sp>
      <p:sp>
        <p:nvSpPr>
          <p:cNvPr id="4" name="Slide Number Placeholder 3">
            <a:extLst>
              <a:ext uri="{FF2B5EF4-FFF2-40B4-BE49-F238E27FC236}">
                <a16:creationId xmlns:a16="http://schemas.microsoft.com/office/drawing/2014/main" id="{DA60A839-0481-1046-3536-3606381022EF}"/>
              </a:ext>
            </a:extLst>
          </p:cNvPr>
          <p:cNvSpPr>
            <a:spLocks noGrp="1"/>
          </p:cNvSpPr>
          <p:nvPr>
            <p:ph type="sldNum" sz="quarter" idx="7"/>
          </p:nvPr>
        </p:nvSpPr>
        <p:spPr/>
        <p:txBody>
          <a:bodyPr/>
          <a:lstStyle/>
          <a:p>
            <a:fld id="{B6F15528-21DE-4FAA-801E-634DDDAF4B2B}" type="slidenum">
              <a:rPr lang="en-IN" smtClean="0"/>
              <a:t>1</a:t>
            </a:fld>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a:latin typeface="Arial"/>
                <a:cs typeface="Arial"/>
              </a:rPr>
              <a:t>DEPARTMENT OF COMPUTER SCIENCE AND ENGINEERING </a:t>
            </a:r>
            <a:endParaRPr lang="en-GB" sz="1100">
              <a:latin typeface="Arial"/>
              <a:cs typeface="Arial"/>
            </a:endParaRPr>
          </a:p>
        </p:txBody>
      </p:sp>
      <p:sp>
        <p:nvSpPr>
          <p:cNvPr id="5" name="object 5"/>
          <p:cNvSpPr txBox="1">
            <a:spLocks noGrp="1"/>
          </p:cNvSpPr>
          <p:nvPr>
            <p:ph type="title"/>
          </p:nvPr>
        </p:nvSpPr>
        <p:spPr>
          <a:xfrm>
            <a:off x="221804" y="158474"/>
            <a:ext cx="4308641" cy="657434"/>
          </a:xfrm>
          <a:prstGeom prst="rect">
            <a:avLst/>
          </a:prstGeom>
        </p:spPr>
        <p:txBody>
          <a:bodyPr vert="horz" wrap="square" lIns="0" tIns="285316" rIns="0" bIns="0" rtlCol="0">
            <a:spAutoFit/>
          </a:bodyPr>
          <a:lstStyle/>
          <a:p>
            <a:pPr marL="126364">
              <a:lnSpc>
                <a:spcPct val="100000"/>
              </a:lnSpc>
              <a:spcBef>
                <a:spcPts val="100"/>
              </a:spcBef>
            </a:pPr>
            <a:r>
              <a:rPr lang="en-IN" sz="2400" dirty="0"/>
              <a:t>ABSTRACT</a:t>
            </a:r>
            <a:endParaRPr lang="en-IN" sz="2400" spc="-10" dirty="0"/>
          </a:p>
        </p:txBody>
      </p:sp>
      <p:pic>
        <p:nvPicPr>
          <p:cNvPr id="8" name="Picture 7">
            <a:extLst>
              <a:ext uri="{FF2B5EF4-FFF2-40B4-BE49-F238E27FC236}">
                <a16:creationId xmlns:a16="http://schemas.microsoft.com/office/drawing/2014/main" id="{9997B9AC-415E-4514-1989-CEC4E0D5C09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2" name="TextBox 1">
            <a:extLst>
              <a:ext uri="{FF2B5EF4-FFF2-40B4-BE49-F238E27FC236}">
                <a16:creationId xmlns:a16="http://schemas.microsoft.com/office/drawing/2014/main" id="{FF0F83AF-6E8C-E347-4B05-361F4A81AF8C}"/>
              </a:ext>
            </a:extLst>
          </p:cNvPr>
          <p:cNvSpPr txBox="1"/>
          <p:nvPr/>
        </p:nvSpPr>
        <p:spPr>
          <a:xfrm>
            <a:off x="221803" y="730275"/>
            <a:ext cx="8617395" cy="3970318"/>
          </a:xfrm>
          <a:prstGeom prst="rect">
            <a:avLst/>
          </a:prstGeom>
          <a:noFill/>
        </p:spPr>
        <p:txBody>
          <a:bodyPr wrap="square" lIns="91440" tIns="45720" rIns="91440" bIns="45720" rtlCol="0" anchor="t">
            <a:spAutoFit/>
          </a:bodyPr>
          <a:lstStyle/>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Twitter datasets have been loaded with multiple features that are unnecessary and computationally inefficient in order to train data for twitter user classification, Feature selection is therefore applied to eliminate noisy and unnecessary attributes, reduce computational overhead, and improve model efficiency while preserving accuracy through a informative feature representation. </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Graph Neural Networks analyze user-to-user similarity relationships to detect coordinated bot activity and latent behavioral  patterns.</a:t>
            </a:r>
          </a:p>
          <a:p>
            <a:pPr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The framework further identifies key behavioral and linguistic features influencing classification decisions and incorporates LLM summarization to explain about it.</a:t>
            </a:r>
          </a:p>
          <a:p>
            <a:pPr marL="285750" indent="-285750" algn="just">
              <a:buFont typeface="Arial" panose="020B0604020202020204" pitchFamily="34" charset="0"/>
              <a:buChar char="•"/>
            </a:pPr>
            <a:endParaRPr lang="en-US" dirty="0">
              <a:latin typeface="Arial"/>
              <a:cs typeface="Arial"/>
            </a:endParaRPr>
          </a:p>
        </p:txBody>
      </p:sp>
      <p:sp>
        <p:nvSpPr>
          <p:cNvPr id="3" name="Slide Number Placeholder 2">
            <a:extLst>
              <a:ext uri="{FF2B5EF4-FFF2-40B4-BE49-F238E27FC236}">
                <a16:creationId xmlns:a16="http://schemas.microsoft.com/office/drawing/2014/main" id="{99A3AA7E-7ECF-D4A6-21DC-1B69811DDD47}"/>
              </a:ext>
            </a:extLst>
          </p:cNvPr>
          <p:cNvSpPr>
            <a:spLocks noGrp="1"/>
          </p:cNvSpPr>
          <p:nvPr>
            <p:ph type="sldNum" sz="quarter" idx="7"/>
          </p:nvPr>
        </p:nvSpPr>
        <p:spPr/>
        <p:txBody>
          <a:bodyPr/>
          <a:lstStyle/>
          <a:p>
            <a:fld id="{B6F15528-21DE-4FAA-801E-634DDDAF4B2B}" type="slidenum">
              <a:rPr lang="en-IN" smtClean="0"/>
              <a:t>2</a:t>
            </a:fld>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a:latin typeface="Arial"/>
                <a:cs typeface="Arial"/>
              </a:rPr>
              <a:t>DEPARTMENT OF COMPUTER SCIENCE AND ENGINEERING </a:t>
            </a:r>
            <a:endParaRPr lang="en-GB" sz="1100">
              <a:latin typeface="Arial"/>
              <a:cs typeface="Arial"/>
            </a:endParaRPr>
          </a:p>
        </p:txBody>
      </p:sp>
      <p:sp>
        <p:nvSpPr>
          <p:cNvPr id="5" name="object 5"/>
          <p:cNvSpPr txBox="1">
            <a:spLocks noGrp="1"/>
          </p:cNvSpPr>
          <p:nvPr>
            <p:ph type="title"/>
          </p:nvPr>
        </p:nvSpPr>
        <p:spPr>
          <a:xfrm>
            <a:off x="227524" y="410517"/>
            <a:ext cx="4308641" cy="709567"/>
          </a:xfrm>
          <a:prstGeom prst="rect">
            <a:avLst/>
          </a:prstGeom>
        </p:spPr>
        <p:txBody>
          <a:bodyPr vert="horz" wrap="square" lIns="0" tIns="336945" rIns="0" bIns="0" rtlCol="0">
            <a:spAutoFit/>
          </a:bodyPr>
          <a:lstStyle/>
          <a:p>
            <a:pPr marL="62230">
              <a:lnSpc>
                <a:spcPct val="100000"/>
              </a:lnSpc>
              <a:spcBef>
                <a:spcPts val="100"/>
              </a:spcBef>
            </a:pPr>
            <a:r>
              <a:rPr lang="en-US" sz="2400" spc="80" dirty="0"/>
              <a:t>PROBLEM</a:t>
            </a:r>
            <a:r>
              <a:rPr lang="en-US" sz="2400" spc="40" dirty="0"/>
              <a:t> </a:t>
            </a:r>
            <a:r>
              <a:rPr lang="en-US" sz="2400" spc="-10" dirty="0"/>
              <a:t>STATEMENT</a:t>
            </a:r>
          </a:p>
        </p:txBody>
      </p:sp>
      <p:pic>
        <p:nvPicPr>
          <p:cNvPr id="8" name="Picture 7">
            <a:extLst>
              <a:ext uri="{FF2B5EF4-FFF2-40B4-BE49-F238E27FC236}">
                <a16:creationId xmlns:a16="http://schemas.microsoft.com/office/drawing/2014/main" id="{4CECAD36-EAA3-C614-E6A2-969F657B87C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2" name="TextBox 1">
            <a:extLst>
              <a:ext uri="{FF2B5EF4-FFF2-40B4-BE49-F238E27FC236}">
                <a16:creationId xmlns:a16="http://schemas.microsoft.com/office/drawing/2014/main" id="{371E71C2-75EF-4D89-E1D8-E2C0B6205571}"/>
              </a:ext>
            </a:extLst>
          </p:cNvPr>
          <p:cNvSpPr txBox="1"/>
          <p:nvPr/>
        </p:nvSpPr>
        <p:spPr>
          <a:xfrm>
            <a:off x="509212" y="1451285"/>
            <a:ext cx="8396895" cy="2308324"/>
          </a:xfrm>
          <a:prstGeom prst="rect">
            <a:avLst/>
          </a:prstGeom>
          <a:noFill/>
        </p:spPr>
        <p:txBody>
          <a:bodyPr wrap="square" rtlCol="0">
            <a:spAutoFit/>
          </a:bodyPr>
          <a:lstStyle/>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Current explainability methods introduce significant computational cost, making large-scale, real-time bot detection difficult.</a:t>
            </a:r>
          </a:p>
          <a:p>
            <a:pPr marL="285750" indent="-28575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dirty="0"/>
              <a:t>Existing feature selection approaches increase computational cost, leading to suboptimal feature selection.</a:t>
            </a:r>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The absence of graph based analysis limits the model’s ability to capture complex </a:t>
            </a:r>
            <a:r>
              <a:rPr lang="en-IN" dirty="0"/>
              <a:t>behavioural </a:t>
            </a:r>
            <a:r>
              <a:rPr lang="en-US" dirty="0">
                <a:latin typeface="Arial" panose="020B0604020202020204" pitchFamily="34" charset="0"/>
                <a:cs typeface="Arial" panose="020B0604020202020204" pitchFamily="34" charset="0"/>
              </a:rPr>
              <a:t>relationships and generalization on unseen dataset. </a:t>
            </a:r>
            <a:endParaRPr lang="en-IN" dirty="0">
              <a:latin typeface="Arial" panose="020B0604020202020204" pitchFamily="34" charset="0"/>
              <a:cs typeface="Arial" panose="020B0604020202020204" pitchFamily="34" charset="0"/>
            </a:endParaRPr>
          </a:p>
        </p:txBody>
      </p:sp>
      <p:sp>
        <p:nvSpPr>
          <p:cNvPr id="6" name="Slide Number Placeholder 5">
            <a:extLst>
              <a:ext uri="{FF2B5EF4-FFF2-40B4-BE49-F238E27FC236}">
                <a16:creationId xmlns:a16="http://schemas.microsoft.com/office/drawing/2014/main" id="{090152FF-4A62-8848-95ED-E2FAAB8AEBFD}"/>
              </a:ext>
            </a:extLst>
          </p:cNvPr>
          <p:cNvSpPr>
            <a:spLocks noGrp="1"/>
          </p:cNvSpPr>
          <p:nvPr>
            <p:ph type="sldNum" sz="quarter" idx="7"/>
          </p:nvPr>
        </p:nvSpPr>
        <p:spPr/>
        <p:txBody>
          <a:bodyPr/>
          <a:lstStyle/>
          <a:p>
            <a:fld id="{B6F15528-21DE-4FAA-801E-634DDDAF4B2B}" type="slidenum">
              <a:rPr lang="en-IN" smtClean="0"/>
              <a:t>3</a:t>
            </a:fld>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0100" y="410567"/>
            <a:ext cx="3519900" cy="380873"/>
          </a:xfrm>
          <a:prstGeom prst="rect">
            <a:avLst/>
          </a:prstGeom>
        </p:spPr>
        <p:txBody>
          <a:bodyPr vert="horz" wrap="square" lIns="0" tIns="11430" rIns="0" bIns="0" rtlCol="0">
            <a:spAutoFit/>
          </a:bodyPr>
          <a:lstStyle/>
          <a:p>
            <a:pPr marL="12700">
              <a:lnSpc>
                <a:spcPct val="100000"/>
              </a:lnSpc>
              <a:spcBef>
                <a:spcPts val="90"/>
              </a:spcBef>
            </a:pPr>
            <a:r>
              <a:rPr lang="en-US" sz="2400"/>
              <a:t>RELATED</a:t>
            </a:r>
            <a:r>
              <a:rPr lang="en-US" sz="2400" spc="135"/>
              <a:t> </a:t>
            </a:r>
            <a:r>
              <a:rPr lang="en-US" sz="2400" spc="-25"/>
              <a:t>WORK</a:t>
            </a:r>
            <a:endParaRPr lang="en-US" sz="2400"/>
          </a:p>
        </p:txBody>
      </p:sp>
      <p:sp>
        <p:nvSpPr>
          <p:cNvPr id="5" name="object 5"/>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a:latin typeface="Arial"/>
                <a:cs typeface="Arial"/>
              </a:rPr>
              <a:t>DEPARTMENT OF COMPUTER SCIENCE AND ENGINEERING </a:t>
            </a:r>
            <a:endParaRPr lang="en-GB" sz="1100">
              <a:latin typeface="Arial"/>
              <a:cs typeface="Arial"/>
            </a:endParaRPr>
          </a:p>
        </p:txBody>
      </p:sp>
      <p:pic>
        <p:nvPicPr>
          <p:cNvPr id="8" name="Picture 7">
            <a:extLst>
              <a:ext uri="{FF2B5EF4-FFF2-40B4-BE49-F238E27FC236}">
                <a16:creationId xmlns:a16="http://schemas.microsoft.com/office/drawing/2014/main" id="{36AC567D-5829-A977-CEB2-ADBC5B1504F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85463" y="82251"/>
            <a:ext cx="1791904" cy="683450"/>
          </a:xfrm>
          <a:prstGeom prst="rect">
            <a:avLst/>
          </a:prstGeom>
          <a:noFill/>
          <a:ln>
            <a:noFill/>
          </a:ln>
        </p:spPr>
      </p:pic>
      <p:graphicFrame>
        <p:nvGraphicFramePr>
          <p:cNvPr id="7" name="object 2">
            <a:extLst>
              <a:ext uri="{FF2B5EF4-FFF2-40B4-BE49-F238E27FC236}">
                <a16:creationId xmlns:a16="http://schemas.microsoft.com/office/drawing/2014/main" id="{97F09D4D-175D-78C8-9F21-BEFD2929485E}"/>
              </a:ext>
            </a:extLst>
          </p:cNvPr>
          <p:cNvGraphicFramePr>
            <a:graphicFrameLocks noGrp="1"/>
          </p:cNvGraphicFramePr>
          <p:nvPr>
            <p:extLst>
              <p:ext uri="{D42A27DB-BD31-4B8C-83A1-F6EECF244321}">
                <p14:modId xmlns:p14="http://schemas.microsoft.com/office/powerpoint/2010/main" val="4100427902"/>
              </p:ext>
            </p:extLst>
          </p:nvPr>
        </p:nvGraphicFramePr>
        <p:xfrm>
          <a:off x="386900" y="847493"/>
          <a:ext cx="8441687" cy="4044090"/>
        </p:xfrm>
        <a:graphic>
          <a:graphicData uri="http://schemas.openxmlformats.org/drawingml/2006/table">
            <a:tbl>
              <a:tblPr firstRow="1" bandRow="1">
                <a:tableStyleId>{2D5ABB26-0587-4C30-8999-92F81FD0307C}</a:tableStyleId>
              </a:tblPr>
              <a:tblGrid>
                <a:gridCol w="2084562">
                  <a:extLst>
                    <a:ext uri="{9D8B030D-6E8A-4147-A177-3AD203B41FA5}">
                      <a16:colId xmlns:a16="http://schemas.microsoft.com/office/drawing/2014/main" val="20000"/>
                    </a:ext>
                  </a:extLst>
                </a:gridCol>
                <a:gridCol w="1051425">
                  <a:extLst>
                    <a:ext uri="{9D8B030D-6E8A-4147-A177-3AD203B41FA5}">
                      <a16:colId xmlns:a16="http://schemas.microsoft.com/office/drawing/2014/main" val="20001"/>
                    </a:ext>
                  </a:extLst>
                </a:gridCol>
                <a:gridCol w="733157">
                  <a:extLst>
                    <a:ext uri="{9D8B030D-6E8A-4147-A177-3AD203B41FA5}">
                      <a16:colId xmlns:a16="http://schemas.microsoft.com/office/drawing/2014/main" val="20002"/>
                    </a:ext>
                  </a:extLst>
                </a:gridCol>
                <a:gridCol w="733157">
                  <a:extLst>
                    <a:ext uri="{9D8B030D-6E8A-4147-A177-3AD203B41FA5}">
                      <a16:colId xmlns:a16="http://schemas.microsoft.com/office/drawing/2014/main" val="1219169127"/>
                    </a:ext>
                  </a:extLst>
                </a:gridCol>
                <a:gridCol w="2297564">
                  <a:extLst>
                    <a:ext uri="{9D8B030D-6E8A-4147-A177-3AD203B41FA5}">
                      <a16:colId xmlns:a16="http://schemas.microsoft.com/office/drawing/2014/main" val="20003"/>
                    </a:ext>
                  </a:extLst>
                </a:gridCol>
                <a:gridCol w="1541822">
                  <a:extLst>
                    <a:ext uri="{9D8B030D-6E8A-4147-A177-3AD203B41FA5}">
                      <a16:colId xmlns:a16="http://schemas.microsoft.com/office/drawing/2014/main" val="20004"/>
                    </a:ext>
                  </a:extLst>
                </a:gridCol>
              </a:tblGrid>
              <a:tr h="499642">
                <a:tc>
                  <a:txBody>
                    <a:bodyPr/>
                    <a:lstStyle/>
                    <a:p>
                      <a:pPr marL="85725" algn="just">
                        <a:lnSpc>
                          <a:spcPct val="100000"/>
                        </a:lnSpc>
                        <a:spcBef>
                          <a:spcPts val="615"/>
                        </a:spcBef>
                      </a:pPr>
                      <a:r>
                        <a:rPr lang="en-IN" sz="1200" spc="55">
                          <a:latin typeface="Arial" panose="020B0604020202020204" pitchFamily="34" charset="0"/>
                          <a:cs typeface="Arial" panose="020B0604020202020204" pitchFamily="34" charset="0"/>
                        </a:rPr>
                        <a:t>Title</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spc="190" dirty="0">
                          <a:latin typeface="Arial" panose="020B0604020202020204" pitchFamily="34" charset="0"/>
                          <a:cs typeface="Arial" panose="020B0604020202020204" pitchFamily="34" charset="0"/>
                        </a:rPr>
                        <a:t>Author</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spc="90" dirty="0">
                          <a:latin typeface="Arial" panose="020B0604020202020204" pitchFamily="34" charset="0"/>
                          <a:cs typeface="Arial" panose="020B0604020202020204" pitchFamily="34" charset="0"/>
                        </a:rPr>
                        <a:t>Year</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dirty="0" err="1">
                          <a:latin typeface="Arial" panose="020B0604020202020204" pitchFamily="34" charset="0"/>
                          <a:cs typeface="Arial" panose="020B0604020202020204" pitchFamily="34" charset="0"/>
                        </a:rPr>
                        <a:t>Journel</a:t>
                      </a:r>
                      <a:endParaRPr sz="1200" dirty="0">
                        <a:latin typeface="Arial" panose="020B0604020202020204" pitchFamily="34" charset="0"/>
                        <a:cs typeface="Arial" panose="020B0604020202020204" pitchFamily="34" charset="0"/>
                      </a:endParaRPr>
                    </a:p>
                  </a:txBody>
                  <a:tcPr marL="0" marR="0" marT="78105" marB="0">
                    <a:lnL w="9525" cap="flat" cmpd="sng" algn="ctr">
                      <a:solidFill>
                        <a:srgbClr val="9E9E9E"/>
                      </a:solidFill>
                      <a:prstDash val="solid"/>
                      <a:round/>
                      <a:headEnd type="none" w="med" len="med"/>
                      <a:tailEnd type="none" w="med" len="med"/>
                    </a:lnL>
                    <a:lnR w="9525">
                      <a:solidFill>
                        <a:srgbClr val="9E9E9E"/>
                      </a:solidFill>
                      <a:prstDash val="solid"/>
                    </a:lnR>
                    <a:lnT w="9525">
                      <a:solidFill>
                        <a:srgbClr val="9E9E9E"/>
                      </a:solidFill>
                      <a:prstDash val="solid"/>
                    </a:lnT>
                    <a:lnB w="9525" cap="flat" cmpd="sng" algn="ctr">
                      <a:solidFill>
                        <a:srgbClr val="9E9E9E"/>
                      </a:solidFill>
                      <a:prstDash val="solid"/>
                      <a:round/>
                      <a:headEnd type="none" w="med" len="med"/>
                      <a:tailEnd type="none" w="med" len="med"/>
                    </a:lnB>
                  </a:tcPr>
                </a:tc>
                <a:tc>
                  <a:txBody>
                    <a:bodyPr/>
                    <a:lstStyle/>
                    <a:p>
                      <a:pPr marL="85725" algn="just">
                        <a:lnSpc>
                          <a:spcPct val="100000"/>
                        </a:lnSpc>
                        <a:spcBef>
                          <a:spcPts val="615"/>
                        </a:spcBef>
                      </a:pPr>
                      <a:r>
                        <a:rPr lang="en-US" sz="1200" spc="60">
                          <a:latin typeface="Arial" panose="020B0604020202020204" pitchFamily="34" charset="0"/>
                          <a:cs typeface="Arial" panose="020B0604020202020204" pitchFamily="34" charset="0"/>
                        </a:rPr>
                        <a:t>Limitation</a:t>
                      </a:r>
                      <a:endParaRPr lang="en-US"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algn="just">
                        <a:lnSpc>
                          <a:spcPct val="100000"/>
                        </a:lnSpc>
                        <a:spcBef>
                          <a:spcPts val="615"/>
                        </a:spcBef>
                      </a:pPr>
                      <a:r>
                        <a:rPr lang="en-IN" sz="1200" spc="70" dirty="0">
                          <a:latin typeface="Arial" panose="020B0604020202020204" pitchFamily="34" charset="0"/>
                          <a:cs typeface="Arial" panose="020B0604020202020204" pitchFamily="34" charset="0"/>
                        </a:rPr>
                        <a:t>Scope</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cap="flat" cmpd="sng" algn="ctr">
                      <a:solidFill>
                        <a:srgbClr val="9E9E9E"/>
                      </a:solidFill>
                      <a:prstDash val="solid"/>
                      <a:round/>
                      <a:headEnd type="none" w="med" len="med"/>
                      <a:tailEnd type="none" w="med" len="me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2093278">
                <a:tc>
                  <a:txBody>
                    <a:bodyPr/>
                    <a:lstStyle/>
                    <a:p>
                      <a:pPr algn="just"/>
                      <a:r>
                        <a:rPr lang="en-IN" sz="1200" dirty="0">
                          <a:latin typeface="Arial" panose="020B0604020202020204" pitchFamily="34" charset="0"/>
                          <a:cs typeface="Arial" panose="020B0604020202020204" pitchFamily="34" charset="0"/>
                        </a:rPr>
                        <a:t>Identification of spambots and fake followers on social network via interpretable AI-based machine learning</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Javed et al</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dirty="0">
                          <a:latin typeface="Arial" panose="020B0604020202020204" pitchFamily="34" charset="0"/>
                          <a:cs typeface="Arial" panose="020B0604020202020204" pitchFamily="34" charset="0"/>
                        </a:rPr>
                        <a:t>2025</a:t>
                      </a:r>
                    </a:p>
                    <a:p>
                      <a:pPr marL="85725" algn="just">
                        <a:lnSpc>
                          <a:spcPct val="100000"/>
                        </a:lnSpc>
                        <a:spcBef>
                          <a:spcPts val="620"/>
                        </a:spcBef>
                      </a:pPr>
                      <a:endParaRPr lang="en-IN" sz="1200" dirty="0">
                        <a:latin typeface="Arial" panose="020B0604020202020204" pitchFamily="34" charset="0"/>
                        <a:cs typeface="Arial" panose="020B0604020202020204" pitchFamily="34" charset="0"/>
                      </a:endParaRPr>
                    </a:p>
                    <a:p>
                      <a:pPr marL="85725" algn="just">
                        <a:lnSpc>
                          <a:spcPct val="100000"/>
                        </a:lnSpc>
                        <a:spcBef>
                          <a:spcPts val="620"/>
                        </a:spcBef>
                      </a:pPr>
                      <a:endParaRPr lang="en-IN" sz="1200" dirty="0">
                        <a:latin typeface="Arial" panose="020B0604020202020204" pitchFamily="34" charset="0"/>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IEEE</a:t>
                      </a:r>
                    </a:p>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Access</a:t>
                      </a: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85725" marR="1593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Relies on Cresci-15/17 only, so generalization to newer bot behaviors and other platforms may be limited.</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22161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Explains feature contributions clearly using SHAP and LIME, giving high interpretability for spambots and fake-follower detection.</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cap="flat" cmpd="sng" algn="ctr">
                      <a:solidFill>
                        <a:srgbClr val="9E9E9E"/>
                      </a:solidFill>
                      <a:prstDash val="solid"/>
                      <a:round/>
                      <a:headEnd type="none" w="med" len="med"/>
                      <a:tailEnd type="none" w="med" len="me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1451170">
                <a:tc>
                  <a:txBody>
                    <a:bodyPr/>
                    <a:lstStyle/>
                    <a:p>
                      <a:pPr algn="just"/>
                      <a:r>
                        <a:rPr lang="en-IN" sz="1200" b="0" i="0" dirty="0">
                          <a:solidFill>
                            <a:schemeClr val="tx1"/>
                          </a:solidFill>
                          <a:effectLst/>
                          <a:latin typeface="Arial" panose="020B0604020202020204" pitchFamily="34" charset="0"/>
                          <a:ea typeface="+mn-ea"/>
                          <a:cs typeface="Arial" panose="020B0604020202020204" pitchFamily="34" charset="0"/>
                        </a:rPr>
                        <a:t>Fine-tuned understanding: Enhancing social bot detection with transformer-based classification.</a:t>
                      </a:r>
                    </a:p>
                    <a:p>
                      <a:pPr algn="just"/>
                      <a:endParaRPr lang="en-IN" sz="1200" b="0" i="0" dirty="0">
                        <a:solidFill>
                          <a:schemeClr val="tx1"/>
                        </a:solidFill>
                        <a:effectLst/>
                        <a:latin typeface="Arial" panose="020B0604020202020204" pitchFamily="34" charset="0"/>
                        <a:ea typeface="+mn-ea"/>
                        <a:cs typeface="Arial" panose="020B0604020202020204" pitchFamily="34" charset="0"/>
                      </a:endParaRPr>
                    </a:p>
                    <a:p>
                      <a:pPr algn="just"/>
                      <a:endParaRPr lang="en-IN" sz="1200" b="0" i="0" dirty="0">
                        <a:solidFill>
                          <a:schemeClr val="tx1"/>
                        </a:solidFill>
                        <a:effectLst/>
                        <a:latin typeface="Arial" panose="020B0604020202020204" pitchFamily="34" charset="0"/>
                        <a:ea typeface="+mn-ea"/>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just"/>
                      <a:r>
                        <a:rPr lang="en-IN" sz="1200" b="0" i="0">
                          <a:solidFill>
                            <a:schemeClr val="tx1"/>
                          </a:solidFill>
                          <a:effectLst/>
                          <a:latin typeface="Arial" panose="020B0604020202020204" pitchFamily="34" charset="0"/>
                          <a:ea typeface="+mn-ea"/>
                          <a:cs typeface="Arial" panose="020B0604020202020204" pitchFamily="34" charset="0"/>
                        </a:rPr>
                        <a:t>Sallah et al.</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2024</a:t>
                      </a:r>
                    </a:p>
                    <a:p>
                      <a:pPr marL="85725" algn="just">
                        <a:lnSpc>
                          <a:spcPct val="100000"/>
                        </a:lnSpc>
                        <a:spcBef>
                          <a:spcPts val="620"/>
                        </a:spcBef>
                      </a:pPr>
                      <a:endParaRPr lang="en-IN" sz="1200" b="0" i="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IEEE</a:t>
                      </a:r>
                    </a:p>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Access</a:t>
                      </a: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a:solidFill>
                        <a:srgbClr val="9E9E9E"/>
                      </a:solidFill>
                      <a:prstDash val="solid"/>
                    </a:lnB>
                  </a:tcPr>
                </a:tc>
                <a:tc>
                  <a:txBody>
                    <a:bodyPr/>
                    <a:lstStyle/>
                    <a:p>
                      <a:pPr marL="85725" marR="2228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Transformer models are resource‑intensive and depend on specific training</a:t>
                      </a:r>
                    </a:p>
                    <a:p>
                      <a:pPr marL="85725" marR="222885" algn="l">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 distributions.</a:t>
                      </a:r>
                      <a:br>
                        <a:rPr lang="en-US" sz="1200" dirty="0">
                          <a:latin typeface="Arial" panose="020B0604020202020204" pitchFamily="34" charset="0"/>
                          <a:cs typeface="Arial" panose="020B0604020202020204" pitchFamily="34" charset="0"/>
                        </a:rPr>
                      </a:br>
                      <a:endParaRPr lang="en-US"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113664" algn="just">
                        <a:lnSpc>
                          <a:spcPct val="100000"/>
                        </a:lnSpc>
                        <a:spcBef>
                          <a:spcPts val="620"/>
                        </a:spcBef>
                      </a:pPr>
                      <a:r>
                        <a:rPr lang="en-US" sz="1200" spc="-10" dirty="0">
                          <a:latin typeface="Arial" panose="020B0604020202020204" pitchFamily="34" charset="0"/>
                          <a:cs typeface="Arial" panose="020B0604020202020204" pitchFamily="34" charset="0"/>
                        </a:rPr>
                        <a:t> </a:t>
                      </a:r>
                      <a:r>
                        <a:rPr lang="en-US" sz="1200" b="0" i="0" dirty="0">
                          <a:solidFill>
                            <a:schemeClr val="tx1"/>
                          </a:solidFill>
                          <a:effectLst/>
                          <a:latin typeface="Arial" panose="020B0604020202020204" pitchFamily="34" charset="0"/>
                          <a:ea typeface="+mn-ea"/>
                          <a:cs typeface="Arial" panose="020B0604020202020204" pitchFamily="34" charset="0"/>
                        </a:rPr>
                        <a:t>Fine‑tuned PLMs (BERT/GPT‑style) significantly boost tweet‑level bot detection performance</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cap="flat" cmpd="sng" algn="ctr">
                      <a:solidFill>
                        <a:srgbClr val="9E9E9E"/>
                      </a:solidFill>
                      <a:prstDash val="solid"/>
                      <a:round/>
                      <a:headEnd type="none" w="med" len="med"/>
                      <a:tailEnd type="none" w="med" len="me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bl>
          </a:graphicData>
        </a:graphic>
      </p:graphicFrame>
      <p:sp>
        <p:nvSpPr>
          <p:cNvPr id="3" name="Slide Number Placeholder 2">
            <a:extLst>
              <a:ext uri="{FF2B5EF4-FFF2-40B4-BE49-F238E27FC236}">
                <a16:creationId xmlns:a16="http://schemas.microsoft.com/office/drawing/2014/main" id="{E30B58D1-4C6C-C851-59CD-D1C70BD76DBB}"/>
              </a:ext>
            </a:extLst>
          </p:cNvPr>
          <p:cNvSpPr>
            <a:spLocks noGrp="1"/>
          </p:cNvSpPr>
          <p:nvPr>
            <p:ph type="sldNum" sz="quarter" idx="7"/>
          </p:nvPr>
        </p:nvSpPr>
        <p:spPr/>
        <p:txBody>
          <a:bodyPr/>
          <a:lstStyle/>
          <a:p>
            <a:fld id="{B6F15528-21DE-4FAA-801E-634DDDAF4B2B}" type="slidenum">
              <a:rPr lang="en-IN" smtClean="0"/>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203139422"/>
              </p:ext>
            </p:extLst>
          </p:nvPr>
        </p:nvGraphicFramePr>
        <p:xfrm>
          <a:off x="473710" y="583623"/>
          <a:ext cx="8441689" cy="4118582"/>
        </p:xfrm>
        <a:graphic>
          <a:graphicData uri="http://schemas.openxmlformats.org/drawingml/2006/table">
            <a:tbl>
              <a:tblPr firstRow="1" bandRow="1">
                <a:tableStyleId>{2D5ABB26-0587-4C30-8999-92F81FD0307C}</a:tableStyleId>
              </a:tblPr>
              <a:tblGrid>
                <a:gridCol w="2093823">
                  <a:extLst>
                    <a:ext uri="{9D8B030D-6E8A-4147-A177-3AD203B41FA5}">
                      <a16:colId xmlns:a16="http://schemas.microsoft.com/office/drawing/2014/main" val="20000"/>
                    </a:ext>
                  </a:extLst>
                </a:gridCol>
                <a:gridCol w="1082626">
                  <a:extLst>
                    <a:ext uri="{9D8B030D-6E8A-4147-A177-3AD203B41FA5}">
                      <a16:colId xmlns:a16="http://schemas.microsoft.com/office/drawing/2014/main" val="20001"/>
                    </a:ext>
                  </a:extLst>
                </a:gridCol>
                <a:gridCol w="698912">
                  <a:extLst>
                    <a:ext uri="{9D8B030D-6E8A-4147-A177-3AD203B41FA5}">
                      <a16:colId xmlns:a16="http://schemas.microsoft.com/office/drawing/2014/main" val="20002"/>
                    </a:ext>
                  </a:extLst>
                </a:gridCol>
                <a:gridCol w="698912">
                  <a:extLst>
                    <a:ext uri="{9D8B030D-6E8A-4147-A177-3AD203B41FA5}">
                      <a16:colId xmlns:a16="http://schemas.microsoft.com/office/drawing/2014/main" val="2513022207"/>
                    </a:ext>
                  </a:extLst>
                </a:gridCol>
                <a:gridCol w="1817171">
                  <a:extLst>
                    <a:ext uri="{9D8B030D-6E8A-4147-A177-3AD203B41FA5}">
                      <a16:colId xmlns:a16="http://schemas.microsoft.com/office/drawing/2014/main" val="20003"/>
                    </a:ext>
                  </a:extLst>
                </a:gridCol>
                <a:gridCol w="2050245">
                  <a:extLst>
                    <a:ext uri="{9D8B030D-6E8A-4147-A177-3AD203B41FA5}">
                      <a16:colId xmlns:a16="http://schemas.microsoft.com/office/drawing/2014/main" val="20004"/>
                    </a:ext>
                  </a:extLst>
                </a:gridCol>
              </a:tblGrid>
              <a:tr h="258258">
                <a:tc>
                  <a:txBody>
                    <a:bodyPr/>
                    <a:lstStyle/>
                    <a:p>
                      <a:pPr marL="85725" algn="just">
                        <a:lnSpc>
                          <a:spcPct val="100000"/>
                        </a:lnSpc>
                        <a:spcBef>
                          <a:spcPts val="615"/>
                        </a:spcBef>
                      </a:pPr>
                      <a:r>
                        <a:rPr lang="en-IN" sz="1200" spc="55">
                          <a:latin typeface="Arial" panose="020B0604020202020204" pitchFamily="34" charset="0"/>
                          <a:cs typeface="Arial" panose="020B0604020202020204" pitchFamily="34" charset="0"/>
                        </a:rPr>
                        <a:t>Title</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spc="190">
                          <a:latin typeface="Arial" panose="020B0604020202020204" pitchFamily="34" charset="0"/>
                          <a:cs typeface="Arial" panose="020B0604020202020204" pitchFamily="34" charset="0"/>
                        </a:rPr>
                        <a:t>Author</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spc="90" dirty="0">
                          <a:latin typeface="Arial" panose="020B0604020202020204" pitchFamily="34" charset="0"/>
                          <a:cs typeface="Arial" panose="020B0604020202020204" pitchFamily="34" charset="0"/>
                        </a:rPr>
                        <a:t>Year</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dirty="0" err="1">
                          <a:latin typeface="Arial" panose="020B0604020202020204" pitchFamily="34" charset="0"/>
                          <a:cs typeface="Arial" panose="020B0604020202020204" pitchFamily="34" charset="0"/>
                        </a:rPr>
                        <a:t>Journel</a:t>
                      </a:r>
                      <a:endParaRPr sz="1200" dirty="0">
                        <a:latin typeface="Arial" panose="020B0604020202020204" pitchFamily="34" charset="0"/>
                        <a:cs typeface="Arial" panose="020B0604020202020204" pitchFamily="34" charset="0"/>
                      </a:endParaRPr>
                    </a:p>
                  </a:txBody>
                  <a:tcPr marL="0" marR="0" marT="78105" marB="0">
                    <a:lnL w="9525" cap="flat" cmpd="sng" algn="ctr">
                      <a:solidFill>
                        <a:srgbClr val="9E9E9E"/>
                      </a:solidFill>
                      <a:prstDash val="solid"/>
                      <a:round/>
                      <a:headEnd type="none" w="med" len="med"/>
                      <a:tailEnd type="none" w="med" len="med"/>
                    </a:lnL>
                    <a:lnR w="9525">
                      <a:solidFill>
                        <a:srgbClr val="9E9E9E"/>
                      </a:solidFill>
                      <a:prstDash val="solid"/>
                    </a:lnR>
                    <a:lnT w="9525">
                      <a:solidFill>
                        <a:srgbClr val="9E9E9E"/>
                      </a:solidFill>
                      <a:prstDash val="solid"/>
                    </a:lnT>
                    <a:lnB w="9525" cap="flat" cmpd="sng" algn="ctr">
                      <a:solidFill>
                        <a:srgbClr val="9E9E9E"/>
                      </a:solidFill>
                      <a:prstDash val="solid"/>
                      <a:round/>
                      <a:headEnd type="none" w="med" len="med"/>
                      <a:tailEnd type="none" w="med" len="med"/>
                    </a:lnB>
                  </a:tcPr>
                </a:tc>
                <a:tc>
                  <a:txBody>
                    <a:bodyPr/>
                    <a:lstStyle/>
                    <a:p>
                      <a:pPr marL="85725" algn="just">
                        <a:lnSpc>
                          <a:spcPct val="100000"/>
                        </a:lnSpc>
                        <a:spcBef>
                          <a:spcPts val="615"/>
                        </a:spcBef>
                      </a:pPr>
                      <a:r>
                        <a:rPr sz="1200" spc="60" err="1">
                          <a:latin typeface="Arial" panose="020B0604020202020204" pitchFamily="34" charset="0"/>
                          <a:cs typeface="Arial" panose="020B0604020202020204" pitchFamily="34" charset="0"/>
                        </a:rPr>
                        <a:t>Limitatio</a:t>
                      </a:r>
                      <a:r>
                        <a:rPr lang="en-IN" sz="1200" spc="60">
                          <a:latin typeface="Arial" panose="020B0604020202020204" pitchFamily="34" charset="0"/>
                          <a:cs typeface="Arial" panose="020B0604020202020204" pitchFamily="34" charset="0"/>
                        </a:rPr>
                        <a:t>n</a:t>
                      </a:r>
                      <a:r>
                        <a:rPr sz="1200" spc="60">
                          <a:latin typeface="Arial" panose="020B0604020202020204" pitchFamily="34" charset="0"/>
                          <a:cs typeface="Arial" panose="020B0604020202020204" pitchFamily="34" charset="0"/>
                        </a:rPr>
                        <a:t>s</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algn="just">
                        <a:lnSpc>
                          <a:spcPct val="100000"/>
                        </a:lnSpc>
                        <a:spcBef>
                          <a:spcPts val="615"/>
                        </a:spcBef>
                      </a:pPr>
                      <a:r>
                        <a:rPr lang="en-IN" sz="1200" spc="70" dirty="0">
                          <a:latin typeface="Arial" panose="020B0604020202020204" pitchFamily="34" charset="0"/>
                          <a:cs typeface="Arial" panose="020B0604020202020204" pitchFamily="34" charset="0"/>
                        </a:rPr>
                        <a:t>Scope</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1356052">
                <a:tc>
                  <a:txBody>
                    <a:bodyPr/>
                    <a:lstStyle/>
                    <a:p>
                      <a:pPr marL="85725" marR="469900"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A hybrid deep learning architecture for social media bots detection based on </a:t>
                      </a:r>
                      <a:r>
                        <a:rPr lang="en-IN" sz="1200" b="0" i="0" dirty="0" err="1">
                          <a:solidFill>
                            <a:schemeClr val="tx1"/>
                          </a:solidFill>
                          <a:effectLst/>
                          <a:latin typeface="Arial" panose="020B0604020202020204" pitchFamily="34" charset="0"/>
                          <a:ea typeface="+mn-ea"/>
                          <a:cs typeface="Arial" panose="020B0604020202020204" pitchFamily="34" charset="0"/>
                        </a:rPr>
                        <a:t>BiGRU</a:t>
                      </a:r>
                      <a:r>
                        <a:rPr lang="en-IN" sz="1200" b="0" i="0" dirty="0">
                          <a:solidFill>
                            <a:schemeClr val="tx1"/>
                          </a:solidFill>
                          <a:effectLst/>
                          <a:latin typeface="Arial" panose="020B0604020202020204" pitchFamily="34" charset="0"/>
                          <a:ea typeface="+mn-ea"/>
                          <a:cs typeface="Arial" panose="020B0604020202020204" pitchFamily="34" charset="0"/>
                        </a:rPr>
                        <a:t>-LSTM and </a:t>
                      </a:r>
                      <a:r>
                        <a:rPr lang="en-IN" sz="1200" b="0" i="0" dirty="0" err="1">
                          <a:solidFill>
                            <a:schemeClr val="tx1"/>
                          </a:solidFill>
                          <a:effectLst/>
                          <a:latin typeface="Arial" panose="020B0604020202020204" pitchFamily="34" charset="0"/>
                          <a:ea typeface="+mn-ea"/>
                          <a:cs typeface="Arial" panose="020B0604020202020204" pitchFamily="34" charset="0"/>
                        </a:rPr>
                        <a:t>GloVe</a:t>
                      </a:r>
                      <a:r>
                        <a:rPr lang="en-IN" sz="1200" b="0" i="0" dirty="0">
                          <a:solidFill>
                            <a:schemeClr val="tx1"/>
                          </a:solidFill>
                          <a:effectLst/>
                          <a:latin typeface="Arial" panose="020B0604020202020204" pitchFamily="34" charset="0"/>
                          <a:ea typeface="+mn-ea"/>
                          <a:cs typeface="Arial" panose="020B0604020202020204" pitchFamily="34" charset="0"/>
                        </a:rPr>
                        <a:t> word embedding</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err="1">
                          <a:solidFill>
                            <a:schemeClr val="tx1"/>
                          </a:solidFill>
                          <a:effectLst/>
                          <a:latin typeface="Arial" panose="020B0604020202020204" pitchFamily="34" charset="0"/>
                          <a:ea typeface="+mn-ea"/>
                          <a:cs typeface="Arial" panose="020B0604020202020204" pitchFamily="34" charset="0"/>
                        </a:rPr>
                        <a:t>Ellaky</a:t>
                      </a:r>
                      <a:r>
                        <a:rPr lang="en-IN" sz="1200" b="0" i="0" dirty="0">
                          <a:solidFill>
                            <a:schemeClr val="tx1"/>
                          </a:solidFill>
                          <a:effectLst/>
                          <a:latin typeface="Arial" panose="020B0604020202020204" pitchFamily="34" charset="0"/>
                          <a:ea typeface="+mn-ea"/>
                          <a:cs typeface="Arial" panose="020B0604020202020204" pitchFamily="34" charset="0"/>
                        </a:rPr>
                        <a:t> et al.</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2024</a:t>
                      </a:r>
                    </a:p>
                    <a:p>
                      <a:pPr marL="85725" algn="just">
                        <a:lnSpc>
                          <a:spcPct val="100000"/>
                        </a:lnSpc>
                        <a:spcBef>
                          <a:spcPts val="620"/>
                        </a:spcBef>
                      </a:pPr>
                      <a:endParaRPr lang="en-IN" sz="1200" b="0" i="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IEEE</a:t>
                      </a:r>
                    </a:p>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Access</a:t>
                      </a: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85725" marR="159385" algn="just">
                        <a:lnSpc>
                          <a:spcPct val="100000"/>
                        </a:lnSpc>
                        <a:spcBef>
                          <a:spcPts val="620"/>
                        </a:spcBef>
                      </a:pPr>
                      <a:r>
                        <a:rPr lang="en-US" sz="1200" b="0" i="0">
                          <a:solidFill>
                            <a:schemeClr val="tx1"/>
                          </a:solidFill>
                          <a:effectLst/>
                          <a:latin typeface="Arial" panose="020B0604020202020204" pitchFamily="34" charset="0"/>
                          <a:ea typeface="+mn-ea"/>
                          <a:cs typeface="Arial" panose="020B0604020202020204" pitchFamily="34" charset="0"/>
                        </a:rPr>
                        <a:t>High text‑only accuracy may drop on multimodal or unseen platforms.</a:t>
                      </a:r>
                      <a:endParaRPr sz="120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22161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Hybrid </a:t>
                      </a:r>
                      <a:r>
                        <a:rPr lang="en-US" sz="1200" b="0" i="0" dirty="0" err="1">
                          <a:solidFill>
                            <a:schemeClr val="tx1"/>
                          </a:solidFill>
                          <a:effectLst/>
                          <a:latin typeface="Arial" panose="020B0604020202020204" pitchFamily="34" charset="0"/>
                          <a:ea typeface="+mn-ea"/>
                          <a:cs typeface="Arial" panose="020B0604020202020204" pitchFamily="34" charset="0"/>
                        </a:rPr>
                        <a:t>BiGRU</a:t>
                      </a:r>
                      <a:r>
                        <a:rPr lang="en-US" sz="1200" b="0" i="0" dirty="0">
                          <a:solidFill>
                            <a:schemeClr val="tx1"/>
                          </a:solidFill>
                          <a:effectLst/>
                          <a:latin typeface="Arial" panose="020B0604020202020204" pitchFamily="34" charset="0"/>
                          <a:ea typeface="+mn-ea"/>
                          <a:cs typeface="Arial" panose="020B0604020202020204" pitchFamily="34" charset="0"/>
                        </a:rPr>
                        <a:t>‑LSTM with </a:t>
                      </a:r>
                      <a:r>
                        <a:rPr lang="en-US" sz="1200" b="0" i="0" dirty="0" err="1">
                          <a:solidFill>
                            <a:schemeClr val="tx1"/>
                          </a:solidFill>
                          <a:effectLst/>
                          <a:latin typeface="Arial" panose="020B0604020202020204" pitchFamily="34" charset="0"/>
                          <a:ea typeface="+mn-ea"/>
                          <a:cs typeface="Arial" panose="020B0604020202020204" pitchFamily="34" charset="0"/>
                        </a:rPr>
                        <a:t>GloVe</a:t>
                      </a:r>
                      <a:r>
                        <a:rPr lang="en-US" sz="1200" b="0" i="0" dirty="0">
                          <a:solidFill>
                            <a:schemeClr val="tx1"/>
                          </a:solidFill>
                          <a:effectLst/>
                          <a:latin typeface="Arial" panose="020B0604020202020204" pitchFamily="34" charset="0"/>
                          <a:ea typeface="+mn-ea"/>
                          <a:cs typeface="Arial" panose="020B0604020202020204" pitchFamily="34" charset="0"/>
                        </a:rPr>
                        <a:t> achieves very strong bot detection on Cresci‑2017 and Twibot‑20.</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1329513">
                <a:tc>
                  <a:txBody>
                    <a:bodyPr/>
                    <a:lstStyle/>
                    <a:p>
                      <a:pPr marL="85725" marR="253365" algn="just">
                        <a:lnSpc>
                          <a:spcPct val="100000"/>
                        </a:lnSpc>
                        <a:spcBef>
                          <a:spcPts val="620"/>
                        </a:spcBef>
                      </a:pPr>
                      <a:r>
                        <a:rPr lang="en-IN" sz="1200" b="0" i="0" dirty="0" err="1">
                          <a:solidFill>
                            <a:schemeClr val="tx1"/>
                          </a:solidFill>
                          <a:effectLst/>
                          <a:latin typeface="Arial" panose="020B0604020202020204" pitchFamily="34" charset="0"/>
                          <a:ea typeface="+mn-ea"/>
                          <a:cs typeface="Arial" panose="020B0604020202020204" pitchFamily="34" charset="0"/>
                        </a:rPr>
                        <a:t>CrediBot</a:t>
                      </a:r>
                      <a:r>
                        <a:rPr lang="en-IN" sz="1200" b="0" i="0" dirty="0">
                          <a:solidFill>
                            <a:schemeClr val="tx1"/>
                          </a:solidFill>
                          <a:effectLst/>
                          <a:latin typeface="Arial" panose="020B0604020202020204" pitchFamily="34" charset="0"/>
                          <a:ea typeface="+mn-ea"/>
                          <a:cs typeface="Arial" panose="020B0604020202020204" pitchFamily="34" charset="0"/>
                        </a:rPr>
                        <a:t>: Applying bot detection for credibility analysis on Twitter.</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just"/>
                      <a:r>
                        <a:rPr lang="en-IN" sz="1200" b="0" i="0">
                          <a:solidFill>
                            <a:schemeClr val="tx1"/>
                          </a:solidFill>
                          <a:effectLst/>
                          <a:latin typeface="Arial" panose="020B0604020202020204" pitchFamily="34" charset="0"/>
                          <a:ea typeface="+mn-ea"/>
                          <a:cs typeface="Arial" panose="020B0604020202020204" pitchFamily="34" charset="0"/>
                        </a:rPr>
                        <a:t>Aguilera et al.</a:t>
                      </a:r>
                      <a:br>
                        <a:rPr lang="en-IN" sz="1200" b="0" i="0">
                          <a:solidFill>
                            <a:schemeClr val="tx1"/>
                          </a:solidFill>
                          <a:effectLst/>
                          <a:latin typeface="Arial" panose="020B0604020202020204" pitchFamily="34" charset="0"/>
                          <a:ea typeface="+mn-ea"/>
                          <a:cs typeface="Arial" panose="020B0604020202020204" pitchFamily="34" charset="0"/>
                        </a:rPr>
                      </a:br>
                      <a:endParaRPr lang="en-IN" sz="1200" b="0" i="0">
                        <a:solidFill>
                          <a:schemeClr val="tx1"/>
                        </a:solidFill>
                        <a:effectLst/>
                        <a:latin typeface="Arial" panose="020B0604020202020204" pitchFamily="34" charset="0"/>
                        <a:ea typeface="+mn-ea"/>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spc="-20" dirty="0">
                          <a:latin typeface="Arial" panose="020B0604020202020204" pitchFamily="34" charset="0"/>
                          <a:cs typeface="Arial" panose="020B0604020202020204" pitchFamily="34" charset="0"/>
                        </a:rPr>
                        <a:t>2023</a:t>
                      </a:r>
                    </a:p>
                    <a:p>
                      <a:pPr marL="85725" algn="just">
                        <a:lnSpc>
                          <a:spcPct val="100000"/>
                        </a:lnSpc>
                        <a:spcBef>
                          <a:spcPts val="620"/>
                        </a:spcBef>
                      </a:pPr>
                      <a:endParaRPr lang="en-IN" sz="1200" spc="-20" dirty="0">
                        <a:latin typeface="Arial" panose="020B0604020202020204" pitchFamily="34" charset="0"/>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IEEE</a:t>
                      </a:r>
                    </a:p>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Access</a:t>
                      </a: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85725" marR="2228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Uses older Cresci datasets and features, so performance may degrade as bots and Twitter APIs evolve.</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113664" algn="just">
                        <a:lnSpc>
                          <a:spcPct val="100000"/>
                        </a:lnSpc>
                        <a:spcBef>
                          <a:spcPts val="620"/>
                        </a:spcBef>
                      </a:pPr>
                      <a:r>
                        <a:rPr lang="en-US" sz="1200" spc="-10">
                          <a:latin typeface="Arial" panose="020B0604020202020204" pitchFamily="34" charset="0"/>
                          <a:cs typeface="Arial" panose="020B0604020202020204" pitchFamily="34" charset="0"/>
                        </a:rPr>
                        <a:t> </a:t>
                      </a:r>
                      <a:r>
                        <a:rPr lang="en-US" sz="1200" b="0" i="0">
                          <a:solidFill>
                            <a:schemeClr val="tx1"/>
                          </a:solidFill>
                          <a:effectLst/>
                          <a:latin typeface="Arial" panose="020B0604020202020204" pitchFamily="34" charset="0"/>
                          <a:ea typeface="+mn-ea"/>
                          <a:cs typeface="Arial" panose="020B0604020202020204" pitchFamily="34" charset="0"/>
                        </a:rPr>
                        <a:t>Integrates bot detection directly into a real-time Twitter credibility model with strong Random Forest performance in English and Spanish.</a:t>
                      </a:r>
                      <a:endParaRPr sz="120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r h="1172032">
                <a:tc>
                  <a:txBody>
                    <a:bodyPr/>
                    <a:lstStyle/>
                    <a:p>
                      <a:pPr marL="85725" marR="469900"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Classifying social media bots as malicious or benign using semi-supervised machine learning. </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just"/>
                      <a:r>
                        <a:rPr lang="en-IN" sz="1200" b="0" i="0" err="1">
                          <a:solidFill>
                            <a:schemeClr val="tx1"/>
                          </a:solidFill>
                          <a:effectLst/>
                          <a:latin typeface="Arial" panose="020B0604020202020204" pitchFamily="34" charset="0"/>
                          <a:ea typeface="+mn-ea"/>
                          <a:cs typeface="Arial" panose="020B0604020202020204" pitchFamily="34" charset="0"/>
                        </a:rPr>
                        <a:t>Mbona</a:t>
                      </a:r>
                      <a:r>
                        <a:rPr lang="en-IN" sz="1200" b="0" i="0">
                          <a:solidFill>
                            <a:schemeClr val="tx1"/>
                          </a:solidFill>
                          <a:effectLst/>
                          <a:latin typeface="Arial" panose="020B0604020202020204" pitchFamily="34" charset="0"/>
                          <a:ea typeface="+mn-ea"/>
                          <a:cs typeface="Arial" panose="020B0604020202020204" pitchFamily="34" charset="0"/>
                        </a:rPr>
                        <a:t> and Eloff.</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spc="-20" dirty="0">
                          <a:latin typeface="Arial" panose="020B0604020202020204" pitchFamily="34" charset="0"/>
                          <a:cs typeface="Arial" panose="020B0604020202020204" pitchFamily="34" charset="0"/>
                        </a:rPr>
                        <a:t>2023</a:t>
                      </a:r>
                    </a:p>
                    <a:p>
                      <a:pPr marL="85725" marR="0" lvl="0" indent="0" algn="just" defTabSz="914400" eaLnBrk="1" fontAlgn="auto" latinLnBrk="0" hangingPunct="1">
                        <a:lnSpc>
                          <a:spcPct val="100000"/>
                        </a:lnSpc>
                        <a:spcBef>
                          <a:spcPts val="620"/>
                        </a:spcBef>
                        <a:spcAft>
                          <a:spcPts val="0"/>
                        </a:spcAft>
                        <a:buClrTx/>
                        <a:buSzTx/>
                        <a:buFontTx/>
                        <a:buNone/>
                        <a:tabLst/>
                        <a:defRPr/>
                      </a:pPr>
                      <a:endParaRPr lang="en-IN" sz="1200" b="0" i="0" spc="-2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Journal of cyber security</a:t>
                      </a:r>
                      <a:endParaRPr lang="en-IN" sz="1200" dirty="0">
                        <a:latin typeface="Arial" panose="020B0604020202020204" pitchFamily="34" charset="0"/>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a:solidFill>
                        <a:srgbClr val="9E9E9E"/>
                      </a:solidFill>
                      <a:prstDash val="solid"/>
                    </a:lnB>
                  </a:tcPr>
                </a:tc>
                <a:tc>
                  <a:txBody>
                    <a:bodyPr/>
                    <a:lstStyle/>
                    <a:p>
                      <a:pPr marL="85725" marR="1212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Semi‑supervised focus can struggle when reliable labeled data are very scarce.</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241300"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Effectively separates benign vs malicious bots using selected behavioral features.</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3"/>
                  </a:ext>
                </a:extLst>
              </a:tr>
            </a:tbl>
          </a:graphicData>
        </a:graphic>
      </p:graphicFrame>
      <p:sp>
        <p:nvSpPr>
          <p:cNvPr id="4" name="object 4"/>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a:latin typeface="Arial"/>
                <a:cs typeface="Arial"/>
              </a:rPr>
              <a:t>DEPARTMENT OF COMPUTER SCIENCE AND ENGINEERING </a:t>
            </a:r>
            <a:endParaRPr lang="en-GB" sz="1100">
              <a:latin typeface="Arial"/>
              <a:cs typeface="Arial"/>
            </a:endParaRPr>
          </a:p>
        </p:txBody>
      </p:sp>
      <p:pic>
        <p:nvPicPr>
          <p:cNvPr id="7" name="Picture 6">
            <a:extLst>
              <a:ext uri="{FF2B5EF4-FFF2-40B4-BE49-F238E27FC236}">
                <a16:creationId xmlns:a16="http://schemas.microsoft.com/office/drawing/2014/main" id="{3BA0D42A-4A38-24E3-7430-93F35A556CA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5" name="Slide Number Placeholder 4">
            <a:extLst>
              <a:ext uri="{FF2B5EF4-FFF2-40B4-BE49-F238E27FC236}">
                <a16:creationId xmlns:a16="http://schemas.microsoft.com/office/drawing/2014/main" id="{495598F0-69AB-2A6F-135E-7612BD4EC748}"/>
              </a:ext>
            </a:extLst>
          </p:cNvPr>
          <p:cNvSpPr>
            <a:spLocks noGrp="1"/>
          </p:cNvSpPr>
          <p:nvPr>
            <p:ph type="sldNum" sz="quarter" idx="7"/>
          </p:nvPr>
        </p:nvSpPr>
        <p:spPr/>
        <p:txBody>
          <a:bodyPr/>
          <a:lstStyle/>
          <a:p>
            <a:fld id="{B6F15528-21DE-4FAA-801E-634DDDAF4B2B}" type="slidenum">
              <a:rPr lang="en-IN" smtClean="0"/>
              <a:t>5</a:t>
            </a:fld>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AA265884-4DB5-9749-87ED-61EF19BE4EAD}"/>
              </a:ext>
            </a:extLst>
          </p:cNvPr>
          <p:cNvGraphicFramePr>
            <a:graphicFrameLocks noGrp="1"/>
          </p:cNvGraphicFramePr>
          <p:nvPr>
            <p:extLst>
              <p:ext uri="{D42A27DB-BD31-4B8C-83A1-F6EECF244321}">
                <p14:modId xmlns:p14="http://schemas.microsoft.com/office/powerpoint/2010/main" val="2872891018"/>
              </p:ext>
            </p:extLst>
          </p:nvPr>
        </p:nvGraphicFramePr>
        <p:xfrm>
          <a:off x="473710" y="583623"/>
          <a:ext cx="8441689" cy="4459605"/>
        </p:xfrm>
        <a:graphic>
          <a:graphicData uri="http://schemas.openxmlformats.org/drawingml/2006/table">
            <a:tbl>
              <a:tblPr firstRow="1" bandRow="1">
                <a:tableStyleId>{2D5ABB26-0587-4C30-8999-92F81FD0307C}</a:tableStyleId>
              </a:tblPr>
              <a:tblGrid>
                <a:gridCol w="2093823">
                  <a:extLst>
                    <a:ext uri="{9D8B030D-6E8A-4147-A177-3AD203B41FA5}">
                      <a16:colId xmlns:a16="http://schemas.microsoft.com/office/drawing/2014/main" val="20000"/>
                    </a:ext>
                  </a:extLst>
                </a:gridCol>
                <a:gridCol w="1082626">
                  <a:extLst>
                    <a:ext uri="{9D8B030D-6E8A-4147-A177-3AD203B41FA5}">
                      <a16:colId xmlns:a16="http://schemas.microsoft.com/office/drawing/2014/main" val="20001"/>
                    </a:ext>
                  </a:extLst>
                </a:gridCol>
                <a:gridCol w="698912">
                  <a:extLst>
                    <a:ext uri="{9D8B030D-6E8A-4147-A177-3AD203B41FA5}">
                      <a16:colId xmlns:a16="http://schemas.microsoft.com/office/drawing/2014/main" val="20002"/>
                    </a:ext>
                  </a:extLst>
                </a:gridCol>
                <a:gridCol w="698912">
                  <a:extLst>
                    <a:ext uri="{9D8B030D-6E8A-4147-A177-3AD203B41FA5}">
                      <a16:colId xmlns:a16="http://schemas.microsoft.com/office/drawing/2014/main" val="1728464819"/>
                    </a:ext>
                  </a:extLst>
                </a:gridCol>
                <a:gridCol w="1817171">
                  <a:extLst>
                    <a:ext uri="{9D8B030D-6E8A-4147-A177-3AD203B41FA5}">
                      <a16:colId xmlns:a16="http://schemas.microsoft.com/office/drawing/2014/main" val="20003"/>
                    </a:ext>
                  </a:extLst>
                </a:gridCol>
                <a:gridCol w="2050245">
                  <a:extLst>
                    <a:ext uri="{9D8B030D-6E8A-4147-A177-3AD203B41FA5}">
                      <a16:colId xmlns:a16="http://schemas.microsoft.com/office/drawing/2014/main" val="20004"/>
                    </a:ext>
                  </a:extLst>
                </a:gridCol>
              </a:tblGrid>
              <a:tr h="258258">
                <a:tc>
                  <a:txBody>
                    <a:bodyPr/>
                    <a:lstStyle/>
                    <a:p>
                      <a:pPr marL="85725" algn="just">
                        <a:lnSpc>
                          <a:spcPct val="100000"/>
                        </a:lnSpc>
                        <a:spcBef>
                          <a:spcPts val="615"/>
                        </a:spcBef>
                      </a:pPr>
                      <a:r>
                        <a:rPr lang="en-IN" sz="1200" spc="55">
                          <a:latin typeface="Arial" panose="020B0604020202020204" pitchFamily="34" charset="0"/>
                          <a:cs typeface="Arial" panose="020B0604020202020204" pitchFamily="34" charset="0"/>
                        </a:rPr>
                        <a:t>Title</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spc="190">
                          <a:latin typeface="Arial" panose="020B0604020202020204" pitchFamily="34" charset="0"/>
                          <a:cs typeface="Arial" panose="020B0604020202020204" pitchFamily="34" charset="0"/>
                        </a:rPr>
                        <a:t>Author</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spc="90" dirty="0">
                          <a:latin typeface="Arial" panose="020B0604020202020204" pitchFamily="34" charset="0"/>
                          <a:cs typeface="Arial" panose="020B0604020202020204" pitchFamily="34" charset="0"/>
                        </a:rPr>
                        <a:t>Year</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dirty="0">
                          <a:latin typeface="Arial" panose="020B0604020202020204" pitchFamily="34" charset="0"/>
                          <a:cs typeface="Arial" panose="020B0604020202020204" pitchFamily="34" charset="0"/>
                        </a:rPr>
                        <a:t>Journal</a:t>
                      </a:r>
                      <a:endParaRPr sz="1200" dirty="0">
                        <a:latin typeface="Arial" panose="020B0604020202020204" pitchFamily="34" charset="0"/>
                        <a:cs typeface="Arial" panose="020B0604020202020204" pitchFamily="34" charset="0"/>
                      </a:endParaRPr>
                    </a:p>
                  </a:txBody>
                  <a:tcPr marL="0" marR="0" marT="78105" marB="0">
                    <a:lnL w="9525" cap="flat" cmpd="sng" algn="ctr">
                      <a:solidFill>
                        <a:srgbClr val="9E9E9E"/>
                      </a:solidFill>
                      <a:prstDash val="solid"/>
                      <a:round/>
                      <a:headEnd type="none" w="med" len="med"/>
                      <a:tailEnd type="none" w="med" len="med"/>
                    </a:lnL>
                    <a:lnR w="9525">
                      <a:solidFill>
                        <a:srgbClr val="9E9E9E"/>
                      </a:solidFill>
                      <a:prstDash val="solid"/>
                    </a:lnR>
                    <a:lnT w="9525">
                      <a:solidFill>
                        <a:srgbClr val="9E9E9E"/>
                      </a:solidFill>
                      <a:prstDash val="solid"/>
                    </a:lnT>
                    <a:lnB w="9525" cap="flat" cmpd="sng" algn="ctr">
                      <a:solidFill>
                        <a:srgbClr val="9E9E9E"/>
                      </a:solidFill>
                      <a:prstDash val="solid"/>
                      <a:round/>
                      <a:headEnd type="none" w="med" len="med"/>
                      <a:tailEnd type="none" w="med" len="med"/>
                    </a:lnB>
                  </a:tcPr>
                </a:tc>
                <a:tc>
                  <a:txBody>
                    <a:bodyPr/>
                    <a:lstStyle/>
                    <a:p>
                      <a:pPr marL="85725" algn="just">
                        <a:lnSpc>
                          <a:spcPct val="100000"/>
                        </a:lnSpc>
                        <a:spcBef>
                          <a:spcPts val="615"/>
                        </a:spcBef>
                      </a:pPr>
                      <a:r>
                        <a:rPr sz="1200" spc="60" err="1">
                          <a:latin typeface="Arial" panose="020B0604020202020204" pitchFamily="34" charset="0"/>
                          <a:cs typeface="Arial" panose="020B0604020202020204" pitchFamily="34" charset="0"/>
                        </a:rPr>
                        <a:t>Limitatio</a:t>
                      </a:r>
                      <a:r>
                        <a:rPr lang="en-IN" sz="1200" spc="60">
                          <a:latin typeface="Arial" panose="020B0604020202020204" pitchFamily="34" charset="0"/>
                          <a:cs typeface="Arial" panose="020B0604020202020204" pitchFamily="34" charset="0"/>
                        </a:rPr>
                        <a:t>n</a:t>
                      </a:r>
                      <a:r>
                        <a:rPr sz="1200" spc="60">
                          <a:latin typeface="Arial" panose="020B0604020202020204" pitchFamily="34" charset="0"/>
                          <a:cs typeface="Arial" panose="020B0604020202020204" pitchFamily="34" charset="0"/>
                        </a:rPr>
                        <a:t>s</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algn="just">
                        <a:lnSpc>
                          <a:spcPct val="100000"/>
                        </a:lnSpc>
                        <a:spcBef>
                          <a:spcPts val="615"/>
                        </a:spcBef>
                      </a:pPr>
                      <a:r>
                        <a:rPr lang="en-IN" sz="1200" spc="70" dirty="0">
                          <a:latin typeface="Arial" panose="020B0604020202020204" pitchFamily="34" charset="0"/>
                          <a:cs typeface="Arial" panose="020B0604020202020204" pitchFamily="34" charset="0"/>
                        </a:rPr>
                        <a:t>Scope</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1356052">
                <a:tc>
                  <a:txBody>
                    <a:bodyPr/>
                    <a:lstStyle/>
                    <a:p>
                      <a:pPr marL="85725" marR="469900" algn="just">
                        <a:lnSpc>
                          <a:spcPct val="100000"/>
                        </a:lnSpc>
                        <a:spcBef>
                          <a:spcPts val="620"/>
                        </a:spcBef>
                      </a:pPr>
                      <a:r>
                        <a:rPr lang="en-IN" sz="1200" dirty="0">
                          <a:solidFill>
                            <a:schemeClr val="tx1"/>
                          </a:solidFill>
                          <a:effectLst/>
                          <a:latin typeface="Arial" panose="020B0604020202020204" pitchFamily="34" charset="0"/>
                          <a:ea typeface="+mn-ea"/>
                          <a:cs typeface="Arial" panose="020B0604020202020204" pitchFamily="34" charset="0"/>
                        </a:rPr>
                        <a:t>Enhancing social media bot detection with cross-feature gating and residual learning</a:t>
                      </a:r>
                      <a:endParaRPr lang="en-IN" sz="1200" b="0" i="0" dirty="0">
                        <a:solidFill>
                          <a:schemeClr val="tx1"/>
                        </a:solidFill>
                        <a:effectLst/>
                        <a:latin typeface="Arial" panose="020B0604020202020204" pitchFamily="34" charset="0"/>
                        <a:ea typeface="+mn-ea"/>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Khan et al.</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2026</a:t>
                      </a:r>
                    </a:p>
                    <a:p>
                      <a:pPr marL="85725" marR="0" lvl="0" indent="0" algn="just" defTabSz="914400" eaLnBrk="1" fontAlgn="auto" latinLnBrk="0" hangingPunct="1">
                        <a:lnSpc>
                          <a:spcPct val="100000"/>
                        </a:lnSpc>
                        <a:spcBef>
                          <a:spcPts val="620"/>
                        </a:spcBef>
                        <a:spcAft>
                          <a:spcPts val="0"/>
                        </a:spcAft>
                        <a:buClrTx/>
                        <a:buSzTx/>
                        <a:buFontTx/>
                        <a:buNone/>
                        <a:tabLst/>
                        <a:defRPr/>
                      </a:pPr>
                      <a:endParaRPr lang="en-IN" sz="1200" b="0" i="0" dirty="0">
                        <a:solidFill>
                          <a:schemeClr val="tx1"/>
                        </a:solidFill>
                        <a:effectLst/>
                        <a:latin typeface="Arial" panose="020B0604020202020204" pitchFamily="34" charset="0"/>
                        <a:ea typeface="+mn-ea"/>
                        <a:cs typeface="Arial" panose="020B0604020202020204" pitchFamily="34" charset="0"/>
                      </a:endParaRPr>
                    </a:p>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Journal: </a:t>
                      </a:r>
                      <a:br>
                        <a:rPr lang="en-IN" sz="1200" b="0" i="0" dirty="0">
                          <a:solidFill>
                            <a:schemeClr val="tx1"/>
                          </a:solidFill>
                          <a:effectLst/>
                          <a:latin typeface="Arial" panose="020B0604020202020204" pitchFamily="34" charset="0"/>
                          <a:ea typeface="+mn-ea"/>
                          <a:cs typeface="Arial" panose="020B0604020202020204" pitchFamily="34" charset="0"/>
                        </a:rPr>
                      </a:br>
                      <a:r>
                        <a:rPr lang="en-IN" sz="1200" b="0" i="0" dirty="0">
                          <a:solidFill>
                            <a:schemeClr val="tx1"/>
                          </a:solidFill>
                          <a:effectLst/>
                          <a:latin typeface="Arial" panose="020B0604020202020204" pitchFamily="34" charset="0"/>
                          <a:ea typeface="+mn-ea"/>
                          <a:cs typeface="Arial" panose="020B0604020202020204" pitchFamily="34" charset="0"/>
                        </a:rPr>
                        <a:t>ICCK</a:t>
                      </a:r>
                    </a:p>
                    <a:p>
                      <a:pPr marL="85725" marR="0" lvl="0" indent="0" algn="just" defTabSz="914400" eaLnBrk="1" fontAlgn="auto" latinLnBrk="0" hangingPunct="1">
                        <a:lnSpc>
                          <a:spcPct val="100000"/>
                        </a:lnSpc>
                        <a:spcBef>
                          <a:spcPts val="620"/>
                        </a:spcBef>
                        <a:spcAft>
                          <a:spcPts val="0"/>
                        </a:spcAft>
                        <a:buClrTx/>
                        <a:buSzTx/>
                        <a:buFontTx/>
                        <a:buNone/>
                        <a:tabLst/>
                        <a:defRPr/>
                      </a:pPr>
                      <a:endParaRPr lang="en-US" sz="1200" b="0" i="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dirty="0">
                          <a:latin typeface="Arial" panose="020B0604020202020204" pitchFamily="34" charset="0"/>
                          <a:cs typeface="Arial" panose="020B0604020202020204" pitchFamily="34" charset="0"/>
                        </a:rPr>
                        <a:t>ICCK</a:t>
                      </a: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85725" marR="1593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Evaluated on two merged Instagram datasets only, so robustness to other platforms and larger-scale data is unclear.</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22161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Introduces a strong tabular deep model with cross-feature gating and residual learning, achieving high accuracy on Instagram bots.</a:t>
                      </a:r>
                      <a:br>
                        <a:rPr lang="en-US" sz="1200" b="0" i="0" dirty="0">
                          <a:solidFill>
                            <a:schemeClr val="tx1"/>
                          </a:solidFill>
                          <a:effectLst/>
                          <a:latin typeface="Arial" panose="020B0604020202020204" pitchFamily="34" charset="0"/>
                          <a:ea typeface="+mn-ea"/>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1329513">
                <a:tc>
                  <a:txBody>
                    <a:bodyPr/>
                    <a:lstStyle/>
                    <a:p>
                      <a:pPr marL="85725" marR="253365" algn="just">
                        <a:lnSpc>
                          <a:spcPct val="100000"/>
                        </a:lnSpc>
                        <a:spcBef>
                          <a:spcPts val="620"/>
                        </a:spcBef>
                      </a:pPr>
                      <a:r>
                        <a:rPr lang="en-IN" sz="1200" dirty="0">
                          <a:solidFill>
                            <a:schemeClr val="tx1"/>
                          </a:solidFill>
                          <a:effectLst/>
                          <a:latin typeface="Arial" panose="020B0604020202020204" pitchFamily="34" charset="0"/>
                          <a:ea typeface="+mn-ea"/>
                          <a:cs typeface="Arial" panose="020B0604020202020204" pitchFamily="34" charset="0"/>
                        </a:rPr>
                        <a:t>A global comparison of social media bot and human characteristics</a:t>
                      </a:r>
                      <a:endParaRPr lang="en-IN" sz="1200" b="0" i="0" dirty="0">
                        <a:solidFill>
                          <a:schemeClr val="tx1"/>
                        </a:solidFill>
                        <a:effectLst/>
                        <a:latin typeface="Arial" panose="020B0604020202020204" pitchFamily="34" charset="0"/>
                        <a:ea typeface="+mn-ea"/>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just"/>
                      <a:r>
                        <a:rPr lang="en-IN" sz="1200" b="0" i="0" dirty="0">
                          <a:solidFill>
                            <a:schemeClr val="tx1"/>
                          </a:solidFill>
                          <a:effectLst/>
                          <a:latin typeface="Arial" panose="020B0604020202020204" pitchFamily="34" charset="0"/>
                          <a:ea typeface="+mn-ea"/>
                          <a:cs typeface="Arial" panose="020B0604020202020204" pitchFamily="34" charset="0"/>
                        </a:rPr>
                        <a:t>Peng et al. </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spc="-20" dirty="0">
                          <a:latin typeface="Arial" panose="020B0604020202020204" pitchFamily="34" charset="0"/>
                          <a:cs typeface="Arial" panose="020B0604020202020204" pitchFamily="34" charset="0"/>
                        </a:rPr>
                        <a:t>2025</a:t>
                      </a:r>
                    </a:p>
                    <a:p>
                      <a:pPr marL="85725" algn="just">
                        <a:lnSpc>
                          <a:spcPct val="100000"/>
                        </a:lnSpc>
                        <a:spcBef>
                          <a:spcPts val="620"/>
                        </a:spcBef>
                      </a:pPr>
                      <a:endParaRPr lang="en-IN" sz="1200" spc="-20" dirty="0">
                        <a:latin typeface="Arial" panose="020B0604020202020204" pitchFamily="34" charset="0"/>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Nature portfolio/ Scientific reports</a:t>
                      </a:r>
                      <a:endParaRPr lang="en-US" sz="1200" b="0" i="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85725" marR="2228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Unsupervised assumptions may miss very stealthy or low-activity bots and can be sensitive to dataset-specific structures.</a:t>
                      </a: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113664" algn="just">
                        <a:lnSpc>
                          <a:spcPct val="100000"/>
                        </a:lnSpc>
                        <a:spcBef>
                          <a:spcPts val="620"/>
                        </a:spcBef>
                      </a:pPr>
                      <a:r>
                        <a:rPr lang="en-US" sz="1200" spc="-10" dirty="0">
                          <a:latin typeface="Arial" panose="020B0604020202020204" pitchFamily="34" charset="0"/>
                          <a:cs typeface="Arial" panose="020B0604020202020204" pitchFamily="34" charset="0"/>
                        </a:rPr>
                        <a:t> </a:t>
                      </a:r>
                      <a:r>
                        <a:rPr lang="en-US" sz="1200" b="0" i="0" dirty="0">
                          <a:solidFill>
                            <a:schemeClr val="tx1"/>
                          </a:solidFill>
                          <a:effectLst/>
                          <a:latin typeface="Arial" panose="020B0604020202020204" pitchFamily="34" charset="0"/>
                          <a:ea typeface="+mn-ea"/>
                          <a:cs typeface="Arial" panose="020B0604020202020204" pitchFamily="34" charset="0"/>
                        </a:rPr>
                        <a:t>Proposes an unsupervised method that leverages structural information to detect bots without heavy labeling.</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r h="1172032">
                <a:tc>
                  <a:txBody>
                    <a:bodyPr/>
                    <a:lstStyle/>
                    <a:p>
                      <a:pPr marL="85725" marR="469900"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Improving social bot detection through aid and training</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just"/>
                      <a:r>
                        <a:rPr lang="en-IN" sz="1200" b="0" i="0" dirty="0">
                          <a:solidFill>
                            <a:schemeClr val="tx1"/>
                          </a:solidFill>
                          <a:effectLst/>
                          <a:latin typeface="Arial" panose="020B0604020202020204" pitchFamily="34" charset="0"/>
                          <a:ea typeface="+mn-ea"/>
                          <a:cs typeface="Arial" panose="020B0604020202020204" pitchFamily="34" charset="0"/>
                        </a:rPr>
                        <a:t>Kenny et al.</a:t>
                      </a:r>
                      <a:br>
                        <a:rPr lang="en-IN" sz="1200" dirty="0">
                          <a:latin typeface="Arial" panose="020B0604020202020204" pitchFamily="34" charset="0"/>
                          <a:cs typeface="Arial" panose="020B0604020202020204" pitchFamily="34" charset="0"/>
                        </a:rPr>
                      </a:br>
                      <a:endParaRPr lang="en-IN" sz="1200" b="0" i="0" dirty="0">
                        <a:solidFill>
                          <a:schemeClr val="tx1"/>
                        </a:solidFill>
                        <a:effectLst/>
                        <a:latin typeface="Arial" panose="020B0604020202020204" pitchFamily="34" charset="0"/>
                        <a:ea typeface="+mn-ea"/>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spc="-20" dirty="0">
                          <a:latin typeface="Arial" panose="020B0604020202020204" pitchFamily="34" charset="0"/>
                          <a:cs typeface="Arial" panose="020B0604020202020204" pitchFamily="34" charset="0"/>
                        </a:rPr>
                        <a:t>2024</a:t>
                      </a:r>
                    </a:p>
                    <a:p>
                      <a:pPr marL="85725" marR="0" lvl="0" indent="0" algn="just" defTabSz="914400" eaLnBrk="1" fontAlgn="auto" latinLnBrk="0" hangingPunct="1">
                        <a:lnSpc>
                          <a:spcPct val="100000"/>
                        </a:lnSpc>
                        <a:spcBef>
                          <a:spcPts val="620"/>
                        </a:spcBef>
                        <a:spcAft>
                          <a:spcPts val="0"/>
                        </a:spcAft>
                        <a:buClrTx/>
                        <a:buSzTx/>
                        <a:buFontTx/>
                        <a:buNone/>
                        <a:tabLst/>
                        <a:defRPr/>
                      </a:pPr>
                      <a:endParaRPr lang="en-IN" sz="1200" b="0" i="0" spc="-2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Sage journal</a:t>
                      </a:r>
                      <a:endParaRPr lang="en-IN" sz="1200" dirty="0">
                        <a:latin typeface="Arial" panose="020B0604020202020204" pitchFamily="34" charset="0"/>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a:solidFill>
                        <a:srgbClr val="9E9E9E"/>
                      </a:solidFill>
                      <a:prstDash val="solid"/>
                    </a:lnB>
                  </a:tcPr>
                </a:tc>
                <a:tc>
                  <a:txBody>
                    <a:bodyPr/>
                    <a:lstStyle/>
                    <a:p>
                      <a:pPr marL="85725" marR="1212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Relies on specific platforms/tasks, so gains may not fully transfer to new bot types or low-resource settings.</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241300"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Uses human-in-the-loop annotation and targeted training interventions to improve annotator skill and model robustness for social-bot detection.</a:t>
                      </a:r>
                      <a:br>
                        <a:rPr lang="en-US" sz="1200" b="0" i="0" dirty="0">
                          <a:solidFill>
                            <a:schemeClr val="tx1"/>
                          </a:solidFill>
                          <a:effectLst/>
                          <a:latin typeface="Arial" panose="020B0604020202020204" pitchFamily="34" charset="0"/>
                          <a:ea typeface="+mn-ea"/>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3"/>
                  </a:ext>
                </a:extLst>
              </a:tr>
            </a:tbl>
          </a:graphicData>
        </a:graphic>
      </p:graphicFrame>
      <p:sp>
        <p:nvSpPr>
          <p:cNvPr id="3" name="object 4">
            <a:extLst>
              <a:ext uri="{FF2B5EF4-FFF2-40B4-BE49-F238E27FC236}">
                <a16:creationId xmlns:a16="http://schemas.microsoft.com/office/drawing/2014/main" id="{9782C159-3800-CBD3-380E-CA9FC8DA5E35}"/>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4" name="Picture 3">
            <a:extLst>
              <a:ext uri="{FF2B5EF4-FFF2-40B4-BE49-F238E27FC236}">
                <a16:creationId xmlns:a16="http://schemas.microsoft.com/office/drawing/2014/main" id="{EAA06D45-7F64-80FD-8DDB-8B72689D521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5" name="Slide Number Placeholder 4">
            <a:extLst>
              <a:ext uri="{FF2B5EF4-FFF2-40B4-BE49-F238E27FC236}">
                <a16:creationId xmlns:a16="http://schemas.microsoft.com/office/drawing/2014/main" id="{93F1286D-3B0B-74EC-427A-74E91971C565}"/>
              </a:ext>
            </a:extLst>
          </p:cNvPr>
          <p:cNvSpPr>
            <a:spLocks noGrp="1"/>
          </p:cNvSpPr>
          <p:nvPr>
            <p:ph type="sldNum" sz="quarter" idx="7"/>
          </p:nvPr>
        </p:nvSpPr>
        <p:spPr/>
        <p:txBody>
          <a:bodyPr/>
          <a:lstStyle/>
          <a:p>
            <a:fld id="{B6F15528-21DE-4FAA-801E-634DDDAF4B2B}" type="slidenum">
              <a:rPr lang="en-IN" smtClean="0"/>
              <a:t>6</a:t>
            </a:fld>
            <a:endParaRPr lang="en-IN"/>
          </a:p>
        </p:txBody>
      </p:sp>
    </p:spTree>
    <p:extLst>
      <p:ext uri="{BB962C8B-B14F-4D97-AF65-F5344CB8AC3E}">
        <p14:creationId xmlns:p14="http://schemas.microsoft.com/office/powerpoint/2010/main" val="2250532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a:extLst>
              <a:ext uri="{FF2B5EF4-FFF2-40B4-BE49-F238E27FC236}">
                <a16:creationId xmlns:a16="http://schemas.microsoft.com/office/drawing/2014/main" id="{8120A135-50AF-BBB0-D0A2-21A41733B4E8}"/>
              </a:ext>
            </a:extLst>
          </p:cNvPr>
          <p:cNvGraphicFramePr>
            <a:graphicFrameLocks noGrp="1"/>
          </p:cNvGraphicFramePr>
          <p:nvPr>
            <p:extLst>
              <p:ext uri="{D42A27DB-BD31-4B8C-83A1-F6EECF244321}">
                <p14:modId xmlns:p14="http://schemas.microsoft.com/office/powerpoint/2010/main" val="2545561411"/>
              </p:ext>
            </p:extLst>
          </p:nvPr>
        </p:nvGraphicFramePr>
        <p:xfrm>
          <a:off x="451407" y="448831"/>
          <a:ext cx="8441689" cy="4520565"/>
        </p:xfrm>
        <a:graphic>
          <a:graphicData uri="http://schemas.openxmlformats.org/drawingml/2006/table">
            <a:tbl>
              <a:tblPr firstRow="1" bandRow="1">
                <a:tableStyleId>{2D5ABB26-0587-4C30-8999-92F81FD0307C}</a:tableStyleId>
              </a:tblPr>
              <a:tblGrid>
                <a:gridCol w="2093823">
                  <a:extLst>
                    <a:ext uri="{9D8B030D-6E8A-4147-A177-3AD203B41FA5}">
                      <a16:colId xmlns:a16="http://schemas.microsoft.com/office/drawing/2014/main" val="20000"/>
                    </a:ext>
                  </a:extLst>
                </a:gridCol>
                <a:gridCol w="1082626">
                  <a:extLst>
                    <a:ext uri="{9D8B030D-6E8A-4147-A177-3AD203B41FA5}">
                      <a16:colId xmlns:a16="http://schemas.microsoft.com/office/drawing/2014/main" val="20001"/>
                    </a:ext>
                  </a:extLst>
                </a:gridCol>
                <a:gridCol w="698912">
                  <a:extLst>
                    <a:ext uri="{9D8B030D-6E8A-4147-A177-3AD203B41FA5}">
                      <a16:colId xmlns:a16="http://schemas.microsoft.com/office/drawing/2014/main" val="20002"/>
                    </a:ext>
                  </a:extLst>
                </a:gridCol>
                <a:gridCol w="698912">
                  <a:extLst>
                    <a:ext uri="{9D8B030D-6E8A-4147-A177-3AD203B41FA5}">
                      <a16:colId xmlns:a16="http://schemas.microsoft.com/office/drawing/2014/main" val="2571560320"/>
                    </a:ext>
                  </a:extLst>
                </a:gridCol>
                <a:gridCol w="1817171">
                  <a:extLst>
                    <a:ext uri="{9D8B030D-6E8A-4147-A177-3AD203B41FA5}">
                      <a16:colId xmlns:a16="http://schemas.microsoft.com/office/drawing/2014/main" val="20003"/>
                    </a:ext>
                  </a:extLst>
                </a:gridCol>
                <a:gridCol w="2050245">
                  <a:extLst>
                    <a:ext uri="{9D8B030D-6E8A-4147-A177-3AD203B41FA5}">
                      <a16:colId xmlns:a16="http://schemas.microsoft.com/office/drawing/2014/main" val="20004"/>
                    </a:ext>
                  </a:extLst>
                </a:gridCol>
              </a:tblGrid>
              <a:tr h="258258">
                <a:tc>
                  <a:txBody>
                    <a:bodyPr/>
                    <a:lstStyle/>
                    <a:p>
                      <a:pPr marL="85725" algn="just">
                        <a:lnSpc>
                          <a:spcPct val="100000"/>
                        </a:lnSpc>
                        <a:spcBef>
                          <a:spcPts val="615"/>
                        </a:spcBef>
                      </a:pPr>
                      <a:r>
                        <a:rPr lang="en-IN" sz="1200" spc="55">
                          <a:latin typeface="Arial" panose="020B0604020202020204" pitchFamily="34" charset="0"/>
                          <a:cs typeface="Arial" panose="020B0604020202020204" pitchFamily="34" charset="0"/>
                        </a:rPr>
                        <a:t>Title</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spc="190">
                          <a:latin typeface="Arial" panose="020B0604020202020204" pitchFamily="34" charset="0"/>
                          <a:cs typeface="Arial" panose="020B0604020202020204" pitchFamily="34" charset="0"/>
                        </a:rPr>
                        <a:t>Author</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spc="90" dirty="0">
                          <a:latin typeface="Arial" panose="020B0604020202020204" pitchFamily="34" charset="0"/>
                          <a:cs typeface="Arial" panose="020B0604020202020204" pitchFamily="34" charset="0"/>
                        </a:rPr>
                        <a:t>Year</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15"/>
                        </a:spcBef>
                      </a:pPr>
                      <a:r>
                        <a:rPr lang="en-IN" sz="1200" b="0" i="0" dirty="0">
                          <a:solidFill>
                            <a:schemeClr val="tx1"/>
                          </a:solidFill>
                          <a:effectLst/>
                          <a:latin typeface="Arial" panose="020B0604020202020204" pitchFamily="34" charset="0"/>
                          <a:ea typeface="+mn-ea"/>
                          <a:cs typeface="Arial" panose="020B0604020202020204" pitchFamily="34" charset="0"/>
                        </a:rPr>
                        <a:t>Journal</a:t>
                      </a:r>
                      <a:endParaRPr sz="1200" dirty="0">
                        <a:latin typeface="Arial" panose="020B0604020202020204" pitchFamily="34" charset="0"/>
                        <a:cs typeface="Arial" panose="020B0604020202020204" pitchFamily="34" charset="0"/>
                      </a:endParaRPr>
                    </a:p>
                  </a:txBody>
                  <a:tcPr marL="0" marR="0" marT="78105" marB="0">
                    <a:lnL w="9525" cap="flat" cmpd="sng" algn="ctr">
                      <a:solidFill>
                        <a:srgbClr val="9E9E9E"/>
                      </a:solidFill>
                      <a:prstDash val="solid"/>
                      <a:round/>
                      <a:headEnd type="none" w="med" len="med"/>
                      <a:tailEnd type="none" w="med" len="med"/>
                    </a:lnL>
                    <a:lnR w="9525">
                      <a:solidFill>
                        <a:srgbClr val="9E9E9E"/>
                      </a:solidFill>
                      <a:prstDash val="solid"/>
                    </a:lnR>
                    <a:lnT w="9525">
                      <a:solidFill>
                        <a:srgbClr val="9E9E9E"/>
                      </a:solidFill>
                      <a:prstDash val="solid"/>
                    </a:lnT>
                    <a:lnB w="9525" cap="flat" cmpd="sng" algn="ctr">
                      <a:solidFill>
                        <a:srgbClr val="9E9E9E"/>
                      </a:solidFill>
                      <a:prstDash val="solid"/>
                      <a:round/>
                      <a:headEnd type="none" w="med" len="med"/>
                      <a:tailEnd type="none" w="med" len="med"/>
                    </a:lnB>
                  </a:tcPr>
                </a:tc>
                <a:tc>
                  <a:txBody>
                    <a:bodyPr/>
                    <a:lstStyle/>
                    <a:p>
                      <a:pPr marL="85725" algn="just">
                        <a:lnSpc>
                          <a:spcPct val="100000"/>
                        </a:lnSpc>
                        <a:spcBef>
                          <a:spcPts val="615"/>
                        </a:spcBef>
                      </a:pPr>
                      <a:r>
                        <a:rPr sz="1200" spc="60" err="1">
                          <a:latin typeface="Arial" panose="020B0604020202020204" pitchFamily="34" charset="0"/>
                          <a:cs typeface="Arial" panose="020B0604020202020204" pitchFamily="34" charset="0"/>
                        </a:rPr>
                        <a:t>Limitatio</a:t>
                      </a:r>
                      <a:r>
                        <a:rPr lang="en-IN" sz="1200" spc="60">
                          <a:latin typeface="Arial" panose="020B0604020202020204" pitchFamily="34" charset="0"/>
                          <a:cs typeface="Arial" panose="020B0604020202020204" pitchFamily="34" charset="0"/>
                        </a:rPr>
                        <a:t>n</a:t>
                      </a:r>
                      <a:r>
                        <a:rPr sz="1200" spc="60">
                          <a:latin typeface="Arial" panose="020B0604020202020204" pitchFamily="34" charset="0"/>
                          <a:cs typeface="Arial" panose="020B0604020202020204" pitchFamily="34" charset="0"/>
                        </a:rPr>
                        <a:t>s</a:t>
                      </a:r>
                      <a:endParaRPr sz="120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algn="just">
                        <a:lnSpc>
                          <a:spcPct val="100000"/>
                        </a:lnSpc>
                        <a:spcBef>
                          <a:spcPts val="615"/>
                        </a:spcBef>
                      </a:pPr>
                      <a:r>
                        <a:rPr lang="en-IN" sz="1200" spc="70" dirty="0">
                          <a:latin typeface="Arial" panose="020B0604020202020204" pitchFamily="34" charset="0"/>
                          <a:cs typeface="Arial" panose="020B0604020202020204" pitchFamily="34" charset="0"/>
                        </a:rPr>
                        <a:t>Scope</a:t>
                      </a:r>
                      <a:endParaRPr sz="1200" dirty="0">
                        <a:latin typeface="Arial" panose="020B0604020202020204" pitchFamily="34" charset="0"/>
                        <a:cs typeface="Arial" panose="020B0604020202020204" pitchFamily="34" charset="0"/>
                      </a:endParaRPr>
                    </a:p>
                  </a:txBody>
                  <a:tcPr marL="0" marR="0" marT="78105"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1356052">
                <a:tc>
                  <a:txBody>
                    <a:bodyPr/>
                    <a:lstStyle/>
                    <a:p>
                      <a:pPr marL="85725" marR="469900"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Social media bot detection with deep learning methods: A systematic review</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Hayawi et al.</a:t>
                      </a:r>
                      <a:br>
                        <a:rPr lang="en-IN"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2023</a:t>
                      </a:r>
                    </a:p>
                    <a:p>
                      <a:pPr marL="85725" algn="just">
                        <a:lnSpc>
                          <a:spcPct val="100000"/>
                        </a:lnSpc>
                        <a:spcBef>
                          <a:spcPts val="620"/>
                        </a:spcBef>
                      </a:pPr>
                      <a:endParaRPr lang="en-IN" sz="1200" b="0" i="0" dirty="0">
                        <a:solidFill>
                          <a:schemeClr val="tx1"/>
                        </a:solidFill>
                        <a:effectLst/>
                        <a:latin typeface="Arial" panose="020B0604020202020204" pitchFamily="34" charset="0"/>
                        <a:ea typeface="+mn-ea"/>
                        <a:cs typeface="Arial" panose="020B0604020202020204" pitchFamily="34" charset="0"/>
                      </a:endParaRPr>
                    </a:p>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 </a:t>
                      </a: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Springer nature</a:t>
                      </a:r>
                      <a:endParaRPr lang="en-US" sz="1200" b="0" i="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85725" marR="1593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Covers work only up to 2021 and depends on heterogeneous evaluation setups, making direct metric comparison tricky.</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22161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Systematically reviews only deep-learning bot detectors and shows where DL clearly outperforms classical ML.</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1329513">
                <a:tc>
                  <a:txBody>
                    <a:bodyPr/>
                    <a:lstStyle/>
                    <a:p>
                      <a:pPr marL="85725" marR="25336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Detecting bots in social-networks using node and structural embeddings</a:t>
                      </a:r>
                      <a:endParaRPr lang="en-IN" sz="1200" b="0" i="0" dirty="0">
                        <a:solidFill>
                          <a:schemeClr val="tx1"/>
                        </a:solidFill>
                        <a:effectLst/>
                        <a:latin typeface="Arial" panose="020B0604020202020204" pitchFamily="34" charset="0"/>
                        <a:ea typeface="+mn-ea"/>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just"/>
                      <a:r>
                        <a:rPr lang="en-IN" sz="1200" b="0" i="0" dirty="0">
                          <a:solidFill>
                            <a:schemeClr val="tx1"/>
                          </a:solidFill>
                          <a:effectLst/>
                          <a:latin typeface="Arial" panose="020B0604020202020204" pitchFamily="34" charset="0"/>
                          <a:ea typeface="+mn-ea"/>
                          <a:cs typeface="Arial" panose="020B0604020202020204" pitchFamily="34" charset="0"/>
                        </a:rPr>
                        <a:t>Shi et al..</a:t>
                      </a:r>
                      <a:br>
                        <a:rPr lang="en-IN" sz="1200" b="0" i="0" dirty="0">
                          <a:solidFill>
                            <a:schemeClr val="tx1"/>
                          </a:solidFill>
                          <a:effectLst/>
                          <a:latin typeface="Arial" panose="020B0604020202020204" pitchFamily="34" charset="0"/>
                          <a:ea typeface="+mn-ea"/>
                          <a:cs typeface="Arial" panose="020B0604020202020204" pitchFamily="34" charset="0"/>
                        </a:rPr>
                      </a:br>
                      <a:endParaRPr lang="en-IN" sz="1200" b="0" i="0" dirty="0">
                        <a:solidFill>
                          <a:schemeClr val="tx1"/>
                        </a:solidFill>
                        <a:effectLst/>
                        <a:latin typeface="Arial" panose="020B0604020202020204" pitchFamily="34" charset="0"/>
                        <a:ea typeface="+mn-ea"/>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spc="-20" dirty="0">
                          <a:latin typeface="Arial" panose="020B0604020202020204" pitchFamily="34" charset="0"/>
                          <a:cs typeface="Arial" panose="020B0604020202020204" pitchFamily="34" charset="0"/>
                        </a:rPr>
                        <a:t>2023</a:t>
                      </a:r>
                    </a:p>
                    <a:p>
                      <a:pPr marL="85725" algn="just">
                        <a:lnSpc>
                          <a:spcPct val="100000"/>
                        </a:lnSpc>
                        <a:spcBef>
                          <a:spcPts val="620"/>
                        </a:spcBef>
                      </a:pPr>
                      <a:endParaRPr lang="en-IN" sz="1200" spc="-20" dirty="0">
                        <a:latin typeface="Arial" panose="020B0604020202020204" pitchFamily="34" charset="0"/>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Springer nature</a:t>
                      </a:r>
                      <a:endParaRPr lang="en-US" sz="1200" b="0" i="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cap="flat" cmpd="sng" algn="ctr">
                      <a:solidFill>
                        <a:srgbClr val="9E9E9E"/>
                      </a:solidFill>
                      <a:prstDash val="solid"/>
                      <a:round/>
                      <a:headEnd type="none" w="med" len="med"/>
                      <a:tailEnd type="none" w="med" len="med"/>
                    </a:lnB>
                  </a:tcPr>
                </a:tc>
                <a:tc>
                  <a:txBody>
                    <a:bodyPr/>
                    <a:lstStyle/>
                    <a:p>
                      <a:pPr marL="85725" marR="2228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Depends on good graph structure and labeled graphs; performance may drop when network data is sparse or noisy.</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113664" algn="just">
                        <a:lnSpc>
                          <a:spcPct val="100000"/>
                        </a:lnSpc>
                        <a:spcBef>
                          <a:spcPts val="620"/>
                        </a:spcBef>
                      </a:pPr>
                      <a:r>
                        <a:rPr lang="en-US" sz="1200" spc="-10" dirty="0">
                          <a:latin typeface="Arial" panose="020B0604020202020204" pitchFamily="34" charset="0"/>
                          <a:cs typeface="Arial" panose="020B0604020202020204" pitchFamily="34" charset="0"/>
                        </a:rPr>
                        <a:t> </a:t>
                      </a:r>
                      <a:r>
                        <a:rPr lang="en-US" sz="1200" b="0" i="0" dirty="0">
                          <a:solidFill>
                            <a:schemeClr val="tx1"/>
                          </a:solidFill>
                          <a:effectLst/>
                          <a:latin typeface="Arial" panose="020B0604020202020204" pitchFamily="34" charset="0"/>
                          <a:ea typeface="+mn-ea"/>
                          <a:cs typeface="Arial" panose="020B0604020202020204" pitchFamily="34" charset="0"/>
                        </a:rPr>
                        <a:t>Uses graph data augmentation and stacked GNNs to capture both homophilic and heterophilic patterns in Twitter bot networks.</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r h="1172032">
                <a:tc>
                  <a:txBody>
                    <a:bodyPr/>
                    <a:lstStyle/>
                    <a:p>
                      <a:pPr marL="85725" marR="469900" algn="just">
                        <a:lnSpc>
                          <a:spcPct val="100000"/>
                        </a:lnSpc>
                        <a:spcBef>
                          <a:spcPts val="620"/>
                        </a:spcBef>
                      </a:pPr>
                      <a:r>
                        <a:rPr lang="en-IN" sz="1200" b="0" i="0" dirty="0">
                          <a:solidFill>
                            <a:schemeClr val="tx1"/>
                          </a:solidFill>
                          <a:effectLst/>
                          <a:latin typeface="Arial" panose="020B0604020202020204" pitchFamily="34" charset="0"/>
                          <a:ea typeface="+mn-ea"/>
                          <a:cs typeface="Arial" panose="020B0604020202020204" pitchFamily="34" charset="0"/>
                        </a:rPr>
                        <a:t>Machine learning-based social media bot detection: A comprehensive literature review</a:t>
                      </a: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algn="just"/>
                      <a:r>
                        <a:rPr lang="en-IN" sz="1200" b="0" i="0" dirty="0" err="1">
                          <a:solidFill>
                            <a:schemeClr val="tx1"/>
                          </a:solidFill>
                          <a:effectLst/>
                          <a:latin typeface="Arial" panose="020B0604020202020204" pitchFamily="34" charset="0"/>
                          <a:ea typeface="+mn-ea"/>
                          <a:cs typeface="Arial" panose="020B0604020202020204" pitchFamily="34" charset="0"/>
                        </a:rPr>
                        <a:t>Aljabri</a:t>
                      </a:r>
                      <a:r>
                        <a:rPr lang="en-IN" sz="1200" b="0" i="0" dirty="0">
                          <a:solidFill>
                            <a:schemeClr val="tx1"/>
                          </a:solidFill>
                          <a:effectLst/>
                          <a:latin typeface="Arial" panose="020B0604020202020204" pitchFamily="34" charset="0"/>
                          <a:ea typeface="+mn-ea"/>
                          <a:cs typeface="Arial" panose="020B0604020202020204" pitchFamily="34" charset="0"/>
                        </a:rPr>
                        <a:t> et al.</a:t>
                      </a:r>
                      <a:br>
                        <a:rPr lang="en-IN" sz="1200" dirty="0">
                          <a:latin typeface="Arial" panose="020B0604020202020204" pitchFamily="34" charset="0"/>
                          <a:cs typeface="Arial" panose="020B0604020202020204" pitchFamily="34" charset="0"/>
                        </a:rPr>
                      </a:br>
                      <a:endParaRPr lang="en-IN" sz="1200" b="0" i="0" dirty="0">
                        <a:solidFill>
                          <a:schemeClr val="tx1"/>
                        </a:solidFill>
                        <a:effectLst/>
                        <a:latin typeface="Arial" panose="020B0604020202020204" pitchFamily="34" charset="0"/>
                        <a:ea typeface="+mn-ea"/>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algn="just">
                        <a:lnSpc>
                          <a:spcPct val="100000"/>
                        </a:lnSpc>
                        <a:spcBef>
                          <a:spcPts val="620"/>
                        </a:spcBef>
                      </a:pPr>
                      <a:r>
                        <a:rPr lang="en-IN" sz="1200" spc="-20" dirty="0">
                          <a:latin typeface="Arial" panose="020B0604020202020204" pitchFamily="34" charset="0"/>
                          <a:cs typeface="Arial" panose="020B0604020202020204" pitchFamily="34" charset="0"/>
                        </a:rPr>
                        <a:t>2023</a:t>
                      </a:r>
                    </a:p>
                    <a:p>
                      <a:pPr marL="85725" marR="0" lvl="0" indent="0" algn="just" defTabSz="914400" eaLnBrk="1" fontAlgn="auto" latinLnBrk="0" hangingPunct="1">
                        <a:lnSpc>
                          <a:spcPct val="100000"/>
                        </a:lnSpc>
                        <a:spcBef>
                          <a:spcPts val="620"/>
                        </a:spcBef>
                        <a:spcAft>
                          <a:spcPts val="0"/>
                        </a:spcAft>
                        <a:buClrTx/>
                        <a:buSzTx/>
                        <a:buFontTx/>
                        <a:buNone/>
                        <a:tabLst/>
                        <a:defRPr/>
                      </a:pPr>
                      <a:endParaRPr lang="en-IN" sz="1200" b="0" i="0" spc="-2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725" marR="0" lvl="0" indent="0" algn="just" defTabSz="914400" eaLnBrk="1" fontAlgn="auto" latinLnBrk="0" hangingPunct="1">
                        <a:lnSpc>
                          <a:spcPct val="100000"/>
                        </a:lnSpc>
                        <a:spcBef>
                          <a:spcPts val="620"/>
                        </a:spcBef>
                        <a:spcAft>
                          <a:spcPts val="0"/>
                        </a:spcAft>
                        <a:buClrTx/>
                        <a:buSzTx/>
                        <a:buFontTx/>
                        <a:buNone/>
                        <a:tabLst/>
                        <a:defRPr/>
                      </a:pPr>
                      <a:r>
                        <a:rPr lang="en-IN" sz="1200" b="0" i="0" dirty="0">
                          <a:solidFill>
                            <a:schemeClr val="tx1"/>
                          </a:solidFill>
                          <a:effectLst/>
                          <a:latin typeface="Arial" panose="020B0604020202020204" pitchFamily="34" charset="0"/>
                          <a:ea typeface="+mn-ea"/>
                          <a:cs typeface="Arial" panose="020B0604020202020204" pitchFamily="34" charset="0"/>
                        </a:rPr>
                        <a:t>Springer nature</a:t>
                      </a:r>
                      <a:endParaRPr lang="en-US" sz="1200" b="0" i="0" dirty="0">
                        <a:solidFill>
                          <a:schemeClr val="tx1"/>
                        </a:solidFill>
                        <a:effectLst/>
                        <a:latin typeface="Arial" panose="020B0604020202020204" pitchFamily="34" charset="0"/>
                        <a:ea typeface="+mn-ea"/>
                        <a:cs typeface="Arial" panose="020B0604020202020204" pitchFamily="34" charset="0"/>
                      </a:endParaRPr>
                    </a:p>
                    <a:p>
                      <a:pPr marL="85725" algn="just">
                        <a:lnSpc>
                          <a:spcPct val="100000"/>
                        </a:lnSpc>
                        <a:spcBef>
                          <a:spcPts val="620"/>
                        </a:spcBef>
                      </a:pPr>
                      <a:endParaRPr sz="1200" dirty="0">
                        <a:latin typeface="Arial" panose="020B0604020202020204" pitchFamily="34" charset="0"/>
                        <a:cs typeface="Arial" panose="020B0604020202020204" pitchFamily="34" charset="0"/>
                      </a:endParaRPr>
                    </a:p>
                  </a:txBody>
                  <a:tcPr marL="0" marR="0" marT="78740" marB="0">
                    <a:lnL w="9525" cap="flat" cmpd="sng" algn="ctr">
                      <a:solidFill>
                        <a:srgbClr val="9E9E9E"/>
                      </a:solidFill>
                      <a:prstDash val="solid"/>
                      <a:round/>
                      <a:headEnd type="none" w="med" len="med"/>
                      <a:tailEnd type="none" w="med" len="med"/>
                    </a:lnL>
                    <a:lnR w="9525">
                      <a:solidFill>
                        <a:srgbClr val="9E9E9E"/>
                      </a:solidFill>
                      <a:prstDash val="solid"/>
                    </a:lnR>
                    <a:lnT w="9525" cap="flat" cmpd="sng" algn="ctr">
                      <a:solidFill>
                        <a:srgbClr val="9E9E9E"/>
                      </a:solidFill>
                      <a:prstDash val="solid"/>
                      <a:round/>
                      <a:headEnd type="none" w="med" len="med"/>
                      <a:tailEnd type="none" w="med" len="med"/>
                    </a:lnT>
                    <a:lnB w="9525">
                      <a:solidFill>
                        <a:srgbClr val="9E9E9E"/>
                      </a:solidFill>
                      <a:prstDash val="solid"/>
                    </a:lnB>
                  </a:tcPr>
                </a:tc>
                <a:tc>
                  <a:txBody>
                    <a:bodyPr/>
                    <a:lstStyle/>
                    <a:p>
                      <a:pPr marL="85725" marR="121285"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Focuses on 2015–2022 literature, so very recent GNN/LLM-based detectors and new benchmarks are underrepresented.</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tc>
                  <a:txBody>
                    <a:bodyPr/>
                    <a:lstStyle/>
                    <a:p>
                      <a:pPr marL="85090" marR="241300" algn="just">
                        <a:lnSpc>
                          <a:spcPct val="100000"/>
                        </a:lnSpc>
                        <a:spcBef>
                          <a:spcPts val="620"/>
                        </a:spcBef>
                      </a:pPr>
                      <a:r>
                        <a:rPr lang="en-US" sz="1200" b="0" i="0" dirty="0">
                          <a:solidFill>
                            <a:schemeClr val="tx1"/>
                          </a:solidFill>
                          <a:effectLst/>
                          <a:latin typeface="Arial" panose="020B0604020202020204" pitchFamily="34" charset="0"/>
                          <a:ea typeface="+mn-ea"/>
                          <a:cs typeface="Arial" panose="020B0604020202020204" pitchFamily="34" charset="0"/>
                        </a:rPr>
                        <a:t>Provides a broad ML-based bot-detection survey across multiple platforms, methods, features, and datasets.</a:t>
                      </a:r>
                      <a:br>
                        <a:rPr lang="en-US" sz="1200" dirty="0">
                          <a:latin typeface="Arial" panose="020B0604020202020204" pitchFamily="34" charset="0"/>
                          <a:cs typeface="Arial" panose="020B0604020202020204" pitchFamily="34" charset="0"/>
                        </a:rPr>
                      </a:br>
                      <a:endParaRPr sz="1200" dirty="0">
                        <a:latin typeface="Arial" panose="020B0604020202020204" pitchFamily="34" charset="0"/>
                        <a:cs typeface="Arial" panose="020B0604020202020204" pitchFamily="34" charset="0"/>
                      </a:endParaRPr>
                    </a:p>
                  </a:txBody>
                  <a:tcPr marL="0" marR="0" marT="7874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3"/>
                  </a:ext>
                </a:extLst>
              </a:tr>
            </a:tbl>
          </a:graphicData>
        </a:graphic>
      </p:graphicFrame>
      <p:sp>
        <p:nvSpPr>
          <p:cNvPr id="3" name="object 4">
            <a:extLst>
              <a:ext uri="{FF2B5EF4-FFF2-40B4-BE49-F238E27FC236}">
                <a16:creationId xmlns:a16="http://schemas.microsoft.com/office/drawing/2014/main" id="{9B5F7E88-93F8-E0F0-A6B9-885597AE0971}"/>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4" name="Picture 3">
            <a:extLst>
              <a:ext uri="{FF2B5EF4-FFF2-40B4-BE49-F238E27FC236}">
                <a16:creationId xmlns:a16="http://schemas.microsoft.com/office/drawing/2014/main" id="{32D8CDDE-8D04-CF7A-6D5C-F8E48D9E35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6" name="Slide Number Placeholder 5">
            <a:extLst>
              <a:ext uri="{FF2B5EF4-FFF2-40B4-BE49-F238E27FC236}">
                <a16:creationId xmlns:a16="http://schemas.microsoft.com/office/drawing/2014/main" id="{24A70837-A087-23E6-3112-D81BDEB8216F}"/>
              </a:ext>
            </a:extLst>
          </p:cNvPr>
          <p:cNvSpPr>
            <a:spLocks noGrp="1"/>
          </p:cNvSpPr>
          <p:nvPr>
            <p:ph type="sldNum" sz="quarter" idx="7"/>
          </p:nvPr>
        </p:nvSpPr>
        <p:spPr/>
        <p:txBody>
          <a:bodyPr/>
          <a:lstStyle/>
          <a:p>
            <a:fld id="{B6F15528-21DE-4FAA-801E-634DDDAF4B2B}" type="slidenum">
              <a:rPr lang="en-IN" smtClean="0"/>
              <a:t>7</a:t>
            </a:fld>
            <a:endParaRPr lang="en-IN"/>
          </a:p>
        </p:txBody>
      </p:sp>
    </p:spTree>
    <p:extLst>
      <p:ext uri="{BB962C8B-B14F-4D97-AF65-F5344CB8AC3E}">
        <p14:creationId xmlns:p14="http://schemas.microsoft.com/office/powerpoint/2010/main" val="2147479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7524" y="426492"/>
            <a:ext cx="3082290" cy="380873"/>
          </a:xfrm>
          <a:prstGeom prst="rect">
            <a:avLst/>
          </a:prstGeom>
        </p:spPr>
        <p:txBody>
          <a:bodyPr vert="horz" wrap="square" lIns="0" tIns="11430" rIns="0" bIns="0" rtlCol="0">
            <a:spAutoFit/>
          </a:bodyPr>
          <a:lstStyle/>
          <a:p>
            <a:pPr marL="12700">
              <a:lnSpc>
                <a:spcPct val="100000"/>
              </a:lnSpc>
              <a:spcBef>
                <a:spcPts val="90"/>
              </a:spcBef>
            </a:pPr>
            <a:r>
              <a:rPr sz="2400" spc="55"/>
              <a:t>PROPOSED</a:t>
            </a:r>
            <a:r>
              <a:rPr sz="2400" spc="35"/>
              <a:t> </a:t>
            </a:r>
            <a:r>
              <a:rPr sz="2400" spc="-20"/>
              <a:t>WORK</a:t>
            </a:r>
            <a:endParaRPr sz="2400"/>
          </a:p>
        </p:txBody>
      </p:sp>
      <p:graphicFrame>
        <p:nvGraphicFramePr>
          <p:cNvPr id="3" name="object 3"/>
          <p:cNvGraphicFramePr>
            <a:graphicFrameLocks noGrp="1"/>
          </p:cNvGraphicFramePr>
          <p:nvPr>
            <p:extLst>
              <p:ext uri="{D42A27DB-BD31-4B8C-83A1-F6EECF244321}">
                <p14:modId xmlns:p14="http://schemas.microsoft.com/office/powerpoint/2010/main" val="2000154577"/>
              </p:ext>
            </p:extLst>
          </p:nvPr>
        </p:nvGraphicFramePr>
        <p:xfrm>
          <a:off x="2224678" y="1042987"/>
          <a:ext cx="6637020" cy="3663315"/>
        </p:xfrm>
        <a:graphic>
          <a:graphicData uri="http://schemas.openxmlformats.org/drawingml/2006/table">
            <a:tbl>
              <a:tblPr firstRow="1" bandRow="1">
                <a:tableStyleId>{2D5ABB26-0587-4C30-8999-92F81FD0307C}</a:tableStyleId>
              </a:tblPr>
              <a:tblGrid>
                <a:gridCol w="6637020">
                  <a:extLst>
                    <a:ext uri="{9D8B030D-6E8A-4147-A177-3AD203B41FA5}">
                      <a16:colId xmlns:a16="http://schemas.microsoft.com/office/drawing/2014/main" val="20000"/>
                    </a:ext>
                  </a:extLst>
                </a:gridCol>
              </a:tblGrid>
              <a:tr h="570230">
                <a:tc>
                  <a:txBody>
                    <a:bodyPr/>
                    <a:lstStyle/>
                    <a:p>
                      <a:pPr marL="85725" marR="298450" indent="40640" algn="just">
                        <a:lnSpc>
                          <a:spcPct val="100000"/>
                        </a:lnSpc>
                        <a:spcBef>
                          <a:spcPts val="630"/>
                        </a:spcBef>
                      </a:pPr>
                      <a:r>
                        <a:rPr lang="en-US" sz="1100" dirty="0">
                          <a:latin typeface="Arial" panose="020B0604020202020204" pitchFamily="34" charset="0"/>
                          <a:cs typeface="Arial" panose="020B0604020202020204" pitchFamily="34" charset="0"/>
                        </a:rPr>
                        <a:t>To develop an computationally efficient, and graph-enhanced bot detection model with high interpretability.</a:t>
                      </a:r>
                      <a:endParaRPr sz="1100" dirty="0">
                        <a:latin typeface="Arial" panose="020B0604020202020204" pitchFamily="34" charset="0"/>
                        <a:cs typeface="Arial" panose="020B0604020202020204" pitchFamily="34" charset="0"/>
                      </a:endParaRPr>
                    </a:p>
                  </a:txBody>
                  <a:tcPr marL="0" marR="0" marT="8001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0"/>
                  </a:ext>
                </a:extLst>
              </a:tr>
              <a:tr h="570230">
                <a:tc>
                  <a:txBody>
                    <a:bodyPr/>
                    <a:lstStyle/>
                    <a:p>
                      <a:pPr marL="85725" marR="571500" algn="just">
                        <a:lnSpc>
                          <a:spcPct val="100000"/>
                        </a:lnSpc>
                        <a:spcBef>
                          <a:spcPts val="630"/>
                        </a:spcBef>
                      </a:pPr>
                      <a:r>
                        <a:rPr lang="en-US" sz="1100" dirty="0">
                          <a:latin typeface="Arial" panose="020B0604020202020204" pitchFamily="34" charset="0"/>
                          <a:cs typeface="Arial" panose="020B0604020202020204" pitchFamily="34" charset="0"/>
                        </a:rPr>
                        <a:t>Live user features are collected from the Twitter (X), including profile metadata, posting behavior, and content-related attributes.</a:t>
                      </a:r>
                      <a:endParaRPr sz="1100" dirty="0">
                        <a:latin typeface="Arial" panose="020B0604020202020204" pitchFamily="34" charset="0"/>
                        <a:cs typeface="Arial" panose="020B0604020202020204" pitchFamily="34" charset="0"/>
                      </a:endParaRPr>
                    </a:p>
                  </a:txBody>
                  <a:tcPr marL="0" marR="0" marT="8001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1"/>
                  </a:ext>
                </a:extLst>
              </a:tr>
              <a:tr h="655320">
                <a:tc>
                  <a:txBody>
                    <a:bodyPr/>
                    <a:lstStyle/>
                    <a:p>
                      <a:pPr marL="85725" marR="107950" algn="just">
                        <a:lnSpc>
                          <a:spcPct val="100000"/>
                        </a:lnSpc>
                        <a:spcBef>
                          <a:spcPts val="630"/>
                        </a:spcBef>
                      </a:pPr>
                      <a:r>
                        <a:rPr lang="en-US" sz="1100" dirty="0">
                          <a:latin typeface="Arial" panose="020B0604020202020204" pitchFamily="34" charset="0"/>
                          <a:cs typeface="Arial" panose="020B0604020202020204" pitchFamily="34" charset="0"/>
                        </a:rPr>
                        <a:t>Bot/Human classification with explainability showing feature contributions and LLM summary.</a:t>
                      </a:r>
                      <a:endParaRPr sz="1100" dirty="0">
                        <a:latin typeface="Arial" panose="020B0604020202020204" pitchFamily="34" charset="0"/>
                        <a:cs typeface="Arial" panose="020B0604020202020204" pitchFamily="34" charset="0"/>
                      </a:endParaRPr>
                    </a:p>
                  </a:txBody>
                  <a:tcPr marL="0" marR="0" marT="8001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2"/>
                  </a:ext>
                </a:extLst>
              </a:tr>
              <a:tr h="570230">
                <a:tc>
                  <a:txBody>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100" b="0" i="0" u="none" strike="noStrike" cap="none" normalizeH="0" baseline="0" dirty="0">
                          <a:ln>
                            <a:noFill/>
                          </a:ln>
                          <a:effectLst/>
                          <a:latin typeface="Arial"/>
                          <a:cs typeface="Arial"/>
                        </a:rPr>
                        <a:t>  </a:t>
                      </a:r>
                      <a:r>
                        <a:rPr kumimoji="0" lang="en-US" altLang="en-US" sz="1100" b="0" i="0" u="none" strike="noStrike" cap="none" normalizeH="0" baseline="0" dirty="0" err="1">
                          <a:ln>
                            <a:noFill/>
                          </a:ln>
                          <a:effectLst/>
                          <a:latin typeface="Arial"/>
                          <a:cs typeface="Arial"/>
                        </a:rPr>
                        <a:t>kNN</a:t>
                      </a:r>
                      <a:r>
                        <a:rPr kumimoji="0" lang="en-US" altLang="en-US" sz="1100" b="0" i="0" u="none" strike="noStrike" cap="none" normalizeH="0" baseline="0" dirty="0">
                          <a:ln>
                            <a:noFill/>
                          </a:ln>
                          <a:effectLst/>
                          <a:latin typeface="Arial"/>
                          <a:cs typeface="Arial"/>
                        </a:rPr>
                        <a:t>, </a:t>
                      </a:r>
                      <a:r>
                        <a:rPr kumimoji="0" lang="en-US" altLang="en-US" sz="1100" b="0" i="0" u="none" strike="noStrike" cap="none" normalizeH="0" baseline="0" dirty="0" err="1">
                          <a:ln>
                            <a:noFill/>
                          </a:ln>
                          <a:effectLst/>
                          <a:latin typeface="Arial"/>
                          <a:cs typeface="Arial"/>
                        </a:rPr>
                        <a:t>GraphSAGE</a:t>
                      </a:r>
                      <a:r>
                        <a:rPr lang="en-IN" sz="1100" dirty="0"/>
                        <a:t>, </a:t>
                      </a:r>
                      <a:r>
                        <a:rPr kumimoji="0" lang="en-US" altLang="en-US" sz="1100" b="0" i="0" u="none" strike="noStrike" cap="none" normalizeH="0" baseline="0" dirty="0">
                          <a:ln>
                            <a:noFill/>
                          </a:ln>
                          <a:effectLst/>
                          <a:latin typeface="Arial"/>
                          <a:cs typeface="Arial"/>
                        </a:rPr>
                        <a:t>Random Forest, LIME, MI Info classification.</a:t>
                      </a:r>
                      <a:endParaRPr lang="en-US" altLang="en-US" sz="1100" b="0" i="0" u="none" strike="noStrike" cap="none" normalizeH="0" baseline="0" dirty="0">
                        <a:ln>
                          <a:noFill/>
                        </a:ln>
                        <a:effectLst/>
                        <a:latin typeface="Arial"/>
                        <a:cs typeface="Arial"/>
                      </a:endParaRPr>
                    </a:p>
                  </a:txBody>
                  <a:tcPr marL="0" marR="0" marT="8001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3"/>
                  </a:ext>
                </a:extLst>
              </a:tr>
              <a:tr h="1297305">
                <a:tc>
                  <a:txBody>
                    <a:bodyPr/>
                    <a:lstStyle/>
                    <a:p>
                      <a:pPr marL="257175" marR="107950" indent="-171450" algn="just">
                        <a:lnSpc>
                          <a:spcPct val="100000"/>
                        </a:lnSpc>
                        <a:spcBef>
                          <a:spcPts val="630"/>
                        </a:spcBef>
                        <a:buFont typeface="Arial" panose="020B0604020202020204" pitchFamily="34" charset="0"/>
                        <a:buChar char="•"/>
                      </a:pPr>
                      <a:r>
                        <a:rPr lang="en-US" sz="1100" dirty="0">
                          <a:latin typeface="Arial" panose="020B0604020202020204" pitchFamily="34" charset="0"/>
                          <a:cs typeface="Arial" panose="020B0604020202020204" pitchFamily="34" charset="0"/>
                        </a:rPr>
                        <a:t>Reduce computational costs </a:t>
                      </a:r>
                    </a:p>
                    <a:p>
                      <a:pPr marL="257175" marR="107950" indent="-171450" algn="just">
                        <a:lnSpc>
                          <a:spcPct val="100000"/>
                        </a:lnSpc>
                        <a:spcBef>
                          <a:spcPts val="630"/>
                        </a:spcBef>
                        <a:buFont typeface="Arial" panose="020B0604020202020204" pitchFamily="34" charset="0"/>
                        <a:buChar char="•"/>
                      </a:pPr>
                      <a:r>
                        <a:rPr lang="en-US" sz="1100" dirty="0">
                          <a:latin typeface="Arial" panose="020B0604020202020204" pitchFamily="34" charset="0"/>
                          <a:cs typeface="Arial" panose="020B0604020202020204" pitchFamily="34" charset="0"/>
                        </a:rPr>
                        <a:t>Capture most informative features.</a:t>
                      </a:r>
                    </a:p>
                    <a:p>
                      <a:pPr marL="257175" marR="107950" indent="-171450" algn="just">
                        <a:lnSpc>
                          <a:spcPct val="100000"/>
                        </a:lnSpc>
                        <a:spcBef>
                          <a:spcPts val="630"/>
                        </a:spcBef>
                        <a:buFont typeface="Arial" panose="020B0604020202020204" pitchFamily="34" charset="0"/>
                        <a:buChar char="•"/>
                      </a:pPr>
                      <a:r>
                        <a:rPr lang="en-IN" sz="1100" dirty="0">
                          <a:latin typeface="Arial" panose="020B0604020202020204" pitchFamily="34" charset="0"/>
                          <a:cs typeface="Arial" panose="020B0604020202020204" pitchFamily="34" charset="0"/>
                        </a:rPr>
                        <a:t>Implicit relational analysis via user similarity graphs</a:t>
                      </a:r>
                      <a:r>
                        <a:rPr lang="en-US" sz="1100" dirty="0">
                          <a:latin typeface="Arial" panose="020B0604020202020204" pitchFamily="34" charset="0"/>
                          <a:cs typeface="Arial" panose="020B0604020202020204" pitchFamily="34" charset="0"/>
                        </a:rPr>
                        <a:t>.</a:t>
                      </a:r>
                    </a:p>
                    <a:p>
                      <a:pPr marL="257175" marR="107950" indent="-171450" algn="just">
                        <a:lnSpc>
                          <a:spcPct val="100000"/>
                        </a:lnSpc>
                        <a:spcBef>
                          <a:spcPts val="630"/>
                        </a:spcBef>
                        <a:buFont typeface="Arial" panose="020B0604020202020204" pitchFamily="34" charset="0"/>
                        <a:buChar char="•"/>
                      </a:pPr>
                      <a:r>
                        <a:rPr lang="en-US" sz="1100" dirty="0">
                          <a:latin typeface="Arial" panose="020B0604020202020204" pitchFamily="34" charset="0"/>
                          <a:cs typeface="Arial" panose="020B0604020202020204" pitchFamily="34" charset="0"/>
                        </a:rPr>
                        <a:t>Make interpretability results more understandable.</a:t>
                      </a:r>
                    </a:p>
                  </a:txBody>
                  <a:tcPr marL="0" marR="0" marT="80010" marB="0">
                    <a:lnL w="9525">
                      <a:solidFill>
                        <a:srgbClr val="9E9E9E"/>
                      </a:solidFill>
                      <a:prstDash val="solid"/>
                    </a:lnL>
                    <a:lnR w="9525">
                      <a:solidFill>
                        <a:srgbClr val="9E9E9E"/>
                      </a:solidFill>
                      <a:prstDash val="solid"/>
                    </a:lnR>
                    <a:lnT w="9525">
                      <a:solidFill>
                        <a:srgbClr val="9E9E9E"/>
                      </a:solidFill>
                      <a:prstDash val="solid"/>
                    </a:lnT>
                    <a:lnB w="9525">
                      <a:solidFill>
                        <a:srgbClr val="9E9E9E"/>
                      </a:solidFill>
                      <a:prstDash val="solid"/>
                    </a:lnB>
                  </a:tcPr>
                </a:tc>
                <a:extLst>
                  <a:ext uri="{0D108BD9-81ED-4DB2-BD59-A6C34878D82A}">
                    <a16:rowId xmlns:a16="http://schemas.microsoft.com/office/drawing/2014/main" val="10004"/>
                  </a:ext>
                </a:extLst>
              </a:tr>
            </a:tbl>
          </a:graphicData>
        </a:graphic>
      </p:graphicFrame>
      <p:sp>
        <p:nvSpPr>
          <p:cNvPr id="5" name="object 5"/>
          <p:cNvSpPr txBox="1"/>
          <p:nvPr/>
        </p:nvSpPr>
        <p:spPr>
          <a:xfrm>
            <a:off x="1317213" y="4033727"/>
            <a:ext cx="694055" cy="259045"/>
          </a:xfrm>
          <a:prstGeom prst="rect">
            <a:avLst/>
          </a:prstGeom>
        </p:spPr>
        <p:txBody>
          <a:bodyPr vert="horz" wrap="square" lIns="0" tIns="12700" rIns="0" bIns="0" rtlCol="0">
            <a:spAutoFit/>
          </a:bodyPr>
          <a:lstStyle/>
          <a:p>
            <a:pPr marL="12700" marR="0" lvl="0" indent="0" algn="r" defTabSz="914400" eaLnBrk="1" fontAlgn="auto" latinLnBrk="0" hangingPunct="1">
              <a:lnSpc>
                <a:spcPct val="100000"/>
              </a:lnSpc>
              <a:spcBef>
                <a:spcPts val="100"/>
              </a:spcBef>
              <a:spcAft>
                <a:spcPts val="0"/>
              </a:spcAft>
              <a:buClrTx/>
              <a:buSzTx/>
              <a:buFontTx/>
              <a:buNone/>
              <a:tabLst/>
              <a:defRPr/>
            </a:pPr>
            <a:r>
              <a:rPr kumimoji="0" sz="1600" b="1" i="0" u="none" strike="noStrike" kern="0" cap="none" spc="75" normalizeH="0" baseline="0" noProof="0">
                <a:ln>
                  <a:noFill/>
                </a:ln>
                <a:solidFill>
                  <a:sysClr val="windowText" lastClr="000000"/>
                </a:solidFill>
                <a:effectLst/>
                <a:uLnTx/>
                <a:uFillTx/>
                <a:latin typeface="Arial"/>
                <a:cs typeface="Arial"/>
              </a:rPr>
              <a:t>Scop</a:t>
            </a:r>
            <a:r>
              <a:rPr kumimoji="0" lang="en-IN" sz="1600" b="1" i="0" u="none" strike="noStrike" kern="0" cap="none" spc="75" normalizeH="0" baseline="0" noProof="0">
                <a:ln>
                  <a:noFill/>
                </a:ln>
                <a:solidFill>
                  <a:sysClr val="windowText" lastClr="000000"/>
                </a:solidFill>
                <a:effectLst/>
                <a:uLnTx/>
                <a:uFillTx/>
                <a:latin typeface="Arial"/>
                <a:cs typeface="Arial"/>
              </a:rPr>
              <a:t>e</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7" name="object 7"/>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a:latin typeface="Arial"/>
                <a:cs typeface="Arial"/>
              </a:rPr>
              <a:t>DEPARTMENT OF COMPUTER SCIENCE AND ENGINEERING </a:t>
            </a:r>
            <a:endParaRPr lang="en-GB" sz="1100">
              <a:latin typeface="Arial"/>
              <a:cs typeface="Arial"/>
            </a:endParaRPr>
          </a:p>
        </p:txBody>
      </p:sp>
      <p:sp>
        <p:nvSpPr>
          <p:cNvPr id="10" name="object 5">
            <a:extLst>
              <a:ext uri="{FF2B5EF4-FFF2-40B4-BE49-F238E27FC236}">
                <a16:creationId xmlns:a16="http://schemas.microsoft.com/office/drawing/2014/main" id="{C3505AEB-997B-A9A3-C307-5D3357246187}"/>
              </a:ext>
            </a:extLst>
          </p:cNvPr>
          <p:cNvSpPr txBox="1"/>
          <p:nvPr/>
        </p:nvSpPr>
        <p:spPr>
          <a:xfrm>
            <a:off x="1" y="2952750"/>
            <a:ext cx="2011268" cy="259045"/>
          </a:xfrm>
          <a:prstGeom prst="rect">
            <a:avLst/>
          </a:prstGeom>
        </p:spPr>
        <p:txBody>
          <a:bodyPr vert="horz" wrap="square" lIns="0" tIns="12700" rIns="0" bIns="0" rtlCol="0">
            <a:spAutoFit/>
          </a:bodyPr>
          <a:lstStyle/>
          <a:p>
            <a:pPr marL="12700" marR="0" lvl="0" indent="0" algn="r" defTabSz="914400" eaLnBrk="1" fontAlgn="auto" latinLnBrk="0" hangingPunct="1">
              <a:lnSpc>
                <a:spcPct val="100000"/>
              </a:lnSpc>
              <a:spcBef>
                <a:spcPts val="100"/>
              </a:spcBef>
              <a:spcAft>
                <a:spcPts val="0"/>
              </a:spcAft>
              <a:buClrTx/>
              <a:buSzTx/>
              <a:buFontTx/>
              <a:buNone/>
              <a:tabLst/>
              <a:defRPr/>
            </a:pPr>
            <a:r>
              <a:rPr kumimoji="0" lang="en-IN" sz="1600" b="1" i="0" u="none" strike="noStrike" kern="0" cap="none" spc="75" normalizeH="0" baseline="0" noProof="0">
                <a:ln>
                  <a:noFill/>
                </a:ln>
                <a:solidFill>
                  <a:sysClr val="windowText" lastClr="000000"/>
                </a:solidFill>
                <a:effectLst/>
                <a:uLnTx/>
                <a:uFillTx/>
                <a:latin typeface="Arial"/>
                <a:cs typeface="Arial"/>
              </a:rPr>
              <a:t>Algorithm Used</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11" name="object 5">
            <a:extLst>
              <a:ext uri="{FF2B5EF4-FFF2-40B4-BE49-F238E27FC236}">
                <a16:creationId xmlns:a16="http://schemas.microsoft.com/office/drawing/2014/main" id="{71F38DB8-9A23-AAFE-7938-3F75C7C7B473}"/>
              </a:ext>
            </a:extLst>
          </p:cNvPr>
          <p:cNvSpPr txBox="1"/>
          <p:nvPr/>
        </p:nvSpPr>
        <p:spPr>
          <a:xfrm>
            <a:off x="914400" y="2310772"/>
            <a:ext cx="1096867" cy="259045"/>
          </a:xfrm>
          <a:prstGeom prst="rect">
            <a:avLst/>
          </a:prstGeom>
        </p:spPr>
        <p:txBody>
          <a:bodyPr vert="horz" wrap="square" lIns="0" tIns="12700" rIns="0" bIns="0" rtlCol="0">
            <a:spAutoFit/>
          </a:bodyPr>
          <a:lstStyle/>
          <a:p>
            <a:pPr marL="12700" marR="0" lvl="0" indent="0" algn="r" defTabSz="914400" eaLnBrk="1" fontAlgn="auto" latinLnBrk="0" hangingPunct="1">
              <a:lnSpc>
                <a:spcPct val="100000"/>
              </a:lnSpc>
              <a:spcBef>
                <a:spcPts val="100"/>
              </a:spcBef>
              <a:spcAft>
                <a:spcPts val="0"/>
              </a:spcAft>
              <a:buClrTx/>
              <a:buSzTx/>
              <a:buFontTx/>
              <a:buNone/>
              <a:tabLst/>
              <a:defRPr/>
            </a:pPr>
            <a:r>
              <a:rPr lang="en-IN" sz="1600" b="1" spc="75">
                <a:latin typeface="Arial"/>
                <a:cs typeface="Arial"/>
              </a:rPr>
              <a:t>Output</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sp>
        <p:nvSpPr>
          <p:cNvPr id="12" name="object 5">
            <a:extLst>
              <a:ext uri="{FF2B5EF4-FFF2-40B4-BE49-F238E27FC236}">
                <a16:creationId xmlns:a16="http://schemas.microsoft.com/office/drawing/2014/main" id="{E7077E57-3A08-F37E-3DEE-A64A73AC3E3A}"/>
              </a:ext>
            </a:extLst>
          </p:cNvPr>
          <p:cNvSpPr txBox="1"/>
          <p:nvPr/>
        </p:nvSpPr>
        <p:spPr>
          <a:xfrm>
            <a:off x="1317212" y="1668794"/>
            <a:ext cx="694055" cy="259045"/>
          </a:xfrm>
          <a:prstGeom prst="rect">
            <a:avLst/>
          </a:prstGeom>
        </p:spPr>
        <p:txBody>
          <a:bodyPr vert="horz" wrap="square" lIns="0" tIns="12700" rIns="0" bIns="0" rtlCol="0">
            <a:spAutoFit/>
          </a:bodyPr>
          <a:lstStyle/>
          <a:p>
            <a:pPr marL="12700" marR="0" lvl="0" indent="0" algn="r" defTabSz="914400" eaLnBrk="1" fontAlgn="auto" latinLnBrk="0" hangingPunct="1">
              <a:lnSpc>
                <a:spcPct val="100000"/>
              </a:lnSpc>
              <a:spcBef>
                <a:spcPts val="100"/>
              </a:spcBef>
              <a:spcAft>
                <a:spcPts val="0"/>
              </a:spcAft>
              <a:buClrTx/>
              <a:buSzTx/>
              <a:buFontTx/>
              <a:buNone/>
              <a:tabLst/>
              <a:defRPr/>
            </a:pPr>
            <a:r>
              <a:rPr kumimoji="0" lang="en-IN" sz="1600" b="1" u="none" strike="noStrike" kern="0" cap="none" spc="75" normalizeH="0" baseline="0" noProof="0">
                <a:ln>
                  <a:noFill/>
                </a:ln>
                <a:solidFill>
                  <a:sysClr val="windowText" lastClr="000000"/>
                </a:solidFill>
                <a:effectLst/>
                <a:uLnTx/>
                <a:uFillTx/>
                <a:latin typeface="Arial"/>
                <a:cs typeface="Arial"/>
              </a:rPr>
              <a:t>Input</a:t>
            </a:r>
            <a:endParaRPr kumimoji="0" sz="1600" b="0" u="none" strike="noStrike" kern="0" cap="none" spc="0" normalizeH="0" baseline="0" noProof="0">
              <a:ln>
                <a:noFill/>
              </a:ln>
              <a:solidFill>
                <a:sysClr val="windowText" lastClr="000000"/>
              </a:solidFill>
              <a:effectLst/>
              <a:uLnTx/>
              <a:uFillTx/>
              <a:latin typeface="Arial"/>
              <a:cs typeface="Arial"/>
            </a:endParaRPr>
          </a:p>
        </p:txBody>
      </p:sp>
      <p:sp>
        <p:nvSpPr>
          <p:cNvPr id="13" name="object 5">
            <a:extLst>
              <a:ext uri="{FF2B5EF4-FFF2-40B4-BE49-F238E27FC236}">
                <a16:creationId xmlns:a16="http://schemas.microsoft.com/office/drawing/2014/main" id="{C774652D-4E0B-BD21-1E27-34F049F72386}"/>
              </a:ext>
            </a:extLst>
          </p:cNvPr>
          <p:cNvSpPr txBox="1"/>
          <p:nvPr/>
        </p:nvSpPr>
        <p:spPr>
          <a:xfrm>
            <a:off x="282303" y="1156338"/>
            <a:ext cx="1747284" cy="259045"/>
          </a:xfrm>
          <a:prstGeom prst="rect">
            <a:avLst/>
          </a:prstGeom>
        </p:spPr>
        <p:txBody>
          <a:bodyPr vert="horz" wrap="square" lIns="0" tIns="12700" rIns="0" bIns="0" rtlCol="0">
            <a:spAutoFit/>
          </a:bodyPr>
          <a:lstStyle/>
          <a:p>
            <a:pPr marL="12700" marR="0" lvl="0" indent="0" algn="r" defTabSz="914400" eaLnBrk="1" fontAlgn="auto" latinLnBrk="0" hangingPunct="1">
              <a:lnSpc>
                <a:spcPct val="100000"/>
              </a:lnSpc>
              <a:spcBef>
                <a:spcPts val="100"/>
              </a:spcBef>
              <a:spcAft>
                <a:spcPts val="0"/>
              </a:spcAft>
              <a:buClrTx/>
              <a:buSzTx/>
              <a:buFontTx/>
              <a:buNone/>
              <a:tabLst/>
              <a:defRPr/>
            </a:pPr>
            <a:r>
              <a:rPr kumimoji="0" lang="en-IN" sz="1600" b="1" i="0" u="none" strike="noStrike" kern="0" cap="none" spc="75" normalizeH="0" baseline="0" noProof="0">
                <a:ln>
                  <a:noFill/>
                </a:ln>
                <a:solidFill>
                  <a:sysClr val="windowText" lastClr="000000"/>
                </a:solidFill>
                <a:effectLst/>
                <a:uLnTx/>
                <a:uFillTx/>
                <a:latin typeface="Arial"/>
                <a:cs typeface="Arial"/>
              </a:rPr>
              <a:t>Objective</a:t>
            </a:r>
            <a:endParaRPr kumimoji="0" sz="1600" b="0" i="0" u="none" strike="noStrike" kern="0" cap="none" spc="0" normalizeH="0" baseline="0" noProof="0">
              <a:ln>
                <a:noFill/>
              </a:ln>
              <a:solidFill>
                <a:sysClr val="windowText" lastClr="000000"/>
              </a:solidFill>
              <a:effectLst/>
              <a:uLnTx/>
              <a:uFillTx/>
              <a:latin typeface="Arial"/>
              <a:cs typeface="Arial"/>
            </a:endParaRPr>
          </a:p>
        </p:txBody>
      </p:sp>
      <p:pic>
        <p:nvPicPr>
          <p:cNvPr id="14" name="Picture 13">
            <a:extLst>
              <a:ext uri="{FF2B5EF4-FFF2-40B4-BE49-F238E27FC236}">
                <a16:creationId xmlns:a16="http://schemas.microsoft.com/office/drawing/2014/main" id="{E4619A77-A16A-20E4-2DE4-3EF1DA29010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6" name="Slide Number Placeholder 5">
            <a:extLst>
              <a:ext uri="{FF2B5EF4-FFF2-40B4-BE49-F238E27FC236}">
                <a16:creationId xmlns:a16="http://schemas.microsoft.com/office/drawing/2014/main" id="{FF7E60DB-3754-5526-49F1-8A56D6013BCA}"/>
              </a:ext>
            </a:extLst>
          </p:cNvPr>
          <p:cNvSpPr>
            <a:spLocks noGrp="1"/>
          </p:cNvSpPr>
          <p:nvPr>
            <p:ph type="sldNum" sz="quarter" idx="7"/>
          </p:nvPr>
        </p:nvSpPr>
        <p:spPr/>
        <p:txBody>
          <a:bodyPr/>
          <a:lstStyle/>
          <a:p>
            <a:fld id="{B6F15528-21DE-4FAA-801E-634DDDAF4B2B}" type="slidenum">
              <a:rPr lang="en-IN" smtClean="0"/>
              <a:t>8</a:t>
            </a:fld>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2BE27-D075-0EBD-086C-49F53D6139FE}"/>
              </a:ext>
            </a:extLst>
          </p:cNvPr>
          <p:cNvSpPr>
            <a:spLocks noGrp="1"/>
          </p:cNvSpPr>
          <p:nvPr>
            <p:ph type="title"/>
          </p:nvPr>
        </p:nvSpPr>
        <p:spPr>
          <a:xfrm>
            <a:off x="221804" y="897721"/>
            <a:ext cx="4308641" cy="369332"/>
          </a:xfrm>
        </p:spPr>
        <p:txBody>
          <a:bodyPr/>
          <a:lstStyle/>
          <a:p>
            <a:r>
              <a:rPr lang="en-IN" sz="2400" dirty="0"/>
              <a:t>EXISTING SYSTEM</a:t>
            </a:r>
          </a:p>
        </p:txBody>
      </p:sp>
      <p:sp>
        <p:nvSpPr>
          <p:cNvPr id="3" name="Text Placeholder 2">
            <a:extLst>
              <a:ext uri="{FF2B5EF4-FFF2-40B4-BE49-F238E27FC236}">
                <a16:creationId xmlns:a16="http://schemas.microsoft.com/office/drawing/2014/main" id="{DEC54A13-0095-17FA-5C61-0FFE88540D77}"/>
              </a:ext>
            </a:extLst>
          </p:cNvPr>
          <p:cNvSpPr>
            <a:spLocks noGrp="1"/>
          </p:cNvSpPr>
          <p:nvPr>
            <p:ph type="body" idx="1"/>
          </p:nvPr>
        </p:nvSpPr>
        <p:spPr>
          <a:xfrm>
            <a:off x="152400" y="1581150"/>
            <a:ext cx="8526780" cy="2215991"/>
          </a:xfrm>
        </p:spPr>
        <p:txBody>
          <a:bodyPr wrap="square" lIns="0" tIns="0" rIns="0" bIns="0" anchor="t">
            <a:spAutoFit/>
          </a:bodyPr>
          <a:lstStyle/>
          <a:p>
            <a:pPr marL="285750" indent="-285750" algn="just">
              <a:buFont typeface="Arial" panose="020B0604020202020204" pitchFamily="34" charset="0"/>
              <a:buChar char="•"/>
            </a:pPr>
            <a:r>
              <a:rPr lang="en-IN" dirty="0">
                <a:latin typeface="Arial"/>
                <a:cs typeface="Arial"/>
              </a:rPr>
              <a:t>The Existing System  proposes a model using Explainability AI to detect spambots on X, enhancing transparency over black-box methods.</a:t>
            </a:r>
          </a:p>
          <a:p>
            <a:pPr algn="just"/>
            <a:endParaRPr lang="en-IN"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IN" dirty="0">
                <a:latin typeface="Arial"/>
                <a:cs typeface="Arial"/>
              </a:rPr>
              <a:t>The system extracts profile, content, linguistic, engagement, sentiment and tests on Cresci-15/17 datasets with cross-validation.</a:t>
            </a:r>
          </a:p>
          <a:p>
            <a:pPr algn="just"/>
            <a:endParaRPr lang="en-IN"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It uses SHAP-based feature importance to select the most relevant features for model training.</a:t>
            </a:r>
            <a:endParaRPr lang="en-IN" dirty="0">
              <a:latin typeface="Arial" panose="020B0604020202020204" pitchFamily="34" charset="0"/>
              <a:cs typeface="Arial" panose="020B0604020202020204" pitchFamily="34" charset="0"/>
            </a:endParaRPr>
          </a:p>
        </p:txBody>
      </p:sp>
      <p:sp>
        <p:nvSpPr>
          <p:cNvPr id="5" name="object 8">
            <a:extLst>
              <a:ext uri="{FF2B5EF4-FFF2-40B4-BE49-F238E27FC236}">
                <a16:creationId xmlns:a16="http://schemas.microsoft.com/office/drawing/2014/main" id="{272BBBBE-6C94-6461-93A8-936A51A06811}"/>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6" name="Picture 5">
            <a:extLst>
              <a:ext uri="{FF2B5EF4-FFF2-40B4-BE49-F238E27FC236}">
                <a16:creationId xmlns:a16="http://schemas.microsoft.com/office/drawing/2014/main" id="{2B2ADDFA-47D9-8A67-1678-E783A8BC13D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7" name="Slide Number Placeholder 6">
            <a:extLst>
              <a:ext uri="{FF2B5EF4-FFF2-40B4-BE49-F238E27FC236}">
                <a16:creationId xmlns:a16="http://schemas.microsoft.com/office/drawing/2014/main" id="{5E51FAE6-66CF-DC27-2ECA-FA0381A24C36}"/>
              </a:ext>
            </a:extLst>
          </p:cNvPr>
          <p:cNvSpPr>
            <a:spLocks noGrp="1"/>
          </p:cNvSpPr>
          <p:nvPr>
            <p:ph type="sldNum" sz="quarter" idx="7"/>
          </p:nvPr>
        </p:nvSpPr>
        <p:spPr/>
        <p:txBody>
          <a:bodyPr/>
          <a:lstStyle/>
          <a:p>
            <a:fld id="{B6F15528-21DE-4FAA-801E-634DDDAF4B2B}" type="slidenum">
              <a:rPr lang="en-IN" smtClean="0"/>
              <a:t>9</a:t>
            </a:fld>
            <a:endParaRPr lang="en-IN"/>
          </a:p>
        </p:txBody>
      </p:sp>
    </p:spTree>
    <p:extLst>
      <p:ext uri="{BB962C8B-B14F-4D97-AF65-F5344CB8AC3E}">
        <p14:creationId xmlns:p14="http://schemas.microsoft.com/office/powerpoint/2010/main" val="1714706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57F9D8-960A-482F-FB4B-CDD1F20FB60A}"/>
              </a:ext>
            </a:extLst>
          </p:cNvPr>
          <p:cNvSpPr>
            <a:spLocks noGrp="1"/>
          </p:cNvSpPr>
          <p:nvPr>
            <p:ph type="title"/>
          </p:nvPr>
        </p:nvSpPr>
        <p:spPr>
          <a:xfrm>
            <a:off x="210761" y="729651"/>
            <a:ext cx="4308641" cy="369332"/>
          </a:xfrm>
        </p:spPr>
        <p:txBody>
          <a:bodyPr/>
          <a:lstStyle/>
          <a:p>
            <a:r>
              <a:rPr lang="en-IN" sz="2400" dirty="0"/>
              <a:t>PROPOSED SYSTEM</a:t>
            </a:r>
          </a:p>
        </p:txBody>
      </p:sp>
      <p:sp>
        <p:nvSpPr>
          <p:cNvPr id="3" name="Text Placeholder 2">
            <a:extLst>
              <a:ext uri="{FF2B5EF4-FFF2-40B4-BE49-F238E27FC236}">
                <a16:creationId xmlns:a16="http://schemas.microsoft.com/office/drawing/2014/main" id="{AD901121-013B-DB56-914B-A90AFF091D0A}"/>
              </a:ext>
            </a:extLst>
          </p:cNvPr>
          <p:cNvSpPr>
            <a:spLocks noGrp="1"/>
          </p:cNvSpPr>
          <p:nvPr>
            <p:ph type="body" idx="1"/>
          </p:nvPr>
        </p:nvSpPr>
        <p:spPr>
          <a:xfrm>
            <a:off x="210761" y="1433081"/>
            <a:ext cx="8669682" cy="2492990"/>
          </a:xfrm>
        </p:spPr>
        <p:txBody>
          <a:bodyPr wrap="square" lIns="0" tIns="0" rIns="0" bIns="0" anchor="t">
            <a:spAutoFit/>
          </a:bodyPr>
          <a:lstStyle/>
          <a:p>
            <a:pPr marL="285750" indent="-285750" algn="just">
              <a:buFont typeface="Arial" panose="020B0604020202020204" pitchFamily="34" charset="0"/>
              <a:buChar char="•"/>
            </a:pPr>
            <a:r>
              <a:rPr lang="en-US" dirty="0">
                <a:latin typeface="Arial" panose="020B0604020202020204" pitchFamily="34" charset="0"/>
                <a:cs typeface="Arial" panose="020B0604020202020204" pitchFamily="34" charset="0"/>
              </a:rPr>
              <a:t>The proposed system performs feature engineering and mutual information–based, tree importance  feature selection to refine user and behavioral attributes into a informative feature set, improving model stability and generalization.</a:t>
            </a:r>
          </a:p>
          <a:p>
            <a:pPr marL="285750" indent="-28575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dirty="0" err="1">
                <a:latin typeface="Arial" panose="020B0604020202020204" pitchFamily="34" charset="0"/>
                <a:cs typeface="Arial" panose="020B0604020202020204" pitchFamily="34" charset="0"/>
              </a:rPr>
              <a:t>GraphSAGE</a:t>
            </a:r>
            <a:r>
              <a:rPr lang="en-US" dirty="0">
                <a:latin typeface="Arial" panose="020B0604020202020204" pitchFamily="34" charset="0"/>
                <a:cs typeface="Arial" panose="020B0604020202020204" pitchFamily="34" charset="0"/>
              </a:rPr>
              <a:t> learn the similarity-based relationships, generating embeddings that capture network behavior patterns to improve bot detection.</a:t>
            </a:r>
          </a:p>
          <a:p>
            <a:pPr marL="285750" indent="-285750" algn="jus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marL="285750" indent="-285750" algn="just">
              <a:buFont typeface="Arial" panose="020B0604020202020204" pitchFamily="34" charset="0"/>
              <a:buChar char="•"/>
            </a:pPr>
            <a:r>
              <a:rPr lang="en-US" dirty="0">
                <a:latin typeface="Arial"/>
                <a:ea typeface="+mn-lt"/>
                <a:cs typeface="Arial"/>
              </a:rPr>
              <a:t>LIME provide transparent decision-making by highlighting influential features and interactions, while the LLM is used to give a summarization of LIME output.</a:t>
            </a:r>
            <a:endParaRPr lang="en-IN" dirty="0">
              <a:latin typeface="Arial" panose="020B0604020202020204" pitchFamily="34" charset="0"/>
              <a:cs typeface="Arial" panose="020B0604020202020204" pitchFamily="34" charset="0"/>
            </a:endParaRPr>
          </a:p>
        </p:txBody>
      </p:sp>
      <p:sp>
        <p:nvSpPr>
          <p:cNvPr id="5" name="object 8">
            <a:extLst>
              <a:ext uri="{FF2B5EF4-FFF2-40B4-BE49-F238E27FC236}">
                <a16:creationId xmlns:a16="http://schemas.microsoft.com/office/drawing/2014/main" id="{838C3E21-80F2-6F18-6135-92F7E2B064AB}"/>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dirty="0">
                <a:latin typeface="Arial"/>
                <a:cs typeface="Arial"/>
              </a:rPr>
              <a:t>DEPARTMENT OF COMPUTER SCIENCE AND ENGINEERING </a:t>
            </a:r>
            <a:endParaRPr sz="1100" dirty="0">
              <a:latin typeface="Arial"/>
              <a:cs typeface="Arial"/>
            </a:endParaRPr>
          </a:p>
        </p:txBody>
      </p:sp>
      <p:pic>
        <p:nvPicPr>
          <p:cNvPr id="6" name="Picture 5">
            <a:extLst>
              <a:ext uri="{FF2B5EF4-FFF2-40B4-BE49-F238E27FC236}">
                <a16:creationId xmlns:a16="http://schemas.microsoft.com/office/drawing/2014/main" id="{A96B40D1-69D3-8A89-65D2-23A1A7DEE3B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7" name="Slide Number Placeholder 6">
            <a:extLst>
              <a:ext uri="{FF2B5EF4-FFF2-40B4-BE49-F238E27FC236}">
                <a16:creationId xmlns:a16="http://schemas.microsoft.com/office/drawing/2014/main" id="{ADD7AD6B-7398-99E6-97B0-5155968C3B0E}"/>
              </a:ext>
            </a:extLst>
          </p:cNvPr>
          <p:cNvSpPr>
            <a:spLocks noGrp="1"/>
          </p:cNvSpPr>
          <p:nvPr>
            <p:ph type="sldNum" sz="quarter" idx="7"/>
          </p:nvPr>
        </p:nvSpPr>
        <p:spPr/>
        <p:txBody>
          <a:bodyPr/>
          <a:lstStyle/>
          <a:p>
            <a:fld id="{B6F15528-21DE-4FAA-801E-634DDDAF4B2B}" type="slidenum">
              <a:rPr lang="en-IN" smtClean="0"/>
              <a:t>10</a:t>
            </a:fld>
            <a:endParaRPr lang="en-IN"/>
          </a:p>
        </p:txBody>
      </p:sp>
    </p:spTree>
    <p:extLst>
      <p:ext uri="{BB962C8B-B14F-4D97-AF65-F5344CB8AC3E}">
        <p14:creationId xmlns:p14="http://schemas.microsoft.com/office/powerpoint/2010/main" val="10671867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3FC257-5D74-7ACC-6EA3-44E62D979B1D}"/>
              </a:ext>
            </a:extLst>
          </p:cNvPr>
          <p:cNvSpPr>
            <a:spLocks noGrp="1"/>
          </p:cNvSpPr>
          <p:nvPr>
            <p:ph type="title"/>
          </p:nvPr>
        </p:nvSpPr>
        <p:spPr>
          <a:xfrm>
            <a:off x="172721" y="499825"/>
            <a:ext cx="3997836" cy="369332"/>
          </a:xfrm>
        </p:spPr>
        <p:txBody>
          <a:bodyPr wrap="square" lIns="0" tIns="0" rIns="0" bIns="0" anchor="t">
            <a:spAutoFit/>
          </a:bodyPr>
          <a:lstStyle/>
          <a:p>
            <a:r>
              <a:rPr lang="en-IN" sz="2400" dirty="0"/>
              <a:t>ARCHITECTURE DIAGRAM</a:t>
            </a:r>
          </a:p>
        </p:txBody>
      </p:sp>
      <p:pic>
        <p:nvPicPr>
          <p:cNvPr id="7" name="Picture 6">
            <a:extLst>
              <a:ext uri="{FF2B5EF4-FFF2-40B4-BE49-F238E27FC236}">
                <a16:creationId xmlns:a16="http://schemas.microsoft.com/office/drawing/2014/main" id="{C306014B-EE74-387C-A8CD-20A03AAFDC6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10" name="object 8">
            <a:extLst>
              <a:ext uri="{FF2B5EF4-FFF2-40B4-BE49-F238E27FC236}">
                <a16:creationId xmlns:a16="http://schemas.microsoft.com/office/drawing/2014/main" id="{CC2B019D-5E62-415C-E04C-A76C280640DF}"/>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dirty="0">
                <a:latin typeface="Arial"/>
                <a:cs typeface="Arial"/>
              </a:rPr>
              <a:t>DEPARTMENT OF COMPUTER SCIENCE AND ENGINEERING </a:t>
            </a:r>
            <a:endParaRPr sz="1100" dirty="0">
              <a:latin typeface="Arial"/>
              <a:cs typeface="Arial"/>
            </a:endParaRPr>
          </a:p>
        </p:txBody>
      </p:sp>
      <p:sp>
        <p:nvSpPr>
          <p:cNvPr id="6" name="Slide Number Placeholder 5">
            <a:extLst>
              <a:ext uri="{FF2B5EF4-FFF2-40B4-BE49-F238E27FC236}">
                <a16:creationId xmlns:a16="http://schemas.microsoft.com/office/drawing/2014/main" id="{43D64B16-390A-F187-BEAF-DB7B78FFFD6D}"/>
              </a:ext>
            </a:extLst>
          </p:cNvPr>
          <p:cNvSpPr>
            <a:spLocks noGrp="1"/>
          </p:cNvSpPr>
          <p:nvPr>
            <p:ph type="sldNum" sz="quarter" idx="7"/>
          </p:nvPr>
        </p:nvSpPr>
        <p:spPr/>
        <p:txBody>
          <a:bodyPr/>
          <a:lstStyle/>
          <a:p>
            <a:fld id="{B6F15528-21DE-4FAA-801E-634DDDAF4B2B}" type="slidenum">
              <a:rPr lang="en-IN" smtClean="0"/>
              <a:t>11</a:t>
            </a:fld>
            <a:endParaRPr lang="en-IN"/>
          </a:p>
        </p:txBody>
      </p:sp>
      <p:pic>
        <p:nvPicPr>
          <p:cNvPr id="3" name="Picture 2">
            <a:extLst>
              <a:ext uri="{FF2B5EF4-FFF2-40B4-BE49-F238E27FC236}">
                <a16:creationId xmlns:a16="http://schemas.microsoft.com/office/drawing/2014/main" id="{BD5C1086-196E-702B-89A8-D260C87005F0}"/>
              </a:ext>
            </a:extLst>
          </p:cNvPr>
          <p:cNvPicPr>
            <a:picLocks noChangeAspect="1"/>
          </p:cNvPicPr>
          <p:nvPr/>
        </p:nvPicPr>
        <p:blipFill rotWithShape="1">
          <a:blip r:embed="rId3">
            <a:extLst>
              <a:ext uri="{28A0092B-C50C-407E-A947-70E740481C1C}">
                <a14:useLocalDpi xmlns:a14="http://schemas.microsoft.com/office/drawing/2010/main" val="0"/>
              </a:ext>
            </a:extLst>
          </a:blip>
          <a:srcRect l="2467" t="8387" r="2722" b="5015"/>
          <a:stretch>
            <a:fillRect/>
          </a:stretch>
        </p:blipFill>
        <p:spPr bwMode="auto">
          <a:xfrm>
            <a:off x="1170943" y="889821"/>
            <a:ext cx="6802113" cy="4253679"/>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910346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51F5B-7890-F699-6294-A6C41B5879F4}"/>
              </a:ext>
            </a:extLst>
          </p:cNvPr>
          <p:cNvSpPr>
            <a:spLocks noGrp="1"/>
          </p:cNvSpPr>
          <p:nvPr>
            <p:ph type="title"/>
          </p:nvPr>
        </p:nvSpPr>
        <p:spPr>
          <a:xfrm>
            <a:off x="227524" y="410517"/>
            <a:ext cx="4308641" cy="276999"/>
          </a:xfrm>
        </p:spPr>
        <p:txBody>
          <a:bodyPr/>
          <a:lstStyle/>
          <a:p>
            <a:r>
              <a:rPr lang="en-IN" sz="1800" dirty="0"/>
              <a:t>Workflow diagram</a:t>
            </a:r>
          </a:p>
        </p:txBody>
      </p:sp>
      <p:sp>
        <p:nvSpPr>
          <p:cNvPr id="6" name="Slide Number Placeholder 5">
            <a:extLst>
              <a:ext uri="{FF2B5EF4-FFF2-40B4-BE49-F238E27FC236}">
                <a16:creationId xmlns:a16="http://schemas.microsoft.com/office/drawing/2014/main" id="{16BA2E81-AA34-53FD-BCCF-EC50BECED229}"/>
              </a:ext>
            </a:extLst>
          </p:cNvPr>
          <p:cNvSpPr>
            <a:spLocks noGrp="1"/>
          </p:cNvSpPr>
          <p:nvPr>
            <p:ph type="sldNum" sz="quarter" idx="7"/>
          </p:nvPr>
        </p:nvSpPr>
        <p:spPr/>
        <p:txBody>
          <a:bodyPr/>
          <a:lstStyle/>
          <a:p>
            <a:fld id="{B6F15528-21DE-4FAA-801E-634DDDAF4B2B}" type="slidenum">
              <a:rPr lang="en-IN" smtClean="0"/>
              <a:t>12</a:t>
            </a:fld>
            <a:endParaRPr lang="en-IN"/>
          </a:p>
        </p:txBody>
      </p:sp>
      <p:sp>
        <p:nvSpPr>
          <p:cNvPr id="7" name="object 5">
            <a:extLst>
              <a:ext uri="{FF2B5EF4-FFF2-40B4-BE49-F238E27FC236}">
                <a16:creationId xmlns:a16="http://schemas.microsoft.com/office/drawing/2014/main" id="{3AFE8DFB-E0A4-F708-0001-24C01A394A1F}"/>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8" name="Picture 7">
            <a:extLst>
              <a:ext uri="{FF2B5EF4-FFF2-40B4-BE49-F238E27FC236}">
                <a16:creationId xmlns:a16="http://schemas.microsoft.com/office/drawing/2014/main" id="{B43AE707-2197-E6EB-EB1C-80CE24CD6C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pic>
        <p:nvPicPr>
          <p:cNvPr id="3" name="Picture 2">
            <a:extLst>
              <a:ext uri="{FF2B5EF4-FFF2-40B4-BE49-F238E27FC236}">
                <a16:creationId xmlns:a16="http://schemas.microsoft.com/office/drawing/2014/main" id="{D61C4553-57D8-1FDF-5CDC-CF908B93C06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321" y="332937"/>
            <a:ext cx="3543113" cy="4791650"/>
          </a:xfrm>
          <a:prstGeom prst="rect">
            <a:avLst/>
          </a:prstGeom>
          <a:noFill/>
        </p:spPr>
      </p:pic>
    </p:spTree>
    <p:extLst>
      <p:ext uri="{BB962C8B-B14F-4D97-AF65-F5344CB8AC3E}">
        <p14:creationId xmlns:p14="http://schemas.microsoft.com/office/powerpoint/2010/main" val="35198110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CC598B-F195-7B32-51F5-D9A56B922F7F}"/>
              </a:ext>
            </a:extLst>
          </p:cNvPr>
          <p:cNvSpPr>
            <a:spLocks noGrp="1"/>
          </p:cNvSpPr>
          <p:nvPr>
            <p:ph type="title"/>
          </p:nvPr>
        </p:nvSpPr>
        <p:spPr>
          <a:xfrm>
            <a:off x="227524" y="410517"/>
            <a:ext cx="4308641" cy="369332"/>
          </a:xfrm>
        </p:spPr>
        <p:txBody>
          <a:bodyPr/>
          <a:lstStyle/>
          <a:p>
            <a:r>
              <a:rPr lang="en-IN" sz="2400"/>
              <a:t>INPUT</a:t>
            </a:r>
          </a:p>
        </p:txBody>
      </p:sp>
      <p:sp>
        <p:nvSpPr>
          <p:cNvPr id="3" name="Text Placeholder 2">
            <a:extLst>
              <a:ext uri="{FF2B5EF4-FFF2-40B4-BE49-F238E27FC236}">
                <a16:creationId xmlns:a16="http://schemas.microsoft.com/office/drawing/2014/main" id="{6975BCE6-79D7-45D2-6E52-7D4B3FC33AEF}"/>
              </a:ext>
            </a:extLst>
          </p:cNvPr>
          <p:cNvSpPr>
            <a:spLocks noGrp="1"/>
          </p:cNvSpPr>
          <p:nvPr>
            <p:ph type="body" idx="1"/>
          </p:nvPr>
        </p:nvSpPr>
        <p:spPr>
          <a:xfrm>
            <a:off x="494579" y="970734"/>
            <a:ext cx="3631373" cy="3877985"/>
          </a:xfrm>
        </p:spPr>
        <p:txBody>
          <a:bodyPr wrap="square" lIns="0" tIns="0" rIns="0" bIns="0" anchor="t">
            <a:spAutoFit/>
          </a:bodyPr>
          <a:lstStyle/>
          <a:p>
            <a:r>
              <a:rPr lang="en-IN" b="1" dirty="0">
                <a:latin typeface="Arial" panose="020B0604020202020204" pitchFamily="34" charset="0"/>
                <a:cs typeface="Arial" panose="020B0604020202020204" pitchFamily="34" charset="0"/>
              </a:rPr>
              <a:t>User fields:</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User_id</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username</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created_at</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verified</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description</a:t>
            </a: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location</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url</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profile_image_url</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followers_count</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following_count</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tweet_count</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listed_count</a:t>
            </a:r>
            <a:endParaRPr lang="en-IN" dirty="0">
              <a:latin typeface="Arial" panose="020B0604020202020204" pitchFamily="34" charset="0"/>
              <a:cs typeface="Arial" panose="020B0604020202020204" pitchFamily="34" charset="0"/>
            </a:endParaRPr>
          </a:p>
          <a:p>
            <a:pPr marL="114300" indent="0" algn="just">
              <a:buNone/>
            </a:pPr>
            <a:endParaRPr lang="en-US" dirty="0">
              <a:latin typeface="Arial" panose="020B0604020202020204" pitchFamily="34" charset="0"/>
              <a:cs typeface="Arial" panose="020B0604020202020204" pitchFamily="34" charset="0"/>
            </a:endParaRPr>
          </a:p>
        </p:txBody>
      </p:sp>
      <p:sp>
        <p:nvSpPr>
          <p:cNvPr id="5" name="object 8">
            <a:extLst>
              <a:ext uri="{FF2B5EF4-FFF2-40B4-BE49-F238E27FC236}">
                <a16:creationId xmlns:a16="http://schemas.microsoft.com/office/drawing/2014/main" id="{F0AF813C-2030-29BF-E917-FC5E124C3EE6}"/>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dirty="0">
                <a:latin typeface="Arial"/>
                <a:cs typeface="Arial"/>
              </a:rPr>
              <a:t>DEPARTMENT OF COMPUTER SCIENCE AND ENGINEERING </a:t>
            </a:r>
            <a:endParaRPr sz="1100" dirty="0">
              <a:latin typeface="Arial"/>
              <a:cs typeface="Arial"/>
            </a:endParaRPr>
          </a:p>
        </p:txBody>
      </p:sp>
      <p:pic>
        <p:nvPicPr>
          <p:cNvPr id="6" name="Picture 5">
            <a:extLst>
              <a:ext uri="{FF2B5EF4-FFF2-40B4-BE49-F238E27FC236}">
                <a16:creationId xmlns:a16="http://schemas.microsoft.com/office/drawing/2014/main" id="{0B8EFB71-4381-3C38-A85B-D9B59673194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7" name="TextBox 6">
            <a:extLst>
              <a:ext uri="{FF2B5EF4-FFF2-40B4-BE49-F238E27FC236}">
                <a16:creationId xmlns:a16="http://schemas.microsoft.com/office/drawing/2014/main" id="{F7D0809E-57C4-9FFB-78AC-4542674E27F2}"/>
              </a:ext>
            </a:extLst>
          </p:cNvPr>
          <p:cNvSpPr txBox="1"/>
          <p:nvPr/>
        </p:nvSpPr>
        <p:spPr>
          <a:xfrm>
            <a:off x="4686850" y="970734"/>
            <a:ext cx="3527881" cy="2585323"/>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Tweet fields:</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User_id</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a:latin typeface="Arial" panose="020B0604020202020204" pitchFamily="34" charset="0"/>
                <a:cs typeface="Arial" panose="020B0604020202020204" pitchFamily="34" charset="0"/>
              </a:rPr>
              <a:t>text</a:t>
            </a: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Num_hashtags</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Num_mentions</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Num_urls</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retweet_count</a:t>
            </a:r>
            <a:endParaRPr lang="en-IN"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IN" dirty="0" err="1">
                <a:latin typeface="Arial" panose="020B0604020202020204" pitchFamily="34" charset="0"/>
                <a:cs typeface="Arial" panose="020B0604020202020204" pitchFamily="34" charset="0"/>
              </a:rPr>
              <a:t>reply_count</a:t>
            </a:r>
            <a:endParaRPr lang="en-IN" dirty="0">
              <a:latin typeface="Arial" panose="020B0604020202020204" pitchFamily="34" charset="0"/>
              <a:cs typeface="Arial" panose="020B0604020202020204" pitchFamily="34" charset="0"/>
            </a:endParaRPr>
          </a:p>
          <a:p>
            <a:endParaRPr lang="en-IN" dirty="0">
              <a:latin typeface="Arial" panose="020B0604020202020204" pitchFamily="34" charset="0"/>
              <a:cs typeface="Arial" panose="020B0604020202020204" pitchFamily="34" charset="0"/>
            </a:endParaRPr>
          </a:p>
        </p:txBody>
      </p:sp>
      <p:sp>
        <p:nvSpPr>
          <p:cNvPr id="8" name="Slide Number Placeholder 7">
            <a:extLst>
              <a:ext uri="{FF2B5EF4-FFF2-40B4-BE49-F238E27FC236}">
                <a16:creationId xmlns:a16="http://schemas.microsoft.com/office/drawing/2014/main" id="{6B39FB9A-C8E1-B999-BD72-A51603758B2C}"/>
              </a:ext>
            </a:extLst>
          </p:cNvPr>
          <p:cNvSpPr>
            <a:spLocks noGrp="1"/>
          </p:cNvSpPr>
          <p:nvPr>
            <p:ph type="sldNum" sz="quarter" idx="7"/>
          </p:nvPr>
        </p:nvSpPr>
        <p:spPr/>
        <p:txBody>
          <a:bodyPr/>
          <a:lstStyle/>
          <a:p>
            <a:fld id="{B6F15528-21DE-4FAA-801E-634DDDAF4B2B}" type="slidenum">
              <a:rPr lang="en-IN" smtClean="0"/>
              <a:t>13</a:t>
            </a:fld>
            <a:endParaRPr lang="en-IN"/>
          </a:p>
        </p:txBody>
      </p:sp>
    </p:spTree>
    <p:extLst>
      <p:ext uri="{BB962C8B-B14F-4D97-AF65-F5344CB8AC3E}">
        <p14:creationId xmlns:p14="http://schemas.microsoft.com/office/powerpoint/2010/main" val="6900913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06231-E149-62F8-78B8-939130824F34}"/>
              </a:ext>
            </a:extLst>
          </p:cNvPr>
          <p:cNvSpPr>
            <a:spLocks noGrp="1"/>
          </p:cNvSpPr>
          <p:nvPr>
            <p:ph type="title"/>
          </p:nvPr>
        </p:nvSpPr>
        <p:spPr>
          <a:xfrm>
            <a:off x="216680" y="994395"/>
            <a:ext cx="4308641" cy="369332"/>
          </a:xfrm>
        </p:spPr>
        <p:txBody>
          <a:bodyPr/>
          <a:lstStyle/>
          <a:p>
            <a:r>
              <a:rPr lang="en-IN" sz="2400" dirty="0"/>
              <a:t>OUTPUT</a:t>
            </a:r>
          </a:p>
        </p:txBody>
      </p:sp>
      <p:sp>
        <p:nvSpPr>
          <p:cNvPr id="3" name="Text Placeholder 2">
            <a:extLst>
              <a:ext uri="{FF2B5EF4-FFF2-40B4-BE49-F238E27FC236}">
                <a16:creationId xmlns:a16="http://schemas.microsoft.com/office/drawing/2014/main" id="{A4A8A63C-B193-6F92-A9A9-AE26E68AF284}"/>
              </a:ext>
            </a:extLst>
          </p:cNvPr>
          <p:cNvSpPr>
            <a:spLocks noGrp="1"/>
          </p:cNvSpPr>
          <p:nvPr>
            <p:ph type="body" idx="1"/>
          </p:nvPr>
        </p:nvSpPr>
        <p:spPr>
          <a:xfrm>
            <a:off x="261931" y="1697825"/>
            <a:ext cx="8526780" cy="1938992"/>
          </a:xfrm>
        </p:spPr>
        <p:txBody>
          <a:bodyPr wrap="square" lIns="0" tIns="0" rIns="0" bIns="0" anchor="t">
            <a:spAutoFit/>
          </a:bodyPr>
          <a:lstStyle/>
          <a:p>
            <a:pPr marL="285750" indent="-285750">
              <a:buFont typeface="Arial" panose="020B0604020202020204" pitchFamily="34" charset="0"/>
              <a:buChar char="•"/>
            </a:pPr>
            <a:r>
              <a:rPr lang="en-US" dirty="0">
                <a:latin typeface="Arial"/>
                <a:cs typeface="Arial"/>
              </a:rPr>
              <a:t>Human or Bot.</a:t>
            </a:r>
          </a:p>
          <a:p>
            <a:pPr marL="285750" indent="-285750">
              <a:buFont typeface="Arial" panose="020B0604020202020204" pitchFamily="34" charset="0"/>
              <a:buChar char="•"/>
            </a:pPr>
            <a:endParaRPr lang="en-US" dirty="0">
              <a:latin typeface="Arial"/>
              <a:cs typeface="Arial"/>
            </a:endParaRPr>
          </a:p>
          <a:p>
            <a:pPr marL="285750" indent="-285750">
              <a:buFont typeface="Arial" panose="020B0604020202020204" pitchFamily="34" charset="0"/>
              <a:buChar char="•"/>
            </a:pPr>
            <a:r>
              <a:rPr lang="en-US" dirty="0">
                <a:latin typeface="Arial"/>
                <a:cs typeface="Arial"/>
              </a:rPr>
              <a:t>Explainability provided by LIME.</a:t>
            </a:r>
          </a:p>
          <a:p>
            <a:pPr marL="285750" indent="-285750">
              <a:buFont typeface="Arial" panose="020B0604020202020204" pitchFamily="34" charset="0"/>
              <a:buChar char="•"/>
            </a:pPr>
            <a:endParaRPr lang="en-US" dirty="0">
              <a:latin typeface="Arial"/>
              <a:cs typeface="Arial"/>
            </a:endParaRPr>
          </a:p>
          <a:p>
            <a:pPr marL="285750" indent="-285750">
              <a:buFont typeface="Arial" panose="020B0604020202020204" pitchFamily="34" charset="0"/>
              <a:buChar char="•"/>
            </a:pPr>
            <a:r>
              <a:rPr lang="en-US" dirty="0">
                <a:latin typeface="Arial"/>
                <a:cs typeface="Arial"/>
              </a:rPr>
              <a:t>LLM summarization of LIME output.</a:t>
            </a:r>
          </a:p>
          <a:p>
            <a:pPr marL="285750" indent="-285750">
              <a:buFont typeface="Arial" panose="020B0604020202020204" pitchFamily="34" charset="0"/>
              <a:buChar char="•"/>
            </a:pPr>
            <a:endParaRPr lang="en-US" b="1" dirty="0">
              <a:latin typeface="Arial"/>
              <a:cs typeface="Arial"/>
            </a:endParaRPr>
          </a:p>
          <a:p>
            <a:endParaRPr lang="en-IN" dirty="0"/>
          </a:p>
        </p:txBody>
      </p:sp>
      <p:sp>
        <p:nvSpPr>
          <p:cNvPr id="5" name="object 8">
            <a:extLst>
              <a:ext uri="{FF2B5EF4-FFF2-40B4-BE49-F238E27FC236}">
                <a16:creationId xmlns:a16="http://schemas.microsoft.com/office/drawing/2014/main" id="{CC6F2C65-3DBE-C32F-6031-1CD9C88A9EFC}"/>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6" name="Picture 5">
            <a:extLst>
              <a:ext uri="{FF2B5EF4-FFF2-40B4-BE49-F238E27FC236}">
                <a16:creationId xmlns:a16="http://schemas.microsoft.com/office/drawing/2014/main" id="{F171B4B4-22E1-7D4F-D3D6-9A47AC70124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7" name="Slide Number Placeholder 6">
            <a:extLst>
              <a:ext uri="{FF2B5EF4-FFF2-40B4-BE49-F238E27FC236}">
                <a16:creationId xmlns:a16="http://schemas.microsoft.com/office/drawing/2014/main" id="{60522D90-8F36-F30E-7F0D-526B8E455EC2}"/>
              </a:ext>
            </a:extLst>
          </p:cNvPr>
          <p:cNvSpPr>
            <a:spLocks noGrp="1"/>
          </p:cNvSpPr>
          <p:nvPr>
            <p:ph type="sldNum" sz="quarter" idx="7"/>
          </p:nvPr>
        </p:nvSpPr>
        <p:spPr/>
        <p:txBody>
          <a:bodyPr/>
          <a:lstStyle/>
          <a:p>
            <a:fld id="{B6F15528-21DE-4FAA-801E-634DDDAF4B2B}" type="slidenum">
              <a:rPr lang="en-IN" smtClean="0"/>
              <a:t>14</a:t>
            </a:fld>
            <a:endParaRPr lang="en-IN"/>
          </a:p>
        </p:txBody>
      </p:sp>
    </p:spTree>
    <p:extLst>
      <p:ext uri="{BB962C8B-B14F-4D97-AF65-F5344CB8AC3E}">
        <p14:creationId xmlns:p14="http://schemas.microsoft.com/office/powerpoint/2010/main" val="2939565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85302-B857-5216-8DC2-73B85A5A3EBC}"/>
              </a:ext>
            </a:extLst>
          </p:cNvPr>
          <p:cNvSpPr>
            <a:spLocks noGrp="1"/>
          </p:cNvSpPr>
          <p:nvPr>
            <p:ph type="title"/>
          </p:nvPr>
        </p:nvSpPr>
        <p:spPr>
          <a:xfrm>
            <a:off x="236961" y="1200675"/>
            <a:ext cx="4308641" cy="369332"/>
          </a:xfrm>
        </p:spPr>
        <p:txBody>
          <a:bodyPr/>
          <a:lstStyle/>
          <a:p>
            <a:r>
              <a:rPr lang="en-IN" sz="2400" dirty="0"/>
              <a:t>MODULES</a:t>
            </a:r>
          </a:p>
        </p:txBody>
      </p:sp>
      <p:sp>
        <p:nvSpPr>
          <p:cNvPr id="3" name="Text Placeholder 2">
            <a:extLst>
              <a:ext uri="{FF2B5EF4-FFF2-40B4-BE49-F238E27FC236}">
                <a16:creationId xmlns:a16="http://schemas.microsoft.com/office/drawing/2014/main" id="{42ADF5E3-4C1C-B1C2-30A4-FAAE0732725E}"/>
              </a:ext>
            </a:extLst>
          </p:cNvPr>
          <p:cNvSpPr>
            <a:spLocks noGrp="1"/>
          </p:cNvSpPr>
          <p:nvPr>
            <p:ph type="body" idx="1"/>
          </p:nvPr>
        </p:nvSpPr>
        <p:spPr>
          <a:xfrm>
            <a:off x="308610" y="1798461"/>
            <a:ext cx="8526780" cy="2026196"/>
          </a:xfrm>
        </p:spPr>
        <p:txBody>
          <a:bodyPr wrap="square" lIns="0" tIns="0" rIns="0" bIns="0" anchor="t">
            <a:spAutoFit/>
          </a:bodyPr>
          <a:lstStyle/>
          <a:p>
            <a:pPr marL="342900" indent="-342900" algn="just">
              <a:lnSpc>
                <a:spcPct val="150000"/>
              </a:lnSpc>
              <a:buFont typeface="+mj-lt"/>
              <a:buAutoNum type="arabicPeriod"/>
            </a:pPr>
            <a:r>
              <a:rPr lang="en-IN" dirty="0">
                <a:latin typeface="Arial"/>
                <a:cs typeface="Arial"/>
              </a:rPr>
              <a:t>Data Collection &amp; Preprocessing Module</a:t>
            </a:r>
          </a:p>
          <a:p>
            <a:pPr marL="342900" indent="-342900" algn="just">
              <a:lnSpc>
                <a:spcPct val="150000"/>
              </a:lnSpc>
              <a:buFont typeface="+mj-lt"/>
              <a:buAutoNum type="arabicPeriod"/>
            </a:pPr>
            <a:r>
              <a:rPr lang="en-IN" dirty="0">
                <a:latin typeface="Arial"/>
                <a:cs typeface="Arial"/>
              </a:rPr>
              <a:t>Graph Construction Module</a:t>
            </a:r>
          </a:p>
          <a:p>
            <a:pPr marL="342900" indent="-342900" algn="just">
              <a:lnSpc>
                <a:spcPct val="150000"/>
              </a:lnSpc>
              <a:buFont typeface="+mj-lt"/>
              <a:buAutoNum type="arabicPeriod"/>
            </a:pPr>
            <a:r>
              <a:rPr lang="en-US" dirty="0">
                <a:latin typeface="Arial"/>
                <a:cs typeface="Arial"/>
              </a:rPr>
              <a:t>Classification Module</a:t>
            </a:r>
          </a:p>
          <a:p>
            <a:pPr marL="342900" indent="-342900" algn="just">
              <a:lnSpc>
                <a:spcPct val="150000"/>
              </a:lnSpc>
              <a:buFont typeface="+mj-lt"/>
              <a:buAutoNum type="arabicPeriod"/>
            </a:pPr>
            <a:r>
              <a:rPr lang="en-IN" dirty="0">
                <a:latin typeface="Arial"/>
                <a:cs typeface="Arial"/>
              </a:rPr>
              <a:t>Model Interpretation Module</a:t>
            </a:r>
          </a:p>
          <a:p>
            <a:pPr marL="342900" indent="-342900" algn="just">
              <a:lnSpc>
                <a:spcPct val="150000"/>
              </a:lnSpc>
              <a:buFont typeface="+mj-lt"/>
              <a:buAutoNum type="arabicPeriod"/>
            </a:pPr>
            <a:r>
              <a:rPr lang="en-IN" dirty="0">
                <a:latin typeface="Arial"/>
                <a:cs typeface="Arial"/>
              </a:rPr>
              <a:t>Evaluation Metrics Module</a:t>
            </a:r>
          </a:p>
        </p:txBody>
      </p:sp>
      <p:sp>
        <p:nvSpPr>
          <p:cNvPr id="5" name="object 8">
            <a:extLst>
              <a:ext uri="{FF2B5EF4-FFF2-40B4-BE49-F238E27FC236}">
                <a16:creationId xmlns:a16="http://schemas.microsoft.com/office/drawing/2014/main" id="{5ABEE13B-6AE8-8900-8CFA-41D30286CE5C}"/>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6" name="Picture 5">
            <a:extLst>
              <a:ext uri="{FF2B5EF4-FFF2-40B4-BE49-F238E27FC236}">
                <a16:creationId xmlns:a16="http://schemas.microsoft.com/office/drawing/2014/main" id="{32CE2002-6994-E4CC-9DAE-1659CF7ACBF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7" name="Slide Number Placeholder 6">
            <a:extLst>
              <a:ext uri="{FF2B5EF4-FFF2-40B4-BE49-F238E27FC236}">
                <a16:creationId xmlns:a16="http://schemas.microsoft.com/office/drawing/2014/main" id="{449CA1AD-D09B-CDB6-B37F-389CA220EA2D}"/>
              </a:ext>
            </a:extLst>
          </p:cNvPr>
          <p:cNvSpPr>
            <a:spLocks noGrp="1"/>
          </p:cNvSpPr>
          <p:nvPr>
            <p:ph type="sldNum" sz="quarter" idx="7"/>
          </p:nvPr>
        </p:nvSpPr>
        <p:spPr/>
        <p:txBody>
          <a:bodyPr/>
          <a:lstStyle/>
          <a:p>
            <a:fld id="{B6F15528-21DE-4FAA-801E-634DDDAF4B2B}" type="slidenum">
              <a:rPr lang="en-IN" smtClean="0"/>
              <a:t>15</a:t>
            </a:fld>
            <a:endParaRPr lang="en-IN"/>
          </a:p>
        </p:txBody>
      </p:sp>
    </p:spTree>
    <p:extLst>
      <p:ext uri="{BB962C8B-B14F-4D97-AF65-F5344CB8AC3E}">
        <p14:creationId xmlns:p14="http://schemas.microsoft.com/office/powerpoint/2010/main" val="2872592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56841-1A1E-8F15-DCB3-E1E4233FE4D5}"/>
              </a:ext>
            </a:extLst>
          </p:cNvPr>
          <p:cNvSpPr>
            <a:spLocks noGrp="1"/>
          </p:cNvSpPr>
          <p:nvPr>
            <p:ph type="title"/>
          </p:nvPr>
        </p:nvSpPr>
        <p:spPr>
          <a:xfrm>
            <a:off x="154259" y="492671"/>
            <a:ext cx="4308641" cy="369332"/>
          </a:xfrm>
        </p:spPr>
        <p:txBody>
          <a:bodyPr/>
          <a:lstStyle/>
          <a:p>
            <a:r>
              <a:rPr lang="en-IN" sz="2400" dirty="0"/>
              <a:t>MODULES DESCRIPTION</a:t>
            </a:r>
          </a:p>
        </p:txBody>
      </p:sp>
      <p:sp>
        <p:nvSpPr>
          <p:cNvPr id="3" name="Text Placeholder 2">
            <a:extLst>
              <a:ext uri="{FF2B5EF4-FFF2-40B4-BE49-F238E27FC236}">
                <a16:creationId xmlns:a16="http://schemas.microsoft.com/office/drawing/2014/main" id="{271EE555-BC80-830B-059A-4C10C4B45CDD}"/>
              </a:ext>
            </a:extLst>
          </p:cNvPr>
          <p:cNvSpPr>
            <a:spLocks noGrp="1"/>
          </p:cNvSpPr>
          <p:nvPr>
            <p:ph type="body" idx="1"/>
          </p:nvPr>
        </p:nvSpPr>
        <p:spPr>
          <a:xfrm>
            <a:off x="154259" y="1105149"/>
            <a:ext cx="8306202" cy="3734356"/>
          </a:xfrm>
        </p:spPr>
        <p:txBody>
          <a:bodyPr wrap="square" lIns="0" tIns="0" rIns="0" bIns="0" anchor="t">
            <a:spAutoFit/>
          </a:bodyPr>
          <a:lstStyle/>
          <a:p>
            <a:pPr marL="457200" indent="-457200" algn="just">
              <a:lnSpc>
                <a:spcPct val="150000"/>
              </a:lnSpc>
              <a:buAutoNum type="arabicPeriod"/>
            </a:pPr>
            <a:r>
              <a:rPr lang="en-IN" sz="2000" b="1" dirty="0">
                <a:latin typeface="Arial" panose="020B0604020202020204" pitchFamily="34" charset="0"/>
                <a:cs typeface="Arial" panose="020B0604020202020204" pitchFamily="34" charset="0"/>
              </a:rPr>
              <a:t>Data Collection &amp; Preprocessing Module</a:t>
            </a:r>
          </a:p>
          <a:p>
            <a:pPr marL="285750" indent="-28575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Dataset Integration: </a:t>
            </a:r>
            <a:r>
              <a:rPr lang="en-IN" dirty="0">
                <a:latin typeface="Arial" panose="020B0604020202020204" pitchFamily="34" charset="0"/>
                <a:cs typeface="Arial" panose="020B0604020202020204" pitchFamily="34" charset="0"/>
              </a:rPr>
              <a:t>Imported Cresci-17 and Twibot-22 datasets; extracted user, content, and interaction data with unified schemas for extensibility.</a:t>
            </a:r>
          </a:p>
          <a:p>
            <a:pPr marL="285750" indent="-285750" algn="just">
              <a:lnSpc>
                <a:spcPct val="150000"/>
              </a:lnSpc>
              <a:buFont typeface="Arial" panose="020B0604020202020204" pitchFamily="34" charset="0"/>
              <a:buChar char="•"/>
            </a:pPr>
            <a:r>
              <a:rPr lang="en-US" b="1" dirty="0">
                <a:latin typeface="Arial" panose="020B0604020202020204" pitchFamily="34" charset="0"/>
                <a:cs typeface="Arial" panose="020B0604020202020204" pitchFamily="34" charset="0"/>
              </a:rPr>
              <a:t>Feature Engineering:</a:t>
            </a:r>
            <a:r>
              <a:rPr lang="en-US" dirty="0">
                <a:latin typeface="Arial" panose="020B0604020202020204" pitchFamily="34" charset="0"/>
                <a:cs typeface="Arial" panose="020B0604020202020204" pitchFamily="34" charset="0"/>
              </a:rPr>
              <a:t> Derived meaningful behavioral, profile, and activity-based features, and temporal patterns to enhance the representation of user behavior for effective bot detection.</a:t>
            </a:r>
            <a:endParaRPr lang="en-IN" dirty="0">
              <a:latin typeface="Arial" panose="020B0604020202020204" pitchFamily="34" charset="0"/>
              <a:cs typeface="Arial" panose="020B0604020202020204" pitchFamily="34" charset="0"/>
            </a:endParaRPr>
          </a:p>
          <a:p>
            <a:pPr marL="285750" indent="-285750" algn="just">
              <a:lnSpc>
                <a:spcPct val="150000"/>
              </a:lnSpc>
              <a:buFont typeface="Arial" panose="020B0604020202020204" pitchFamily="34" charset="0"/>
              <a:buChar char="•"/>
            </a:pPr>
            <a:r>
              <a:rPr lang="en-IN" b="1" dirty="0">
                <a:latin typeface="Arial" panose="020B0604020202020204" pitchFamily="34" charset="0"/>
                <a:cs typeface="Arial" panose="020B0604020202020204" pitchFamily="34" charset="0"/>
              </a:rPr>
              <a:t>Cleaning &amp; Text Processing: </a:t>
            </a:r>
            <a:r>
              <a:rPr lang="en-IN" dirty="0">
                <a:latin typeface="Arial" panose="020B0604020202020204" pitchFamily="34" charset="0"/>
                <a:cs typeface="Arial" panose="020B0604020202020204" pitchFamily="34" charset="0"/>
              </a:rPr>
              <a:t>Handled missing values, noise, and normalization; performed tokenization, </a:t>
            </a:r>
            <a:r>
              <a:rPr lang="en-IN" dirty="0" err="1">
                <a:latin typeface="Arial" panose="020B0604020202020204" pitchFamily="34" charset="0"/>
                <a:cs typeface="Arial" panose="020B0604020202020204" pitchFamily="34" charset="0"/>
              </a:rPr>
              <a:t>stopword</a:t>
            </a:r>
            <a:r>
              <a:rPr lang="en-IN" dirty="0">
                <a:latin typeface="Arial" panose="020B0604020202020204" pitchFamily="34" charset="0"/>
                <a:cs typeface="Arial" panose="020B0604020202020204" pitchFamily="34" charset="0"/>
              </a:rPr>
              <a:t> removal, and embedding preparation.</a:t>
            </a:r>
          </a:p>
        </p:txBody>
      </p:sp>
      <p:sp>
        <p:nvSpPr>
          <p:cNvPr id="5" name="object 8">
            <a:extLst>
              <a:ext uri="{FF2B5EF4-FFF2-40B4-BE49-F238E27FC236}">
                <a16:creationId xmlns:a16="http://schemas.microsoft.com/office/drawing/2014/main" id="{4D561DEB-87E5-41F4-3E3B-EAED51753BED}"/>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6" name="Picture 5">
            <a:extLst>
              <a:ext uri="{FF2B5EF4-FFF2-40B4-BE49-F238E27FC236}">
                <a16:creationId xmlns:a16="http://schemas.microsoft.com/office/drawing/2014/main" id="{798D7A49-C7A5-9519-2875-A5687D53989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7" name="Slide Number Placeholder 6">
            <a:extLst>
              <a:ext uri="{FF2B5EF4-FFF2-40B4-BE49-F238E27FC236}">
                <a16:creationId xmlns:a16="http://schemas.microsoft.com/office/drawing/2014/main" id="{F7194B91-208D-9264-2EA8-77A3F29BC799}"/>
              </a:ext>
            </a:extLst>
          </p:cNvPr>
          <p:cNvSpPr>
            <a:spLocks noGrp="1"/>
          </p:cNvSpPr>
          <p:nvPr>
            <p:ph type="sldNum" sz="quarter" idx="7"/>
          </p:nvPr>
        </p:nvSpPr>
        <p:spPr/>
        <p:txBody>
          <a:bodyPr/>
          <a:lstStyle/>
          <a:p>
            <a:fld id="{B6F15528-21DE-4FAA-801E-634DDDAF4B2B}" type="slidenum">
              <a:rPr lang="en-IN" smtClean="0"/>
              <a:t>16</a:t>
            </a:fld>
            <a:endParaRPr lang="en-IN"/>
          </a:p>
        </p:txBody>
      </p:sp>
    </p:spTree>
    <p:extLst>
      <p:ext uri="{BB962C8B-B14F-4D97-AF65-F5344CB8AC3E}">
        <p14:creationId xmlns:p14="http://schemas.microsoft.com/office/powerpoint/2010/main" val="3724860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5CDEF21-302A-C1B2-5E96-CA69B69EB156}"/>
              </a:ext>
            </a:extLst>
          </p:cNvPr>
          <p:cNvSpPr>
            <a:spLocks noGrp="1"/>
          </p:cNvSpPr>
          <p:nvPr>
            <p:ph type="body" idx="1"/>
          </p:nvPr>
        </p:nvSpPr>
        <p:spPr>
          <a:xfrm>
            <a:off x="261931" y="262793"/>
            <a:ext cx="8526780" cy="4744312"/>
          </a:xfrm>
        </p:spPr>
        <p:txBody>
          <a:bodyPr wrap="square" lIns="0" tIns="0" rIns="0" bIns="0" anchor="t">
            <a:spAutoFit/>
          </a:bodyPr>
          <a:lstStyle/>
          <a:p>
            <a:pPr algn="just">
              <a:lnSpc>
                <a:spcPct val="150000"/>
              </a:lnSpc>
            </a:pPr>
            <a:r>
              <a:rPr lang="en-IN" sz="2000" b="1" dirty="0">
                <a:latin typeface="Arial"/>
                <a:cs typeface="Arial"/>
              </a:rPr>
              <a:t>2. Graph Construction Module</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Construct similarity-based user graphs using k-Nearest Neighbors and cosine similarity on normalized features.</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Apply </a:t>
            </a:r>
            <a:r>
              <a:rPr lang="en-US" dirty="0" err="1">
                <a:latin typeface="Arial" panose="020B0604020202020204" pitchFamily="34" charset="0"/>
                <a:cs typeface="Arial" panose="020B0604020202020204" pitchFamily="34" charset="0"/>
              </a:rPr>
              <a:t>GraphSAGE</a:t>
            </a:r>
            <a:r>
              <a:rPr lang="en-US" dirty="0">
                <a:latin typeface="Arial" panose="020B0604020202020204" pitchFamily="34" charset="0"/>
                <a:cs typeface="Arial" panose="020B0604020202020204" pitchFamily="34" charset="0"/>
              </a:rPr>
              <a:t> to learn node embeddings that capture user attributes and neighborhood similarity.</a:t>
            </a:r>
          </a:p>
          <a:p>
            <a:pPr marL="285750" indent="-285750" algn="just">
              <a:lnSpc>
                <a:spcPct val="150000"/>
              </a:lnSpc>
              <a:buFont typeface="Arial" panose="020B0604020202020204" pitchFamily="34" charset="0"/>
              <a:buChar char="•"/>
            </a:pPr>
            <a:r>
              <a:rPr lang="en-US" dirty="0">
                <a:latin typeface="Arial" panose="020B0604020202020204" pitchFamily="34" charset="0"/>
                <a:cs typeface="Arial" panose="020B0604020202020204" pitchFamily="34" charset="0"/>
              </a:rPr>
              <a:t>Generate graph-informed representations for downstream bot classification</a:t>
            </a:r>
          </a:p>
          <a:p>
            <a:pPr marL="285750" indent="-285750" algn="just">
              <a:lnSpc>
                <a:spcPct val="150000"/>
              </a:lnSpc>
              <a:buFont typeface="Arial" panose="020B0604020202020204" pitchFamily="34" charset="0"/>
              <a:buChar char="•"/>
            </a:pPr>
            <a:endParaRPr lang="en-IN" dirty="0">
              <a:latin typeface="Arial" panose="020B0604020202020204" pitchFamily="34" charset="0"/>
              <a:cs typeface="Arial" panose="020B0604020202020204" pitchFamily="34" charset="0"/>
            </a:endParaRPr>
          </a:p>
          <a:p>
            <a:pPr algn="just">
              <a:lnSpc>
                <a:spcPct val="150000"/>
              </a:lnSpc>
            </a:pPr>
            <a:r>
              <a:rPr lang="en-US" sz="2000" b="1" dirty="0">
                <a:latin typeface="Arial"/>
                <a:cs typeface="Arial"/>
              </a:rPr>
              <a:t>3. Classification Module</a:t>
            </a:r>
          </a:p>
          <a:p>
            <a:pPr marL="285750" indent="-285750" algn="just">
              <a:lnSpc>
                <a:spcPct val="150000"/>
              </a:lnSpc>
              <a:buFont typeface="Arial" panose="020B0604020202020204" pitchFamily="34" charset="0"/>
              <a:buChar char="•"/>
            </a:pPr>
            <a:r>
              <a:rPr lang="en-US" b="1" dirty="0">
                <a:latin typeface="Arial"/>
                <a:cs typeface="Arial"/>
              </a:rPr>
              <a:t>Classification &amp; Inference : </a:t>
            </a:r>
            <a:r>
              <a:rPr lang="en-US" dirty="0">
                <a:latin typeface="Arial"/>
                <a:cs typeface="Arial"/>
              </a:rPr>
              <a:t>Random Forest model for bot–human classification using combined feature and similarity representations, supporting batch and near real-time inference.</a:t>
            </a:r>
            <a:endParaRPr lang="en-IN" dirty="0">
              <a:latin typeface="Arial"/>
              <a:cs typeface="Arial"/>
            </a:endParaRPr>
          </a:p>
        </p:txBody>
      </p:sp>
      <p:sp>
        <p:nvSpPr>
          <p:cNvPr id="4" name="object 8">
            <a:extLst>
              <a:ext uri="{FF2B5EF4-FFF2-40B4-BE49-F238E27FC236}">
                <a16:creationId xmlns:a16="http://schemas.microsoft.com/office/drawing/2014/main" id="{BBCE2E77-DF8B-0B19-B0FF-6567A191F858}"/>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5" name="Picture 4">
            <a:extLst>
              <a:ext uri="{FF2B5EF4-FFF2-40B4-BE49-F238E27FC236}">
                <a16:creationId xmlns:a16="http://schemas.microsoft.com/office/drawing/2014/main" id="{5932D6D2-4AE6-90AA-3E60-C88F81C2342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6" name="Slide Number Placeholder 5">
            <a:extLst>
              <a:ext uri="{FF2B5EF4-FFF2-40B4-BE49-F238E27FC236}">
                <a16:creationId xmlns:a16="http://schemas.microsoft.com/office/drawing/2014/main" id="{964BCF6E-E326-481A-AFE6-C1148A05BEEE}"/>
              </a:ext>
            </a:extLst>
          </p:cNvPr>
          <p:cNvSpPr>
            <a:spLocks noGrp="1"/>
          </p:cNvSpPr>
          <p:nvPr>
            <p:ph type="sldNum" sz="quarter" idx="7"/>
          </p:nvPr>
        </p:nvSpPr>
        <p:spPr/>
        <p:txBody>
          <a:bodyPr/>
          <a:lstStyle/>
          <a:p>
            <a:fld id="{B6F15528-21DE-4FAA-801E-634DDDAF4B2B}" type="slidenum">
              <a:rPr lang="en-IN" smtClean="0"/>
              <a:t>17</a:t>
            </a:fld>
            <a:endParaRPr lang="en-IN"/>
          </a:p>
        </p:txBody>
      </p:sp>
    </p:spTree>
    <p:extLst>
      <p:ext uri="{BB962C8B-B14F-4D97-AF65-F5344CB8AC3E}">
        <p14:creationId xmlns:p14="http://schemas.microsoft.com/office/powerpoint/2010/main" val="2431238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447FFFA-5310-F14F-9D99-FF37FFA9CEB3}"/>
              </a:ext>
            </a:extLst>
          </p:cNvPr>
          <p:cNvSpPr>
            <a:spLocks noGrp="1"/>
          </p:cNvSpPr>
          <p:nvPr>
            <p:ph type="body" idx="1"/>
          </p:nvPr>
        </p:nvSpPr>
        <p:spPr>
          <a:xfrm>
            <a:off x="308610" y="638355"/>
            <a:ext cx="8526780" cy="4201150"/>
          </a:xfrm>
        </p:spPr>
        <p:txBody>
          <a:bodyPr wrap="square" lIns="0" tIns="0" rIns="0" bIns="0" anchor="t">
            <a:spAutoFit/>
          </a:bodyPr>
          <a:lstStyle/>
          <a:p>
            <a:pPr algn="just">
              <a:lnSpc>
                <a:spcPct val="150000"/>
              </a:lnSpc>
            </a:pPr>
            <a:r>
              <a:rPr lang="en-IN" sz="2000" b="1" dirty="0">
                <a:latin typeface="Arial" panose="020B0604020202020204" pitchFamily="34" charset="0"/>
                <a:cs typeface="Arial" panose="020B0604020202020204" pitchFamily="34" charset="0"/>
              </a:rPr>
              <a:t>4. Model Interpretation Module</a:t>
            </a:r>
          </a:p>
          <a:p>
            <a:pPr marL="285750" indent="-285750" algn="just">
              <a:lnSpc>
                <a:spcPct val="150000"/>
              </a:lnSpc>
              <a:buFont typeface="Arial" panose="020B0604020202020204" pitchFamily="34" charset="0"/>
              <a:buChar char="•"/>
            </a:pPr>
            <a:r>
              <a:rPr lang="en-IN" dirty="0">
                <a:latin typeface="Arial" panose="020B0604020202020204" pitchFamily="34" charset="0"/>
                <a:cs typeface="Arial" panose="020B0604020202020204" pitchFamily="34" charset="0"/>
              </a:rPr>
              <a:t>Apply LIME to identify feature-level contributions.</a:t>
            </a:r>
            <a:endParaRPr lang="en-IN" dirty="0">
              <a:latin typeface="Arial" panose="020B0604020202020204" pitchFamily="34" charset="0"/>
              <a:ea typeface="Calibri"/>
              <a:cs typeface="Arial" panose="020B0604020202020204" pitchFamily="34" charset="0"/>
            </a:endParaRPr>
          </a:p>
          <a:p>
            <a:pPr marL="285750" indent="-285750" algn="just">
              <a:lnSpc>
                <a:spcPct val="150000"/>
              </a:lnSpc>
              <a:buFont typeface="Arial" panose="020B0604020202020204" pitchFamily="34" charset="0"/>
              <a:buChar char="•"/>
            </a:pPr>
            <a:r>
              <a:rPr lang="en-IN" dirty="0">
                <a:latin typeface="Arial" panose="020B0604020202020204" pitchFamily="34" charset="0"/>
                <a:cs typeface="Arial" panose="020B0604020202020204" pitchFamily="34" charset="0"/>
              </a:rPr>
              <a:t>Used LLM to summarize the LIME output for explainability</a:t>
            </a:r>
          </a:p>
          <a:p>
            <a:pPr algn="just">
              <a:lnSpc>
                <a:spcPct val="150000"/>
              </a:lnSpc>
            </a:pPr>
            <a:endParaRPr lang="en-IN" sz="2000" dirty="0">
              <a:latin typeface="Arial" panose="020B0604020202020204" pitchFamily="34" charset="0"/>
              <a:cs typeface="Arial" panose="020B0604020202020204" pitchFamily="34" charset="0"/>
            </a:endParaRPr>
          </a:p>
          <a:p>
            <a:pPr algn="just">
              <a:lnSpc>
                <a:spcPct val="150000"/>
              </a:lnSpc>
            </a:pPr>
            <a:endParaRPr lang="en-IN" sz="2000" dirty="0">
              <a:latin typeface="Arial" panose="020B0604020202020204" pitchFamily="34" charset="0"/>
              <a:cs typeface="Arial" panose="020B0604020202020204" pitchFamily="34" charset="0"/>
            </a:endParaRPr>
          </a:p>
          <a:p>
            <a:pPr algn="just">
              <a:lnSpc>
                <a:spcPct val="150000"/>
              </a:lnSpc>
            </a:pPr>
            <a:r>
              <a:rPr lang="en-IN" sz="2000" b="1" dirty="0">
                <a:latin typeface="Arial" panose="020B0604020202020204" pitchFamily="34" charset="0"/>
                <a:cs typeface="Arial" panose="020B0604020202020204" pitchFamily="34" charset="0"/>
              </a:rPr>
              <a:t>5. Evaluation Metrics Module</a:t>
            </a:r>
          </a:p>
          <a:p>
            <a:pPr marL="285750" indent="-285750" algn="just">
              <a:lnSpc>
                <a:spcPct val="150000"/>
              </a:lnSpc>
              <a:buFont typeface="Arial" panose="020B0604020202020204" pitchFamily="34" charset="0"/>
              <a:buChar char="•"/>
            </a:pPr>
            <a:r>
              <a:rPr lang="en-IN" dirty="0">
                <a:latin typeface="Arial" panose="020B0604020202020204" pitchFamily="34" charset="0"/>
                <a:cs typeface="Arial" panose="020B0604020202020204" pitchFamily="34" charset="0"/>
              </a:rPr>
              <a:t>Evaluate using accuracy, precision, recall, F1-score, and AUC</a:t>
            </a:r>
            <a:endParaRPr lang="en-IN" dirty="0">
              <a:latin typeface="Arial" panose="020B0604020202020204" pitchFamily="34" charset="0"/>
              <a:ea typeface="Calibri"/>
              <a:cs typeface="Arial" panose="020B0604020202020204" pitchFamily="34" charset="0"/>
            </a:endParaRPr>
          </a:p>
          <a:p>
            <a:pPr marL="285750" indent="-285750" algn="just">
              <a:lnSpc>
                <a:spcPct val="150000"/>
              </a:lnSpc>
              <a:buFont typeface="Arial" panose="020B0604020202020204" pitchFamily="34" charset="0"/>
              <a:buChar char="•"/>
            </a:pPr>
            <a:r>
              <a:rPr lang="en-IN" dirty="0">
                <a:latin typeface="Arial" panose="020B0604020202020204" pitchFamily="34" charset="0"/>
                <a:cs typeface="Arial" panose="020B0604020202020204" pitchFamily="34" charset="0"/>
              </a:rPr>
              <a:t>Cross-dataset testing for generalization (Cresci ↔ </a:t>
            </a:r>
            <a:r>
              <a:rPr lang="en-IN" dirty="0" err="1">
                <a:latin typeface="Arial" panose="020B0604020202020204" pitchFamily="34" charset="0"/>
                <a:cs typeface="Arial" panose="020B0604020202020204" pitchFamily="34" charset="0"/>
              </a:rPr>
              <a:t>Twibot</a:t>
            </a:r>
            <a:r>
              <a:rPr lang="en-IN" dirty="0">
                <a:latin typeface="Arial" panose="020B0604020202020204" pitchFamily="34" charset="0"/>
                <a:cs typeface="Arial" panose="020B0604020202020204" pitchFamily="34" charset="0"/>
              </a:rPr>
              <a:t>)</a:t>
            </a:r>
            <a:endParaRPr lang="en-IN" dirty="0">
              <a:latin typeface="Arial" panose="020B0604020202020204" pitchFamily="34" charset="0"/>
              <a:ea typeface="Calibri"/>
              <a:cs typeface="Arial" panose="020B0604020202020204" pitchFamily="34" charset="0"/>
            </a:endParaRPr>
          </a:p>
          <a:p>
            <a:pPr marL="285750" indent="-285750" algn="just">
              <a:lnSpc>
                <a:spcPct val="150000"/>
              </a:lnSpc>
              <a:buFont typeface="Arial" panose="020B0604020202020204" pitchFamily="34" charset="0"/>
              <a:buChar char="•"/>
            </a:pPr>
            <a:r>
              <a:rPr lang="en-IN" dirty="0">
                <a:latin typeface="Arial" panose="020B0604020202020204" pitchFamily="34" charset="0"/>
                <a:cs typeface="Arial" panose="020B0604020202020204" pitchFamily="34" charset="0"/>
              </a:rPr>
              <a:t>Assess robustness to unseen and adapting bot </a:t>
            </a:r>
            <a:r>
              <a:rPr lang="en-IN" dirty="0" err="1">
                <a:latin typeface="Arial" panose="020B0604020202020204" pitchFamily="34" charset="0"/>
                <a:cs typeface="Arial" panose="020B0604020202020204" pitchFamily="34" charset="0"/>
              </a:rPr>
              <a:t>behaviors</a:t>
            </a:r>
            <a:endParaRPr lang="en-IN" dirty="0">
              <a:latin typeface="Arial" panose="020B0604020202020204" pitchFamily="34" charset="0"/>
              <a:ea typeface="Calibri"/>
              <a:cs typeface="Arial" panose="020B0604020202020204" pitchFamily="34" charset="0"/>
            </a:endParaRPr>
          </a:p>
          <a:p>
            <a:pPr algn="just"/>
            <a:endParaRPr lang="en-IN" dirty="0">
              <a:latin typeface="Arial" panose="020B0604020202020204" pitchFamily="34" charset="0"/>
              <a:cs typeface="Arial" panose="020B0604020202020204" pitchFamily="34" charset="0"/>
            </a:endParaRPr>
          </a:p>
        </p:txBody>
      </p:sp>
      <p:sp>
        <p:nvSpPr>
          <p:cNvPr id="4" name="object 8">
            <a:extLst>
              <a:ext uri="{FF2B5EF4-FFF2-40B4-BE49-F238E27FC236}">
                <a16:creationId xmlns:a16="http://schemas.microsoft.com/office/drawing/2014/main" id="{2F7D6387-C568-594A-BE3B-07C9B555F886}"/>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5" name="Picture 4">
            <a:extLst>
              <a:ext uri="{FF2B5EF4-FFF2-40B4-BE49-F238E27FC236}">
                <a16:creationId xmlns:a16="http://schemas.microsoft.com/office/drawing/2014/main" id="{971AF4CE-C3F5-11B8-3389-D3496310019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6" name="Slide Number Placeholder 5">
            <a:extLst>
              <a:ext uri="{FF2B5EF4-FFF2-40B4-BE49-F238E27FC236}">
                <a16:creationId xmlns:a16="http://schemas.microsoft.com/office/drawing/2014/main" id="{0F10BA2D-E73B-F966-46FB-9D229CB793DE}"/>
              </a:ext>
            </a:extLst>
          </p:cNvPr>
          <p:cNvSpPr>
            <a:spLocks noGrp="1"/>
          </p:cNvSpPr>
          <p:nvPr>
            <p:ph type="sldNum" sz="quarter" idx="7"/>
          </p:nvPr>
        </p:nvSpPr>
        <p:spPr/>
        <p:txBody>
          <a:bodyPr/>
          <a:lstStyle/>
          <a:p>
            <a:fld id="{B6F15528-21DE-4FAA-801E-634DDDAF4B2B}" type="slidenum">
              <a:rPr lang="en-IN" smtClean="0"/>
              <a:t>18</a:t>
            </a:fld>
            <a:endParaRPr lang="en-IN"/>
          </a:p>
        </p:txBody>
      </p:sp>
    </p:spTree>
    <p:extLst>
      <p:ext uri="{BB962C8B-B14F-4D97-AF65-F5344CB8AC3E}">
        <p14:creationId xmlns:p14="http://schemas.microsoft.com/office/powerpoint/2010/main" val="3354829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FEEE9F-E61A-A3B2-DD39-8181568BCAAD}"/>
              </a:ext>
            </a:extLst>
          </p:cNvPr>
          <p:cNvSpPr>
            <a:spLocks noGrp="1"/>
          </p:cNvSpPr>
          <p:nvPr>
            <p:ph type="title"/>
          </p:nvPr>
        </p:nvSpPr>
        <p:spPr>
          <a:xfrm>
            <a:off x="524265" y="580868"/>
            <a:ext cx="4308641" cy="369332"/>
          </a:xfrm>
        </p:spPr>
        <p:txBody>
          <a:bodyPr wrap="square" lIns="0" tIns="0" rIns="0" bIns="0" anchor="t">
            <a:spAutoFit/>
          </a:bodyPr>
          <a:lstStyle/>
          <a:p>
            <a:r>
              <a:rPr lang="en-IN" sz="2400"/>
              <a:t>ALGORITHMS USED</a:t>
            </a:r>
          </a:p>
        </p:txBody>
      </p:sp>
      <p:sp>
        <p:nvSpPr>
          <p:cNvPr id="4" name="Rectangle 1">
            <a:extLst>
              <a:ext uri="{FF2B5EF4-FFF2-40B4-BE49-F238E27FC236}">
                <a16:creationId xmlns:a16="http://schemas.microsoft.com/office/drawing/2014/main" id="{47D305EC-8F69-E606-37CD-F12E8C05FC16}"/>
              </a:ext>
            </a:extLst>
          </p:cNvPr>
          <p:cNvSpPr>
            <a:spLocks noGrp="1" noChangeArrowheads="1"/>
          </p:cNvSpPr>
          <p:nvPr>
            <p:ph type="body" idx="1"/>
          </p:nvPr>
        </p:nvSpPr>
        <p:spPr bwMode="auto">
          <a:xfrm>
            <a:off x="522711" y="1577998"/>
            <a:ext cx="4651087" cy="25340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Tx/>
              <a:buAutoNum type="arabicPeriod"/>
              <a:tabLst/>
            </a:pPr>
            <a:r>
              <a:rPr lang="en-IN" dirty="0">
                <a:latin typeface="Arial" panose="020B0604020202020204" pitchFamily="34" charset="0"/>
                <a:cs typeface="Arial" panose="020B0604020202020204" pitchFamily="34" charset="0"/>
              </a:rPr>
              <a:t>k-Nearest </a:t>
            </a:r>
            <a:r>
              <a:rPr lang="en-IN" dirty="0" err="1">
                <a:latin typeface="Arial" panose="020B0604020202020204" pitchFamily="34" charset="0"/>
                <a:cs typeface="Arial" panose="020B0604020202020204" pitchFamily="34" charset="0"/>
              </a:rPr>
              <a:t>Neighbors</a:t>
            </a:r>
            <a:endParaRPr lang="en-US" dirty="0">
              <a:latin typeface="Arial" panose="020B0604020202020204" pitchFamily="34" charset="0"/>
              <a:cs typeface="Arial" panose="020B0604020202020204" pitchFamily="34" charset="0"/>
            </a:endParaRPr>
          </a:p>
          <a:p>
            <a:pPr marL="342900" marR="0" lvl="0" indent="-342900" algn="just" defTabSz="914400" rtl="0" eaLnBrk="0" fontAlgn="base" latinLnBrk="0" hangingPunct="0">
              <a:lnSpc>
                <a:spcPct val="150000"/>
              </a:lnSpc>
              <a:spcBef>
                <a:spcPct val="0"/>
              </a:spcBef>
              <a:spcAft>
                <a:spcPct val="0"/>
              </a:spcAft>
              <a:buClrTx/>
              <a:buSzTx/>
              <a:buFontTx/>
              <a:buAutoNum type="arabicPeriod"/>
              <a:tabLst/>
            </a:pPr>
            <a:r>
              <a:rPr kumimoji="0" lang="en-US" altLang="en-US" sz="1800" b="0" i="0" u="none" strike="noStrike" cap="none" normalizeH="0" baseline="0" dirty="0" err="1">
                <a:ln>
                  <a:noFill/>
                </a:ln>
                <a:effectLst/>
                <a:latin typeface="Arial"/>
                <a:cs typeface="Arial"/>
              </a:rPr>
              <a:t>GraphSAGE</a:t>
            </a:r>
            <a:endParaRPr kumimoji="0" lang="en-US" altLang="en-US" sz="1800" b="0" i="0" u="none" strike="noStrike" cap="none" normalizeH="0" baseline="0" dirty="0">
              <a:ln>
                <a:noFill/>
              </a:ln>
              <a:effectLst/>
              <a:latin typeface="Arial"/>
              <a:cs typeface="Arial"/>
            </a:endParaRPr>
          </a:p>
          <a:p>
            <a:pPr marL="342900" marR="0" lvl="0" indent="-342900" algn="just" defTabSz="914400" rtl="0" eaLnBrk="0" fontAlgn="base" latinLnBrk="0" hangingPunct="0">
              <a:lnSpc>
                <a:spcPct val="150000"/>
              </a:lnSpc>
              <a:spcBef>
                <a:spcPct val="0"/>
              </a:spcBef>
              <a:spcAft>
                <a:spcPct val="0"/>
              </a:spcAft>
              <a:buClrTx/>
              <a:buSzTx/>
              <a:buFontTx/>
              <a:buAutoNum type="arabicPeriod"/>
              <a:tabLst/>
            </a:pPr>
            <a:r>
              <a:rPr lang="en-US" altLang="en-US" sz="1800" b="0" i="0" u="none" strike="noStrike" cap="none" normalizeH="0" baseline="0" dirty="0">
                <a:ln>
                  <a:noFill/>
                </a:ln>
                <a:effectLst/>
                <a:latin typeface="Arial"/>
                <a:cs typeface="Arial"/>
              </a:rPr>
              <a:t>Random </a:t>
            </a:r>
            <a:r>
              <a:rPr lang="en-US" altLang="en-US" dirty="0">
                <a:latin typeface="Arial"/>
                <a:cs typeface="Arial"/>
              </a:rPr>
              <a:t>F</a:t>
            </a:r>
            <a:r>
              <a:rPr lang="en-US" altLang="en-US" sz="1800" b="0" i="0" u="none" strike="noStrike" cap="none" normalizeH="0" baseline="0" dirty="0">
                <a:ln>
                  <a:noFill/>
                </a:ln>
                <a:effectLst/>
                <a:latin typeface="Arial"/>
                <a:cs typeface="Arial"/>
              </a:rPr>
              <a:t>orest</a:t>
            </a:r>
          </a:p>
          <a:p>
            <a:pPr marL="342900" marR="0" lvl="0" indent="-342900" algn="just" defTabSz="914400" rtl="0" eaLnBrk="0" fontAlgn="base" latinLnBrk="0" hangingPunct="0">
              <a:lnSpc>
                <a:spcPct val="150000"/>
              </a:lnSpc>
              <a:spcBef>
                <a:spcPct val="0"/>
              </a:spcBef>
              <a:spcAft>
                <a:spcPct val="0"/>
              </a:spcAft>
              <a:buClrTx/>
              <a:buSzTx/>
              <a:buFontTx/>
              <a:buAutoNum type="arabicPeriod"/>
              <a:tabLst/>
            </a:pPr>
            <a:r>
              <a:rPr lang="en-US" altLang="en-US" sz="1800" b="0" i="0" u="none" strike="noStrike" cap="none" normalizeH="0" baseline="0" dirty="0">
                <a:ln>
                  <a:noFill/>
                </a:ln>
                <a:effectLst/>
                <a:latin typeface="Arial"/>
                <a:cs typeface="Arial"/>
              </a:rPr>
              <a:t>MI </a:t>
            </a:r>
            <a:r>
              <a:rPr lang="en-US" altLang="en-US" dirty="0">
                <a:latin typeface="Arial"/>
                <a:cs typeface="Arial"/>
              </a:rPr>
              <a:t>classification</a:t>
            </a:r>
            <a:endParaRPr lang="en-US" altLang="en-US" sz="1800" b="0" i="0" u="none" strike="noStrike" cap="none" normalizeH="0" baseline="0" dirty="0">
              <a:ln>
                <a:noFill/>
              </a:ln>
              <a:effectLst/>
              <a:latin typeface="Arial"/>
              <a:cs typeface="Arial"/>
            </a:endParaRPr>
          </a:p>
          <a:p>
            <a:pPr marL="342900" marR="0" lvl="0" indent="-342900" algn="just" defTabSz="914400" rtl="0" eaLnBrk="0" fontAlgn="base" latinLnBrk="0" hangingPunct="0">
              <a:lnSpc>
                <a:spcPct val="150000"/>
              </a:lnSpc>
              <a:spcBef>
                <a:spcPct val="0"/>
              </a:spcBef>
              <a:spcAft>
                <a:spcPct val="0"/>
              </a:spcAft>
              <a:buClrTx/>
              <a:buSzTx/>
              <a:buFontTx/>
              <a:buAutoNum type="arabicPeriod"/>
              <a:tabLst/>
            </a:pPr>
            <a:r>
              <a:rPr lang="en-US" altLang="en-US" dirty="0">
                <a:latin typeface="Arial"/>
                <a:cs typeface="Arial"/>
              </a:rPr>
              <a:t>LIME</a:t>
            </a:r>
            <a:endParaRPr lang="en-US" altLang="en-US" sz="1800" b="0" i="0" u="none" strike="noStrike" cap="none" normalizeH="0" baseline="0" dirty="0">
              <a:ln>
                <a:noFill/>
              </a:ln>
              <a:effectLst/>
              <a:latin typeface="Arial"/>
              <a:cs typeface="Arial"/>
            </a:endParaRPr>
          </a:p>
          <a:p>
            <a:pPr marL="342900" marR="0" lvl="0" indent="-342900" algn="just" defTabSz="914400" rtl="0" eaLnBrk="0" fontAlgn="base" latinLnBrk="0" hangingPunct="0">
              <a:lnSpc>
                <a:spcPct val="150000"/>
              </a:lnSpc>
              <a:spcBef>
                <a:spcPct val="0"/>
              </a:spcBef>
              <a:spcAft>
                <a:spcPct val="0"/>
              </a:spcAft>
              <a:buClrTx/>
              <a:buSzTx/>
              <a:buFontTx/>
              <a:buAutoNum type="arabicPeriod"/>
              <a:tabLst/>
            </a:pPr>
            <a:endParaRPr lang="en-US" altLang="en-US" sz="1800" b="0" i="0" u="none" strike="noStrike" cap="none" normalizeH="0" baseline="0" dirty="0">
              <a:ln>
                <a:noFill/>
              </a:ln>
              <a:effectLst/>
              <a:latin typeface="Arial"/>
              <a:cs typeface="Arial"/>
            </a:endParaRPr>
          </a:p>
        </p:txBody>
      </p:sp>
      <p:sp>
        <p:nvSpPr>
          <p:cNvPr id="5" name="object 8">
            <a:extLst>
              <a:ext uri="{FF2B5EF4-FFF2-40B4-BE49-F238E27FC236}">
                <a16:creationId xmlns:a16="http://schemas.microsoft.com/office/drawing/2014/main" id="{2B485AF7-F733-61C2-2644-857ACD622731}"/>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6" name="Picture 5">
            <a:extLst>
              <a:ext uri="{FF2B5EF4-FFF2-40B4-BE49-F238E27FC236}">
                <a16:creationId xmlns:a16="http://schemas.microsoft.com/office/drawing/2014/main" id="{5B3850D4-EFC7-9A33-E98A-4D0F706A00A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7" name="Slide Number Placeholder 6">
            <a:extLst>
              <a:ext uri="{FF2B5EF4-FFF2-40B4-BE49-F238E27FC236}">
                <a16:creationId xmlns:a16="http://schemas.microsoft.com/office/drawing/2014/main" id="{60F73C7C-5430-850C-B322-125619D793A1}"/>
              </a:ext>
            </a:extLst>
          </p:cNvPr>
          <p:cNvSpPr>
            <a:spLocks noGrp="1"/>
          </p:cNvSpPr>
          <p:nvPr>
            <p:ph type="sldNum" sz="quarter" idx="7"/>
          </p:nvPr>
        </p:nvSpPr>
        <p:spPr/>
        <p:txBody>
          <a:bodyPr/>
          <a:lstStyle/>
          <a:p>
            <a:fld id="{B6F15528-21DE-4FAA-801E-634DDDAF4B2B}" type="slidenum">
              <a:rPr lang="en-IN" smtClean="0"/>
              <a:t>19</a:t>
            </a:fld>
            <a:endParaRPr lang="en-IN"/>
          </a:p>
        </p:txBody>
      </p:sp>
    </p:spTree>
    <p:extLst>
      <p:ext uri="{BB962C8B-B14F-4D97-AF65-F5344CB8AC3E}">
        <p14:creationId xmlns:p14="http://schemas.microsoft.com/office/powerpoint/2010/main" val="42359768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6FDFD-A6E2-FD6D-956D-4A54143ADF91}"/>
              </a:ext>
            </a:extLst>
          </p:cNvPr>
          <p:cNvSpPr>
            <a:spLocks noGrp="1"/>
          </p:cNvSpPr>
          <p:nvPr>
            <p:ph type="title"/>
          </p:nvPr>
        </p:nvSpPr>
        <p:spPr>
          <a:xfrm>
            <a:off x="227524" y="410517"/>
            <a:ext cx="4308641" cy="430887"/>
          </a:xfrm>
        </p:spPr>
        <p:txBody>
          <a:bodyPr/>
          <a:lstStyle/>
          <a:p>
            <a:r>
              <a:rPr lang="en-IN" dirty="0"/>
              <a:t>Algorithmic description</a:t>
            </a:r>
          </a:p>
        </p:txBody>
      </p:sp>
      <p:sp>
        <p:nvSpPr>
          <p:cNvPr id="3" name="Text Placeholder 2">
            <a:extLst>
              <a:ext uri="{FF2B5EF4-FFF2-40B4-BE49-F238E27FC236}">
                <a16:creationId xmlns:a16="http://schemas.microsoft.com/office/drawing/2014/main" id="{E2EED9AC-3D22-9934-F168-28EBE43B4B3B}"/>
              </a:ext>
            </a:extLst>
          </p:cNvPr>
          <p:cNvSpPr>
            <a:spLocks noGrp="1"/>
          </p:cNvSpPr>
          <p:nvPr>
            <p:ph type="body" idx="1"/>
          </p:nvPr>
        </p:nvSpPr>
        <p:spPr>
          <a:xfrm>
            <a:off x="308725" y="957462"/>
            <a:ext cx="8526780" cy="5358518"/>
          </a:xfrm>
        </p:spPr>
        <p:txBody>
          <a:bodyPr/>
          <a:lstStyle/>
          <a:p>
            <a:pPr>
              <a:lnSpc>
                <a:spcPct val="150000"/>
              </a:lnSpc>
            </a:pPr>
            <a:r>
              <a:rPr lang="en-IN" b="1" dirty="0"/>
              <a:t>k-Nearest </a:t>
            </a:r>
            <a:r>
              <a:rPr lang="en-IN" b="1" dirty="0" err="1"/>
              <a:t>Neighbors</a:t>
            </a:r>
            <a:r>
              <a:rPr lang="en-IN" b="1" dirty="0"/>
              <a:t> (</a:t>
            </a:r>
            <a:r>
              <a:rPr lang="en-IN" b="1" dirty="0" err="1"/>
              <a:t>kNN</a:t>
            </a:r>
            <a:r>
              <a:rPr lang="en-IN" b="1" dirty="0"/>
              <a:t>)</a:t>
            </a:r>
            <a:endParaRPr lang="en-IN" dirty="0"/>
          </a:p>
          <a:p>
            <a:pPr marL="342900" indent="-342900" algn="just">
              <a:lnSpc>
                <a:spcPct val="150000"/>
              </a:lnSpc>
              <a:buFont typeface="+mj-lt"/>
              <a:buAutoNum type="arabicPeriod"/>
            </a:pPr>
            <a:r>
              <a:rPr lang="en-US" dirty="0"/>
              <a:t>Constructs similarity graphs by linking users with similar feature representations.</a:t>
            </a:r>
          </a:p>
          <a:p>
            <a:pPr marL="342900" indent="-342900" algn="just">
              <a:lnSpc>
                <a:spcPct val="150000"/>
              </a:lnSpc>
              <a:buFont typeface="+mj-lt"/>
              <a:buAutoNum type="arabicPeriod"/>
            </a:pPr>
            <a:r>
              <a:rPr lang="en-US" dirty="0"/>
              <a:t>Uses cosine similarity on normalized user attributes.</a:t>
            </a:r>
          </a:p>
          <a:p>
            <a:pPr marL="342900" indent="-342900" algn="just">
              <a:lnSpc>
                <a:spcPct val="150000"/>
              </a:lnSpc>
              <a:buFont typeface="+mj-lt"/>
              <a:buAutoNum type="arabicPeriod"/>
            </a:pPr>
            <a:r>
              <a:rPr lang="en-US" dirty="0"/>
              <a:t>Enables modeling of implicit relationships without explicit follower graphs.</a:t>
            </a:r>
          </a:p>
          <a:p>
            <a:pPr marL="285750" indent="-285750" algn="just">
              <a:lnSpc>
                <a:spcPct val="150000"/>
              </a:lnSpc>
              <a:buFont typeface="Arial" panose="020B0604020202020204" pitchFamily="34" charset="0"/>
              <a:buChar char="•"/>
            </a:pPr>
            <a:endParaRPr lang="en-US" dirty="0"/>
          </a:p>
          <a:p>
            <a:pPr>
              <a:lnSpc>
                <a:spcPct val="150000"/>
              </a:lnSpc>
            </a:pPr>
            <a:r>
              <a:rPr lang="en-US" b="1" dirty="0" err="1"/>
              <a:t>GraphSAGE</a:t>
            </a:r>
            <a:endParaRPr lang="en-US" b="1" dirty="0"/>
          </a:p>
          <a:p>
            <a:pPr marL="342900" indent="-342900" algn="just">
              <a:lnSpc>
                <a:spcPct val="150000"/>
              </a:lnSpc>
              <a:buFont typeface="+mj-lt"/>
              <a:buAutoNum type="arabicPeriod"/>
            </a:pPr>
            <a:r>
              <a:rPr lang="en-US" dirty="0"/>
              <a:t>Learns node embeddings by aggregating information from similar users</a:t>
            </a:r>
          </a:p>
          <a:p>
            <a:pPr marL="342900" indent="-342900" algn="just">
              <a:lnSpc>
                <a:spcPct val="150000"/>
              </a:lnSpc>
              <a:buFont typeface="+mj-lt"/>
              <a:buAutoNum type="arabicPeriod"/>
            </a:pPr>
            <a:r>
              <a:rPr lang="en-US" dirty="0"/>
              <a:t>Captures both individual attributes and neighborhood similarity</a:t>
            </a:r>
          </a:p>
          <a:p>
            <a:pPr marL="342900" indent="-342900" algn="just">
              <a:lnSpc>
                <a:spcPct val="150000"/>
              </a:lnSpc>
              <a:buFont typeface="+mj-lt"/>
              <a:buAutoNum type="arabicPeriod"/>
            </a:pPr>
            <a:r>
              <a:rPr lang="en-US" dirty="0"/>
              <a:t>Supports scalable graph representation learning for large datasets</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a:lnSpc>
                <a:spcPct val="150000"/>
              </a:lnSpc>
            </a:pPr>
            <a:endParaRPr lang="en-IN" dirty="0"/>
          </a:p>
        </p:txBody>
      </p:sp>
      <p:sp>
        <p:nvSpPr>
          <p:cNvPr id="5" name="Slide Number Placeholder 4">
            <a:extLst>
              <a:ext uri="{FF2B5EF4-FFF2-40B4-BE49-F238E27FC236}">
                <a16:creationId xmlns:a16="http://schemas.microsoft.com/office/drawing/2014/main" id="{5E52F039-55A5-75E2-E844-9599C8C6B1C9}"/>
              </a:ext>
            </a:extLst>
          </p:cNvPr>
          <p:cNvSpPr>
            <a:spLocks noGrp="1"/>
          </p:cNvSpPr>
          <p:nvPr>
            <p:ph type="sldNum" sz="quarter" idx="7"/>
          </p:nvPr>
        </p:nvSpPr>
        <p:spPr/>
        <p:txBody>
          <a:bodyPr/>
          <a:lstStyle/>
          <a:p>
            <a:fld id="{B6F15528-21DE-4FAA-801E-634DDDAF4B2B}" type="slidenum">
              <a:rPr lang="en-IN" smtClean="0"/>
              <a:t>20</a:t>
            </a:fld>
            <a:endParaRPr lang="en-IN"/>
          </a:p>
        </p:txBody>
      </p:sp>
      <p:sp>
        <p:nvSpPr>
          <p:cNvPr id="6" name="object 5">
            <a:extLst>
              <a:ext uri="{FF2B5EF4-FFF2-40B4-BE49-F238E27FC236}">
                <a16:creationId xmlns:a16="http://schemas.microsoft.com/office/drawing/2014/main" id="{6FF177E1-51DA-8A0F-C461-0C9A9E440F21}"/>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7" name="Picture 6">
            <a:extLst>
              <a:ext uri="{FF2B5EF4-FFF2-40B4-BE49-F238E27FC236}">
                <a16:creationId xmlns:a16="http://schemas.microsoft.com/office/drawing/2014/main" id="{B769ED37-90C2-6822-D487-CD7E4EE4C6F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Tree>
    <p:extLst>
      <p:ext uri="{BB962C8B-B14F-4D97-AF65-F5344CB8AC3E}">
        <p14:creationId xmlns:p14="http://schemas.microsoft.com/office/powerpoint/2010/main" val="51482634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D0391D7-A6DC-AE50-E3BB-5F3EE4E06605}"/>
              </a:ext>
            </a:extLst>
          </p:cNvPr>
          <p:cNvSpPr>
            <a:spLocks noGrp="1"/>
          </p:cNvSpPr>
          <p:nvPr>
            <p:ph type="body" idx="1"/>
          </p:nvPr>
        </p:nvSpPr>
        <p:spPr>
          <a:xfrm>
            <a:off x="308725" y="275064"/>
            <a:ext cx="8526780" cy="5358518"/>
          </a:xfrm>
        </p:spPr>
        <p:txBody>
          <a:bodyPr/>
          <a:lstStyle/>
          <a:p>
            <a:pPr>
              <a:lnSpc>
                <a:spcPct val="150000"/>
              </a:lnSpc>
            </a:pPr>
            <a:r>
              <a:rPr lang="en-US" b="1" dirty="0"/>
              <a:t>Random Forest</a:t>
            </a:r>
          </a:p>
          <a:p>
            <a:pPr marL="342900" indent="-342900" algn="just">
              <a:lnSpc>
                <a:spcPct val="150000"/>
              </a:lnSpc>
              <a:buFont typeface="+mj-lt"/>
              <a:buAutoNum type="arabicPeriod"/>
            </a:pPr>
            <a:r>
              <a:rPr lang="en-US" dirty="0"/>
              <a:t>Ensemble of decision trees for robust bot classification</a:t>
            </a:r>
          </a:p>
          <a:p>
            <a:pPr marL="342900" indent="-342900" algn="just">
              <a:lnSpc>
                <a:spcPct val="150000"/>
              </a:lnSpc>
              <a:buFont typeface="+mj-lt"/>
              <a:buAutoNum type="arabicPeriod"/>
            </a:pPr>
            <a:r>
              <a:rPr lang="en-US" dirty="0"/>
              <a:t>Handles non-linear feature interactions effectively</a:t>
            </a:r>
          </a:p>
          <a:p>
            <a:pPr marL="342900" indent="-342900" algn="just">
              <a:lnSpc>
                <a:spcPct val="150000"/>
              </a:lnSpc>
              <a:buFont typeface="+mj-lt"/>
              <a:buAutoNum type="arabicPeriod"/>
            </a:pPr>
            <a:r>
              <a:rPr lang="en-US" dirty="0"/>
              <a:t>Provides stable performance and serves as a strong baseline model</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algn="just">
              <a:lnSpc>
                <a:spcPct val="150000"/>
              </a:lnSpc>
            </a:pPr>
            <a:r>
              <a:rPr lang="en-US" b="1" dirty="0"/>
              <a:t>Mutual information selection</a:t>
            </a:r>
          </a:p>
          <a:p>
            <a:pPr marL="285750" indent="-285750" algn="just">
              <a:lnSpc>
                <a:spcPct val="150000"/>
              </a:lnSpc>
              <a:buFont typeface="Arial" panose="020B0604020202020204" pitchFamily="34" charset="0"/>
              <a:buChar char="•"/>
            </a:pPr>
            <a:r>
              <a:rPr lang="en-US" dirty="0"/>
              <a:t>Measures statistical dependency between each feature and the target label.</a:t>
            </a:r>
          </a:p>
          <a:p>
            <a:pPr marL="285750" indent="-285750" algn="just">
              <a:lnSpc>
                <a:spcPct val="150000"/>
              </a:lnSpc>
              <a:buFont typeface="Arial" panose="020B0604020202020204" pitchFamily="34" charset="0"/>
              <a:buChar char="•"/>
            </a:pPr>
            <a:r>
              <a:rPr lang="en-US" dirty="0"/>
              <a:t>Ranks features by information gain to retain the most predictive signals.</a:t>
            </a:r>
          </a:p>
          <a:p>
            <a:pPr marL="285750" indent="-285750" algn="just">
              <a:lnSpc>
                <a:spcPct val="150000"/>
              </a:lnSpc>
              <a:buFont typeface="Arial" panose="020B0604020202020204" pitchFamily="34" charset="0"/>
              <a:buChar char="•"/>
            </a:pPr>
            <a:r>
              <a:rPr lang="en-US" dirty="0"/>
              <a:t>Reduces dimensionality while preserving discriminative power for classification.</a:t>
            </a:r>
          </a:p>
          <a:p>
            <a:pPr marL="285750" indent="-285750" algn="just">
              <a:lnSpc>
                <a:spcPct val="150000"/>
              </a:lnSpc>
              <a:buFont typeface="Arial" panose="020B0604020202020204" pitchFamily="34" charset="0"/>
              <a:buChar char="•"/>
            </a:pPr>
            <a:endParaRPr lang="en-US" dirty="0"/>
          </a:p>
          <a:p>
            <a:pPr marL="285750" indent="-285750" algn="just">
              <a:lnSpc>
                <a:spcPct val="150000"/>
              </a:lnSpc>
              <a:buFont typeface="Arial" panose="020B0604020202020204" pitchFamily="34" charset="0"/>
              <a:buChar char="•"/>
            </a:pPr>
            <a:endParaRPr lang="en-US" dirty="0"/>
          </a:p>
          <a:p>
            <a:pPr>
              <a:lnSpc>
                <a:spcPct val="150000"/>
              </a:lnSpc>
            </a:pPr>
            <a:endParaRPr lang="en-IN" dirty="0"/>
          </a:p>
        </p:txBody>
      </p:sp>
      <p:sp>
        <p:nvSpPr>
          <p:cNvPr id="4" name="object 5">
            <a:extLst>
              <a:ext uri="{FF2B5EF4-FFF2-40B4-BE49-F238E27FC236}">
                <a16:creationId xmlns:a16="http://schemas.microsoft.com/office/drawing/2014/main" id="{281158EF-EB1E-D11E-DBF3-B469E2B49C4A}"/>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5" name="Picture 4">
            <a:extLst>
              <a:ext uri="{FF2B5EF4-FFF2-40B4-BE49-F238E27FC236}">
                <a16:creationId xmlns:a16="http://schemas.microsoft.com/office/drawing/2014/main" id="{52C15EE3-E529-91CD-E065-A1870BFA247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6" name="Slide Number Placeholder 5">
            <a:extLst>
              <a:ext uri="{FF2B5EF4-FFF2-40B4-BE49-F238E27FC236}">
                <a16:creationId xmlns:a16="http://schemas.microsoft.com/office/drawing/2014/main" id="{1A40D1E3-C7A0-7DB2-20BA-FF13206FB893}"/>
              </a:ext>
            </a:extLst>
          </p:cNvPr>
          <p:cNvSpPr>
            <a:spLocks noGrp="1"/>
          </p:cNvSpPr>
          <p:nvPr>
            <p:ph type="sldNum" sz="quarter" idx="7"/>
          </p:nvPr>
        </p:nvSpPr>
        <p:spPr/>
        <p:txBody>
          <a:bodyPr/>
          <a:lstStyle/>
          <a:p>
            <a:fld id="{B6F15528-21DE-4FAA-801E-634DDDAF4B2B}" type="slidenum">
              <a:rPr lang="en-IN" smtClean="0"/>
              <a:t>21</a:t>
            </a:fld>
            <a:endParaRPr lang="en-IN"/>
          </a:p>
        </p:txBody>
      </p:sp>
    </p:spTree>
    <p:extLst>
      <p:ext uri="{BB962C8B-B14F-4D97-AF65-F5344CB8AC3E}">
        <p14:creationId xmlns:p14="http://schemas.microsoft.com/office/powerpoint/2010/main" val="284977252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64A2C76-43E0-5907-5D6B-15D28D04B5D7}"/>
              </a:ext>
            </a:extLst>
          </p:cNvPr>
          <p:cNvSpPr>
            <a:spLocks noGrp="1"/>
          </p:cNvSpPr>
          <p:nvPr>
            <p:ph type="body" idx="1"/>
          </p:nvPr>
        </p:nvSpPr>
        <p:spPr>
          <a:xfrm>
            <a:off x="308610" y="578320"/>
            <a:ext cx="8526780" cy="788036"/>
          </a:xfrm>
        </p:spPr>
        <p:txBody>
          <a:bodyPr/>
          <a:lstStyle/>
          <a:p>
            <a:pPr marL="285750" indent="-285750">
              <a:lnSpc>
                <a:spcPct val="150000"/>
              </a:lnSpc>
              <a:buFont typeface="Arial" panose="020B0604020202020204" pitchFamily="34" charset="0"/>
              <a:buChar char="•"/>
            </a:pPr>
            <a:endParaRPr lang="en-US" dirty="0"/>
          </a:p>
          <a:p>
            <a:pPr>
              <a:lnSpc>
                <a:spcPct val="150000"/>
              </a:lnSpc>
            </a:pPr>
            <a:endParaRPr lang="en-IN" dirty="0"/>
          </a:p>
        </p:txBody>
      </p:sp>
      <p:sp>
        <p:nvSpPr>
          <p:cNvPr id="4" name="object 5">
            <a:extLst>
              <a:ext uri="{FF2B5EF4-FFF2-40B4-BE49-F238E27FC236}">
                <a16:creationId xmlns:a16="http://schemas.microsoft.com/office/drawing/2014/main" id="{A8637B93-FAA2-68AB-5DE1-B353A56F1EB7}"/>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5" name="Picture 4">
            <a:extLst>
              <a:ext uri="{FF2B5EF4-FFF2-40B4-BE49-F238E27FC236}">
                <a16:creationId xmlns:a16="http://schemas.microsoft.com/office/drawing/2014/main" id="{E4AEEAB7-33DE-D2B3-953E-A4E7BE79BF9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6" name="TextBox 5">
            <a:extLst>
              <a:ext uri="{FF2B5EF4-FFF2-40B4-BE49-F238E27FC236}">
                <a16:creationId xmlns:a16="http://schemas.microsoft.com/office/drawing/2014/main" id="{5C1E0DDD-4783-5CDA-31AE-B7744430AE37}"/>
              </a:ext>
            </a:extLst>
          </p:cNvPr>
          <p:cNvSpPr txBox="1"/>
          <p:nvPr/>
        </p:nvSpPr>
        <p:spPr>
          <a:xfrm>
            <a:off x="480742" y="1157248"/>
            <a:ext cx="7950824" cy="1703030"/>
          </a:xfrm>
          <a:prstGeom prst="rect">
            <a:avLst/>
          </a:prstGeom>
          <a:noFill/>
        </p:spPr>
        <p:txBody>
          <a:bodyPr wrap="square" rtlCol="0">
            <a:spAutoFit/>
          </a:bodyPr>
          <a:lstStyle/>
          <a:p>
            <a:pPr>
              <a:lnSpc>
                <a:spcPct val="150000"/>
              </a:lnSpc>
            </a:pPr>
            <a:r>
              <a:rPr lang="en-IN" b="1" dirty="0">
                <a:latin typeface="Arial" panose="020B0604020202020204" pitchFamily="34" charset="0"/>
                <a:cs typeface="Arial" panose="020B0604020202020204" pitchFamily="34" charset="0"/>
              </a:rPr>
              <a:t>LIME</a:t>
            </a:r>
          </a:p>
          <a:p>
            <a:pPr marL="285750" indent="-285750">
              <a:lnSpc>
                <a:spcPct val="150000"/>
              </a:lnSpc>
              <a:buFont typeface="Arial" panose="020B0604020202020204" pitchFamily="34" charset="0"/>
              <a:buChar char="•"/>
            </a:pPr>
            <a:r>
              <a:rPr lang="en-US" dirty="0"/>
              <a:t>Generates local surrogate models to explain individual predictions.</a:t>
            </a:r>
          </a:p>
          <a:p>
            <a:pPr marL="285750" indent="-285750">
              <a:lnSpc>
                <a:spcPct val="150000"/>
              </a:lnSpc>
              <a:buFont typeface="Arial" panose="020B0604020202020204" pitchFamily="34" charset="0"/>
              <a:buChar char="•"/>
            </a:pPr>
            <a:r>
              <a:rPr lang="en-US" dirty="0"/>
              <a:t>Perturbs input features to estimate their influence on outputs.</a:t>
            </a:r>
          </a:p>
          <a:p>
            <a:pPr marL="285750" indent="-285750">
              <a:lnSpc>
                <a:spcPct val="150000"/>
              </a:lnSpc>
              <a:buFont typeface="Arial" panose="020B0604020202020204" pitchFamily="34" charset="0"/>
              <a:buChar char="•"/>
            </a:pPr>
            <a:r>
              <a:rPr lang="en-US" dirty="0"/>
              <a:t>Provides human-interpretable insights for complex black-box models.</a:t>
            </a:r>
            <a:endParaRPr lang="en-IN" dirty="0">
              <a:latin typeface="Arial" panose="020B0604020202020204" pitchFamily="34" charset="0"/>
              <a:cs typeface="Arial" panose="020B0604020202020204" pitchFamily="34" charset="0"/>
            </a:endParaRPr>
          </a:p>
        </p:txBody>
      </p:sp>
      <p:sp>
        <p:nvSpPr>
          <p:cNvPr id="7" name="Slide Number Placeholder 6">
            <a:extLst>
              <a:ext uri="{FF2B5EF4-FFF2-40B4-BE49-F238E27FC236}">
                <a16:creationId xmlns:a16="http://schemas.microsoft.com/office/drawing/2014/main" id="{3C22564E-4DD6-CFB5-BCD1-0084804E08B0}"/>
              </a:ext>
            </a:extLst>
          </p:cNvPr>
          <p:cNvSpPr>
            <a:spLocks noGrp="1"/>
          </p:cNvSpPr>
          <p:nvPr>
            <p:ph type="sldNum" sz="quarter" idx="7"/>
          </p:nvPr>
        </p:nvSpPr>
        <p:spPr/>
        <p:txBody>
          <a:bodyPr/>
          <a:lstStyle/>
          <a:p>
            <a:fld id="{B6F15528-21DE-4FAA-801E-634DDDAF4B2B}" type="slidenum">
              <a:rPr lang="en-IN" smtClean="0"/>
              <a:t>22</a:t>
            </a:fld>
            <a:endParaRPr lang="en-IN"/>
          </a:p>
        </p:txBody>
      </p:sp>
    </p:spTree>
    <p:extLst>
      <p:ext uri="{BB962C8B-B14F-4D97-AF65-F5344CB8AC3E}">
        <p14:creationId xmlns:p14="http://schemas.microsoft.com/office/powerpoint/2010/main" val="2019521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AAC2662-CAAD-9828-18E9-40EC3B4C31A6}"/>
              </a:ext>
            </a:extLst>
          </p:cNvPr>
          <p:cNvSpPr txBox="1"/>
          <p:nvPr/>
        </p:nvSpPr>
        <p:spPr>
          <a:xfrm>
            <a:off x="267629" y="279855"/>
            <a:ext cx="8683083" cy="4708981"/>
          </a:xfrm>
          <a:prstGeom prst="rect">
            <a:avLst/>
          </a:prstGeom>
          <a:noFill/>
        </p:spPr>
        <p:txBody>
          <a:bodyPr wrap="square" rtlCol="0">
            <a:spAutoFit/>
          </a:bodyPr>
          <a:lstStyle/>
          <a:p>
            <a:pPr algn="l"/>
            <a:r>
              <a:rPr lang="en-IN" sz="1600" b="1" dirty="0">
                <a:latin typeface="Arial" panose="020B0604020202020204" pitchFamily="34" charset="0"/>
                <a:cs typeface="Arial" panose="020B0604020202020204" pitchFamily="34" charset="0"/>
              </a:rPr>
              <a:t>Proposed algorithm</a:t>
            </a:r>
          </a:p>
          <a:p>
            <a:br>
              <a:rPr lang="en-IN" sz="1400" b="1" dirty="0">
                <a:latin typeface="Arial" panose="020B0604020202020204" pitchFamily="34" charset="0"/>
                <a:cs typeface="Arial" panose="020B0604020202020204" pitchFamily="34" charset="0"/>
              </a:rPr>
            </a:br>
            <a:r>
              <a:rPr lang="en-US" sz="1400" b="1" dirty="0">
                <a:latin typeface="Arial" panose="020B0604020202020204" pitchFamily="34" charset="0"/>
                <a:cs typeface="Arial" panose="020B0604020202020204" pitchFamily="34" charset="0"/>
              </a:rPr>
              <a:t>Input:</a:t>
            </a:r>
            <a:r>
              <a:rPr lang="en-US" sz="1400"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User ID</a:t>
            </a:r>
            <a:endParaRPr lang="en-IN" sz="1800" dirty="0">
              <a:latin typeface="Arial" panose="020B0604020202020204" pitchFamily="34" charset="0"/>
              <a:cs typeface="Arial" panose="020B0604020202020204" pitchFamily="34" charset="0"/>
            </a:endParaRPr>
          </a:p>
          <a:p>
            <a:pPr algn="l"/>
            <a:endParaRPr lang="en-US" sz="1400" dirty="0">
              <a:latin typeface="Arial" panose="020B0604020202020204" pitchFamily="34" charset="0"/>
              <a:cs typeface="Arial" panose="020B0604020202020204" pitchFamily="34" charset="0"/>
            </a:endParaRPr>
          </a:p>
          <a:p>
            <a:pPr algn="l"/>
            <a:r>
              <a:rPr lang="en-US" sz="1400" b="1" dirty="0">
                <a:latin typeface="Arial" panose="020B0604020202020204" pitchFamily="34" charset="0"/>
                <a:cs typeface="Arial" panose="020B0604020202020204" pitchFamily="34" charset="0"/>
              </a:rPr>
              <a:t>Output: </a:t>
            </a:r>
            <a:r>
              <a:rPr lang="en-IN" sz="1400" dirty="0">
                <a:latin typeface="Arial" panose="020B0604020202020204" pitchFamily="34" charset="0"/>
                <a:cs typeface="Arial" panose="020B0604020202020204" pitchFamily="34" charset="0"/>
              </a:rPr>
              <a:t>Account classification Whether Human or Bot with Explanation</a:t>
            </a:r>
            <a:r>
              <a:rPr lang="en-IN" sz="1800" dirty="0">
                <a:latin typeface="Arial" panose="020B0604020202020204" pitchFamily="34" charset="0"/>
                <a:cs typeface="Arial" panose="020B0604020202020204" pitchFamily="34" charset="0"/>
              </a:rPr>
              <a:t>.</a:t>
            </a:r>
          </a:p>
          <a:p>
            <a:pPr algn="l"/>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1 : Start</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2 : Get user id and extract twitter raw profile metadata and activity based attributes.</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3 : </a:t>
            </a:r>
            <a:r>
              <a:rPr lang="en-IN" sz="1400" dirty="0">
                <a:latin typeface="Arial" panose="020B0604020202020204" pitchFamily="34" charset="0"/>
                <a:cs typeface="Arial" panose="020B0604020202020204" pitchFamily="34" charset="0"/>
              </a:rPr>
              <a:t>Preprocess input data, </a:t>
            </a:r>
            <a:r>
              <a:rPr lang="en-US" sz="1400" dirty="0">
                <a:latin typeface="Arial" panose="020B0604020202020204" pitchFamily="34" charset="0"/>
                <a:cs typeface="Arial" panose="020B0604020202020204" pitchFamily="34" charset="0"/>
              </a:rPr>
              <a:t>Clean the data, handle missing values.</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4 : </a:t>
            </a:r>
            <a:r>
              <a:rPr lang="en-IN" sz="1400" dirty="0">
                <a:latin typeface="Arial" panose="020B0604020202020204" pitchFamily="34" charset="0"/>
                <a:cs typeface="Arial" panose="020B0604020202020204" pitchFamily="34" charset="0"/>
              </a:rPr>
              <a:t>Perform feature engineering to compute </a:t>
            </a:r>
            <a:r>
              <a:rPr lang="en-IN" sz="1400" dirty="0" err="1">
                <a:latin typeface="Arial" panose="020B0604020202020204" pitchFamily="34" charset="0"/>
                <a:cs typeface="Arial" panose="020B0604020202020204" pitchFamily="34" charset="0"/>
              </a:rPr>
              <a:t>behavioral</a:t>
            </a:r>
            <a:r>
              <a:rPr lang="en-IN" sz="1400" dirty="0">
                <a:latin typeface="Arial" panose="020B0604020202020204" pitchFamily="34" charset="0"/>
                <a:cs typeface="Arial" panose="020B0604020202020204" pitchFamily="34" charset="0"/>
              </a:rPr>
              <a:t> attributes</a:t>
            </a:r>
            <a:r>
              <a:rPr lang="en-US" sz="1400" dirty="0">
                <a:latin typeface="Arial" panose="020B0604020202020204" pitchFamily="34" charset="0"/>
                <a:cs typeface="Arial" panose="020B0604020202020204" pitchFamily="34" charset="0"/>
              </a:rPr>
              <a:t>.</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5 : </a:t>
            </a:r>
            <a:r>
              <a:rPr lang="en-IN" sz="1400" dirty="0">
                <a:latin typeface="Arial" panose="020B0604020202020204" pitchFamily="34" charset="0"/>
                <a:cs typeface="Arial" panose="020B0604020202020204" pitchFamily="34" charset="0"/>
              </a:rPr>
              <a:t>Identify similar accounts using K-Nearest </a:t>
            </a:r>
            <a:r>
              <a:rPr lang="en-IN" sz="1400" dirty="0" err="1">
                <a:latin typeface="Arial" panose="020B0604020202020204" pitchFamily="34" charset="0"/>
                <a:cs typeface="Arial" panose="020B0604020202020204" pitchFamily="34" charset="0"/>
              </a:rPr>
              <a:t>Neighbors</a:t>
            </a:r>
            <a:r>
              <a:rPr lang="en-IN" sz="1400" dirty="0">
                <a:latin typeface="Arial" panose="020B0604020202020204" pitchFamily="34" charset="0"/>
                <a:cs typeface="Arial" panose="020B0604020202020204" pitchFamily="34" charset="0"/>
              </a:rPr>
              <a:t> based on feature similarity</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6 : </a:t>
            </a:r>
            <a:r>
              <a:rPr lang="en-IN" sz="1400" dirty="0">
                <a:latin typeface="Arial" panose="020B0604020202020204" pitchFamily="34" charset="0"/>
                <a:cs typeface="Arial" panose="020B0604020202020204" pitchFamily="34" charset="0"/>
              </a:rPr>
              <a:t>Generate graph-based embedding by aggregating precomputed </a:t>
            </a:r>
            <a:r>
              <a:rPr lang="en-IN" sz="1400" dirty="0" err="1">
                <a:latin typeface="Arial" panose="020B0604020202020204" pitchFamily="34" charset="0"/>
                <a:cs typeface="Arial" panose="020B0604020202020204" pitchFamily="34" charset="0"/>
              </a:rPr>
              <a:t>GraphSAGE</a:t>
            </a:r>
            <a:r>
              <a:rPr lang="en-IN" sz="1400" dirty="0">
                <a:latin typeface="Arial" panose="020B0604020202020204" pitchFamily="34" charset="0"/>
                <a:cs typeface="Arial" panose="020B0604020202020204" pitchFamily="34" charset="0"/>
              </a:rPr>
              <a:t> embeddings of similar accounts</a:t>
            </a:r>
            <a:r>
              <a:rPr lang="en-US" sz="1400" dirty="0">
                <a:latin typeface="Arial" panose="020B0604020202020204" pitchFamily="34" charset="0"/>
                <a:cs typeface="Arial" panose="020B0604020202020204" pitchFamily="34" charset="0"/>
              </a:rPr>
              <a:t>.</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7 : Combine traditional machine learning features with the generated graph embeddings to form a hybrid feature set.</a:t>
            </a:r>
            <a:endParaRPr lang="en-IN" sz="14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AB8E195B-9C90-6BB6-BDC7-245F4DE17C17}"/>
              </a:ext>
            </a:extLst>
          </p:cNvPr>
          <p:cNvSpPr>
            <a:spLocks noGrp="1"/>
          </p:cNvSpPr>
          <p:nvPr>
            <p:ph type="sldNum" sz="quarter" idx="7"/>
          </p:nvPr>
        </p:nvSpPr>
        <p:spPr/>
        <p:txBody>
          <a:bodyPr/>
          <a:lstStyle/>
          <a:p>
            <a:fld id="{B6F15528-21DE-4FAA-801E-634DDDAF4B2B}" type="slidenum">
              <a:rPr lang="en-IN" smtClean="0"/>
              <a:t>23</a:t>
            </a:fld>
            <a:endParaRPr lang="en-IN"/>
          </a:p>
        </p:txBody>
      </p:sp>
      <p:sp>
        <p:nvSpPr>
          <p:cNvPr id="3" name="object 5">
            <a:extLst>
              <a:ext uri="{FF2B5EF4-FFF2-40B4-BE49-F238E27FC236}">
                <a16:creationId xmlns:a16="http://schemas.microsoft.com/office/drawing/2014/main" id="{ADE5EBDB-2CE9-B838-CA13-DD7682B87847}"/>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5" name="Picture 4">
            <a:extLst>
              <a:ext uri="{FF2B5EF4-FFF2-40B4-BE49-F238E27FC236}">
                <a16:creationId xmlns:a16="http://schemas.microsoft.com/office/drawing/2014/main" id="{130CCFDE-0BB5-144B-9972-D46A9F7F1C4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Tree>
    <p:extLst>
      <p:ext uri="{BB962C8B-B14F-4D97-AF65-F5344CB8AC3E}">
        <p14:creationId xmlns:p14="http://schemas.microsoft.com/office/powerpoint/2010/main" val="503026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C62B9D-997A-596C-1B35-EF1E2CD62997}"/>
              </a:ext>
            </a:extLst>
          </p:cNvPr>
          <p:cNvSpPr>
            <a:spLocks noGrp="1"/>
          </p:cNvSpPr>
          <p:nvPr>
            <p:ph type="body" idx="1"/>
          </p:nvPr>
        </p:nvSpPr>
        <p:spPr>
          <a:xfrm>
            <a:off x="308610" y="417314"/>
            <a:ext cx="8526780" cy="3016210"/>
          </a:xfrm>
        </p:spPr>
        <p:txBody>
          <a:bodyPr/>
          <a:lstStyle/>
          <a:p>
            <a:r>
              <a:rPr lang="en-US" sz="1400" dirty="0">
                <a:latin typeface="Arial" panose="020B0604020202020204" pitchFamily="34" charset="0"/>
                <a:cs typeface="Arial" panose="020B0604020202020204" pitchFamily="34" charset="0"/>
              </a:rPr>
              <a:t>Step 8 : </a:t>
            </a:r>
            <a:r>
              <a:rPr lang="en-IN" sz="1400" dirty="0">
                <a:latin typeface="Arial" panose="020B0604020202020204" pitchFamily="34" charset="0"/>
                <a:cs typeface="Arial" panose="020B0604020202020204" pitchFamily="34" charset="0"/>
              </a:rPr>
              <a:t>Apply scaling and normalization using pre-trained scalers.</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9 : </a:t>
            </a:r>
            <a:r>
              <a:rPr lang="en-IN" sz="1400" dirty="0">
                <a:latin typeface="Arial" panose="020B0604020202020204" pitchFamily="34" charset="0"/>
                <a:cs typeface="Arial" panose="020B0604020202020204" pitchFamily="34" charset="0"/>
              </a:rPr>
              <a:t>Select required features based on pre-trained feature list</a:t>
            </a:r>
            <a:r>
              <a:rPr lang="en-US" sz="1400" dirty="0">
                <a:latin typeface="Arial" panose="020B0604020202020204" pitchFamily="34" charset="0"/>
                <a:cs typeface="Arial" panose="020B0604020202020204" pitchFamily="34" charset="0"/>
              </a:rPr>
              <a:t>.</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10 : Apply the trained model to classify accounts as bot or human using probability thresholds.</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11 : Apply the LIME explainability method to identify the most influential features.</a:t>
            </a:r>
          </a:p>
          <a:p>
            <a:endParaRPr lang="en-IN"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Step 12 : </a:t>
            </a:r>
            <a:r>
              <a:rPr lang="en-IN" sz="1400" dirty="0">
                <a:latin typeface="Arial" panose="020B0604020202020204" pitchFamily="34" charset="0"/>
                <a:cs typeface="Arial" panose="020B0604020202020204" pitchFamily="34" charset="0"/>
              </a:rPr>
              <a:t>Generate natural language explanation using LLM.</a:t>
            </a:r>
          </a:p>
          <a:p>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Step 13 </a:t>
            </a:r>
            <a:r>
              <a:rPr lang="en-US" sz="1400" dirty="0">
                <a:latin typeface="Arial" panose="020B0604020202020204" pitchFamily="34" charset="0"/>
                <a:cs typeface="Arial" panose="020B0604020202020204" pitchFamily="34" charset="0"/>
              </a:rPr>
              <a:t>: </a:t>
            </a:r>
            <a:r>
              <a:rPr lang="en-IN" sz="1400" dirty="0">
                <a:latin typeface="Arial" panose="020B0604020202020204" pitchFamily="34" charset="0"/>
                <a:cs typeface="Arial" panose="020B0604020202020204" pitchFamily="34" charset="0"/>
              </a:rPr>
              <a:t>Display classification result and explanation.</a:t>
            </a:r>
          </a:p>
          <a:p>
            <a:endParaRPr lang="en-IN" sz="1400" dirty="0">
              <a:latin typeface="Arial" panose="020B0604020202020204" pitchFamily="34" charset="0"/>
              <a:cs typeface="Arial" panose="020B0604020202020204" pitchFamily="34" charset="0"/>
            </a:endParaRPr>
          </a:p>
          <a:p>
            <a:r>
              <a:rPr lang="en-IN" sz="1400" dirty="0">
                <a:latin typeface="Arial" panose="020B0604020202020204" pitchFamily="34" charset="0"/>
                <a:cs typeface="Arial" panose="020B0604020202020204" pitchFamily="34" charset="0"/>
              </a:rPr>
              <a:t>Step 14 </a:t>
            </a:r>
            <a:r>
              <a:rPr lang="en-US" sz="1400" dirty="0">
                <a:latin typeface="Arial" panose="020B0604020202020204" pitchFamily="34" charset="0"/>
                <a:cs typeface="Arial" panose="020B0604020202020204" pitchFamily="34" charset="0"/>
              </a:rPr>
              <a:t>: Stop</a:t>
            </a:r>
            <a:endParaRPr lang="en-IN" sz="1400" dirty="0">
              <a:latin typeface="Arial" panose="020B0604020202020204" pitchFamily="34" charset="0"/>
              <a:cs typeface="Arial" panose="020B0604020202020204" pitchFamily="34" charset="0"/>
            </a:endParaRPr>
          </a:p>
          <a:p>
            <a:endParaRPr lang="en-IN" sz="1400" dirty="0">
              <a:latin typeface="Arial" panose="020B0604020202020204" pitchFamily="34" charset="0"/>
              <a:cs typeface="Arial" panose="020B0604020202020204" pitchFamily="34" charset="0"/>
            </a:endParaRPr>
          </a:p>
        </p:txBody>
      </p:sp>
      <p:sp>
        <p:nvSpPr>
          <p:cNvPr id="2" name="Slide Number Placeholder 1">
            <a:extLst>
              <a:ext uri="{FF2B5EF4-FFF2-40B4-BE49-F238E27FC236}">
                <a16:creationId xmlns:a16="http://schemas.microsoft.com/office/drawing/2014/main" id="{9D2EAF18-887A-5E94-3B0A-05782ED5D541}"/>
              </a:ext>
            </a:extLst>
          </p:cNvPr>
          <p:cNvSpPr>
            <a:spLocks noGrp="1"/>
          </p:cNvSpPr>
          <p:nvPr>
            <p:ph type="sldNum" sz="quarter" idx="7"/>
          </p:nvPr>
        </p:nvSpPr>
        <p:spPr/>
        <p:txBody>
          <a:bodyPr/>
          <a:lstStyle/>
          <a:p>
            <a:fld id="{B6F15528-21DE-4FAA-801E-634DDDAF4B2B}" type="slidenum">
              <a:rPr lang="en-IN" smtClean="0"/>
              <a:t>24</a:t>
            </a:fld>
            <a:endParaRPr lang="en-IN"/>
          </a:p>
        </p:txBody>
      </p:sp>
      <p:sp>
        <p:nvSpPr>
          <p:cNvPr id="4" name="object 5">
            <a:extLst>
              <a:ext uri="{FF2B5EF4-FFF2-40B4-BE49-F238E27FC236}">
                <a16:creationId xmlns:a16="http://schemas.microsoft.com/office/drawing/2014/main" id="{B03240CA-3DAC-FB73-A47D-B82F9AB4D776}"/>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5" name="Picture 4">
            <a:extLst>
              <a:ext uri="{FF2B5EF4-FFF2-40B4-BE49-F238E27FC236}">
                <a16:creationId xmlns:a16="http://schemas.microsoft.com/office/drawing/2014/main" id="{4D6C7B9B-DB2D-4151-6CE4-64965BC64DA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Tree>
    <p:extLst>
      <p:ext uri="{BB962C8B-B14F-4D97-AF65-F5344CB8AC3E}">
        <p14:creationId xmlns:p14="http://schemas.microsoft.com/office/powerpoint/2010/main" val="13312690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68D1CF49-5D94-0F54-6B07-B3008D705C51}"/>
              </a:ext>
            </a:extLst>
          </p:cNvPr>
          <p:cNvSpPr txBox="1"/>
          <p:nvPr/>
        </p:nvSpPr>
        <p:spPr>
          <a:xfrm>
            <a:off x="201622" y="583623"/>
            <a:ext cx="2591959" cy="369332"/>
          </a:xfrm>
          <a:prstGeom prst="rect">
            <a:avLst/>
          </a:prstGeom>
          <a:noFill/>
        </p:spPr>
        <p:txBody>
          <a:bodyPr wrap="square" rtlCol="0">
            <a:spAutoFit/>
          </a:bodyPr>
          <a:lstStyle/>
          <a:p>
            <a:r>
              <a:rPr lang="en-IN" b="1" dirty="0"/>
              <a:t>Evaluation metric</a:t>
            </a:r>
          </a:p>
        </p:txBody>
      </p:sp>
      <p:sp>
        <p:nvSpPr>
          <p:cNvPr id="11" name="object 5">
            <a:extLst>
              <a:ext uri="{FF2B5EF4-FFF2-40B4-BE49-F238E27FC236}">
                <a16:creationId xmlns:a16="http://schemas.microsoft.com/office/drawing/2014/main" id="{5071D174-736F-7656-9F32-8DB3DB8AC1C4}"/>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12" name="Picture 11">
            <a:extLst>
              <a:ext uri="{FF2B5EF4-FFF2-40B4-BE49-F238E27FC236}">
                <a16:creationId xmlns:a16="http://schemas.microsoft.com/office/drawing/2014/main" id="{A9633760-44AC-B63D-6F2A-A937E77C9D2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graphicFrame>
        <p:nvGraphicFramePr>
          <p:cNvPr id="2" name="Table 1">
            <a:extLst>
              <a:ext uri="{FF2B5EF4-FFF2-40B4-BE49-F238E27FC236}">
                <a16:creationId xmlns:a16="http://schemas.microsoft.com/office/drawing/2014/main" id="{1871026B-05E2-0338-FBAE-CF30AD21C10E}"/>
              </a:ext>
            </a:extLst>
          </p:cNvPr>
          <p:cNvGraphicFramePr>
            <a:graphicFrameLocks noGrp="1"/>
          </p:cNvGraphicFramePr>
          <p:nvPr>
            <p:extLst>
              <p:ext uri="{D42A27DB-BD31-4B8C-83A1-F6EECF244321}">
                <p14:modId xmlns:p14="http://schemas.microsoft.com/office/powerpoint/2010/main" val="4127439776"/>
              </p:ext>
            </p:extLst>
          </p:nvPr>
        </p:nvGraphicFramePr>
        <p:xfrm>
          <a:off x="546409" y="1464525"/>
          <a:ext cx="8051182" cy="2720899"/>
        </p:xfrm>
        <a:graphic>
          <a:graphicData uri="http://schemas.openxmlformats.org/drawingml/2006/table">
            <a:tbl>
              <a:tblPr firstRow="1" bandRow="1">
                <a:tableStyleId>{5940675A-B579-460E-94D1-54222C63F5DA}</a:tableStyleId>
              </a:tblPr>
              <a:tblGrid>
                <a:gridCol w="1203244">
                  <a:extLst>
                    <a:ext uri="{9D8B030D-6E8A-4147-A177-3AD203B41FA5}">
                      <a16:colId xmlns:a16="http://schemas.microsoft.com/office/drawing/2014/main" val="1780052428"/>
                    </a:ext>
                  </a:extLst>
                </a:gridCol>
                <a:gridCol w="1465616">
                  <a:extLst>
                    <a:ext uri="{9D8B030D-6E8A-4147-A177-3AD203B41FA5}">
                      <a16:colId xmlns:a16="http://schemas.microsoft.com/office/drawing/2014/main" val="137194277"/>
                    </a:ext>
                  </a:extLst>
                </a:gridCol>
                <a:gridCol w="1174595">
                  <a:extLst>
                    <a:ext uri="{9D8B030D-6E8A-4147-A177-3AD203B41FA5}">
                      <a16:colId xmlns:a16="http://schemas.microsoft.com/office/drawing/2014/main" val="3033162667"/>
                    </a:ext>
                  </a:extLst>
                </a:gridCol>
                <a:gridCol w="1152293">
                  <a:extLst>
                    <a:ext uri="{9D8B030D-6E8A-4147-A177-3AD203B41FA5}">
                      <a16:colId xmlns:a16="http://schemas.microsoft.com/office/drawing/2014/main" val="125226832"/>
                    </a:ext>
                  </a:extLst>
                </a:gridCol>
                <a:gridCol w="988741">
                  <a:extLst>
                    <a:ext uri="{9D8B030D-6E8A-4147-A177-3AD203B41FA5}">
                      <a16:colId xmlns:a16="http://schemas.microsoft.com/office/drawing/2014/main" val="1163813121"/>
                    </a:ext>
                  </a:extLst>
                </a:gridCol>
                <a:gridCol w="916524">
                  <a:extLst>
                    <a:ext uri="{9D8B030D-6E8A-4147-A177-3AD203B41FA5}">
                      <a16:colId xmlns:a16="http://schemas.microsoft.com/office/drawing/2014/main" val="2687988018"/>
                    </a:ext>
                  </a:extLst>
                </a:gridCol>
                <a:gridCol w="1150169">
                  <a:extLst>
                    <a:ext uri="{9D8B030D-6E8A-4147-A177-3AD203B41FA5}">
                      <a16:colId xmlns:a16="http://schemas.microsoft.com/office/drawing/2014/main" val="1648704235"/>
                    </a:ext>
                  </a:extLst>
                </a:gridCol>
              </a:tblGrid>
              <a:tr h="372386">
                <a:tc>
                  <a:txBody>
                    <a:bodyPr/>
                    <a:lstStyle/>
                    <a:p>
                      <a:pPr>
                        <a:buNone/>
                      </a:pPr>
                      <a:r>
                        <a:rPr lang="en-IN" sz="1200" b="1" dirty="0">
                          <a:latin typeface="Arial" panose="020B0604020202020204" pitchFamily="34" charset="0"/>
                          <a:cs typeface="Arial" panose="020B0604020202020204" pitchFamily="34" charset="0"/>
                        </a:rPr>
                        <a:t>Model</a:t>
                      </a:r>
                    </a:p>
                  </a:txBody>
                  <a:tcPr anchor="ctr"/>
                </a:tc>
                <a:tc>
                  <a:txBody>
                    <a:bodyPr/>
                    <a:lstStyle/>
                    <a:p>
                      <a:pPr>
                        <a:buNone/>
                      </a:pPr>
                      <a:r>
                        <a:rPr lang="en-IN" sz="1200" b="1">
                          <a:latin typeface="Arial" panose="020B0604020202020204" pitchFamily="34" charset="0"/>
                          <a:cs typeface="Arial" panose="020B0604020202020204" pitchFamily="34" charset="0"/>
                        </a:rPr>
                        <a:t>Setup</a:t>
                      </a:r>
                    </a:p>
                  </a:txBody>
                  <a:tcPr anchor="ctr"/>
                </a:tc>
                <a:tc>
                  <a:txBody>
                    <a:bodyPr/>
                    <a:lstStyle/>
                    <a:p>
                      <a:pPr>
                        <a:buNone/>
                      </a:pPr>
                      <a:r>
                        <a:rPr lang="en-IN" sz="1200" b="1" dirty="0">
                          <a:latin typeface="Arial" panose="020B0604020202020204" pitchFamily="34" charset="0"/>
                          <a:cs typeface="Arial" panose="020B0604020202020204" pitchFamily="34" charset="0"/>
                        </a:rPr>
                        <a:t>Accuracy</a:t>
                      </a:r>
                    </a:p>
                  </a:txBody>
                  <a:tcPr anchor="ctr"/>
                </a:tc>
                <a:tc>
                  <a:txBody>
                    <a:bodyPr/>
                    <a:lstStyle/>
                    <a:p>
                      <a:pPr>
                        <a:buNone/>
                      </a:pPr>
                      <a:r>
                        <a:rPr lang="en-IN" sz="1200" b="1">
                          <a:latin typeface="Arial" panose="020B0604020202020204" pitchFamily="34" charset="0"/>
                          <a:cs typeface="Arial" panose="020B0604020202020204" pitchFamily="34" charset="0"/>
                        </a:rPr>
                        <a:t>Precision</a:t>
                      </a:r>
                    </a:p>
                  </a:txBody>
                  <a:tcPr anchor="ctr"/>
                </a:tc>
                <a:tc>
                  <a:txBody>
                    <a:bodyPr/>
                    <a:lstStyle/>
                    <a:p>
                      <a:pPr>
                        <a:buNone/>
                      </a:pPr>
                      <a:r>
                        <a:rPr lang="en-IN" sz="1200" b="1">
                          <a:latin typeface="Arial" panose="020B0604020202020204" pitchFamily="34" charset="0"/>
                          <a:cs typeface="Arial" panose="020B0604020202020204" pitchFamily="34" charset="0"/>
                        </a:rPr>
                        <a:t>Recall</a:t>
                      </a:r>
                    </a:p>
                  </a:txBody>
                  <a:tcPr anchor="ctr"/>
                </a:tc>
                <a:tc>
                  <a:txBody>
                    <a:bodyPr/>
                    <a:lstStyle/>
                    <a:p>
                      <a:pPr>
                        <a:buNone/>
                      </a:pPr>
                      <a:r>
                        <a:rPr lang="en-IN" sz="1200" b="1">
                          <a:latin typeface="Arial" panose="020B0604020202020204" pitchFamily="34" charset="0"/>
                          <a:cs typeface="Arial" panose="020B0604020202020204" pitchFamily="34" charset="0"/>
                        </a:rPr>
                        <a:t>F1</a:t>
                      </a:r>
                    </a:p>
                  </a:txBody>
                  <a:tcPr anchor="ctr"/>
                </a:tc>
                <a:tc>
                  <a:txBody>
                    <a:bodyPr/>
                    <a:lstStyle/>
                    <a:p>
                      <a:pPr>
                        <a:buNone/>
                      </a:pPr>
                      <a:r>
                        <a:rPr lang="en-IN" sz="1200" b="1" dirty="0">
                          <a:latin typeface="Arial" panose="020B0604020202020204" pitchFamily="34" charset="0"/>
                          <a:cs typeface="Arial" panose="020B0604020202020204" pitchFamily="34" charset="0"/>
                        </a:rPr>
                        <a:t>AUC</a:t>
                      </a:r>
                    </a:p>
                  </a:txBody>
                  <a:tcPr anchor="ctr"/>
                </a:tc>
                <a:extLst>
                  <a:ext uri="{0D108BD9-81ED-4DB2-BD59-A6C34878D82A}">
                    <a16:rowId xmlns:a16="http://schemas.microsoft.com/office/drawing/2014/main" val="3149806062"/>
                  </a:ext>
                </a:extLst>
              </a:tr>
              <a:tr h="385899">
                <a:tc>
                  <a:txBody>
                    <a:bodyPr/>
                    <a:lstStyle/>
                    <a:p>
                      <a:pPr>
                        <a:buNone/>
                      </a:pPr>
                      <a:r>
                        <a:rPr lang="en-IN" sz="1200" dirty="0" err="1">
                          <a:latin typeface="Arial" panose="020B0604020202020204" pitchFamily="34" charset="0"/>
                          <a:cs typeface="Arial" panose="020B0604020202020204" pitchFamily="34" charset="0"/>
                        </a:rPr>
                        <a:t>XGBoost</a:t>
                      </a:r>
                      <a:endParaRPr lang="en-IN" sz="1200" dirty="0">
                        <a:latin typeface="Arial" panose="020B0604020202020204" pitchFamily="34" charset="0"/>
                        <a:cs typeface="Arial" panose="020B0604020202020204" pitchFamily="34" charset="0"/>
                      </a:endParaRPr>
                    </a:p>
                  </a:txBody>
                  <a:tcPr anchor="ctr"/>
                </a:tc>
                <a:tc>
                  <a:txBody>
                    <a:bodyPr/>
                    <a:lstStyle/>
                    <a:p>
                      <a:pPr>
                        <a:buNone/>
                      </a:pPr>
                      <a:r>
                        <a:rPr lang="en-IN" sz="1200" dirty="0">
                          <a:latin typeface="Arial" panose="020B0604020202020204" pitchFamily="34" charset="0"/>
                          <a:cs typeface="Arial" panose="020B0604020202020204" pitchFamily="34" charset="0"/>
                        </a:rPr>
                        <a:t>ML only</a:t>
                      </a:r>
                    </a:p>
                  </a:txBody>
                  <a:tcPr anchor="ctr"/>
                </a:tc>
                <a:tc>
                  <a:txBody>
                    <a:bodyPr/>
                    <a:lstStyle/>
                    <a:p>
                      <a:pPr>
                        <a:buNone/>
                      </a:pPr>
                      <a:r>
                        <a:rPr lang="en-IN" sz="1200" dirty="0">
                          <a:latin typeface="Arial" panose="020B0604020202020204" pitchFamily="34" charset="0"/>
                          <a:cs typeface="Arial" panose="020B0604020202020204" pitchFamily="34" charset="0"/>
                        </a:rPr>
                        <a:t>0.9395</a:t>
                      </a:r>
                    </a:p>
                  </a:txBody>
                  <a:tcPr anchor="ctr"/>
                </a:tc>
                <a:tc>
                  <a:txBody>
                    <a:bodyPr/>
                    <a:lstStyle/>
                    <a:p>
                      <a:pPr>
                        <a:buNone/>
                      </a:pPr>
                      <a:r>
                        <a:rPr lang="en-IN" sz="1200" dirty="0">
                          <a:latin typeface="Arial" panose="020B0604020202020204" pitchFamily="34" charset="0"/>
                          <a:cs typeface="Arial" panose="020B0604020202020204" pitchFamily="34" charset="0"/>
                        </a:rPr>
                        <a:t>0.9327</a:t>
                      </a:r>
                    </a:p>
                  </a:txBody>
                  <a:tcPr anchor="ctr"/>
                </a:tc>
                <a:tc>
                  <a:txBody>
                    <a:bodyPr/>
                    <a:lstStyle/>
                    <a:p>
                      <a:pPr>
                        <a:buNone/>
                      </a:pPr>
                      <a:r>
                        <a:rPr lang="en-IN" sz="1200" dirty="0">
                          <a:latin typeface="Arial" panose="020B0604020202020204" pitchFamily="34" charset="0"/>
                          <a:cs typeface="Arial" panose="020B0604020202020204" pitchFamily="34" charset="0"/>
                        </a:rPr>
                        <a:t>0.8616</a:t>
                      </a:r>
                    </a:p>
                  </a:txBody>
                  <a:tcPr anchor="ctr"/>
                </a:tc>
                <a:tc>
                  <a:txBody>
                    <a:bodyPr/>
                    <a:lstStyle/>
                    <a:p>
                      <a:pPr>
                        <a:buNone/>
                      </a:pPr>
                      <a:r>
                        <a:rPr lang="en-IN" sz="1200" dirty="0">
                          <a:latin typeface="Arial" panose="020B0604020202020204" pitchFamily="34" charset="0"/>
                          <a:cs typeface="Arial" panose="020B0604020202020204" pitchFamily="34" charset="0"/>
                        </a:rPr>
                        <a:t>0.8957</a:t>
                      </a:r>
                    </a:p>
                  </a:txBody>
                  <a:tcPr anchor="ctr"/>
                </a:tc>
                <a:tc>
                  <a:txBody>
                    <a:bodyPr/>
                    <a:lstStyle/>
                    <a:p>
                      <a:pPr>
                        <a:buNone/>
                      </a:pPr>
                      <a:r>
                        <a:rPr lang="en-IN" sz="1200" dirty="0">
                          <a:latin typeface="Arial" panose="020B0604020202020204" pitchFamily="34" charset="0"/>
                          <a:cs typeface="Arial" panose="020B0604020202020204" pitchFamily="34" charset="0"/>
                        </a:rPr>
                        <a:t>0.9718</a:t>
                      </a:r>
                    </a:p>
                  </a:txBody>
                  <a:tcPr anchor="ctr"/>
                </a:tc>
                <a:extLst>
                  <a:ext uri="{0D108BD9-81ED-4DB2-BD59-A6C34878D82A}">
                    <a16:rowId xmlns:a16="http://schemas.microsoft.com/office/drawing/2014/main" val="3914256492"/>
                  </a:ext>
                </a:extLst>
              </a:tr>
              <a:tr h="408878">
                <a:tc>
                  <a:txBody>
                    <a:bodyPr/>
                    <a:lstStyle/>
                    <a:p>
                      <a:pPr>
                        <a:buNone/>
                      </a:pPr>
                      <a:r>
                        <a:rPr lang="en-IN" sz="1200" dirty="0" err="1">
                          <a:latin typeface="Arial" panose="020B0604020202020204" pitchFamily="34" charset="0"/>
                          <a:cs typeface="Arial" panose="020B0604020202020204" pitchFamily="34" charset="0"/>
                        </a:rPr>
                        <a:t>XGBoost</a:t>
                      </a:r>
                      <a:endParaRPr lang="en-IN" sz="1200" dirty="0">
                        <a:latin typeface="Arial" panose="020B0604020202020204" pitchFamily="34" charset="0"/>
                        <a:cs typeface="Arial" panose="020B0604020202020204" pitchFamily="34" charset="0"/>
                      </a:endParaRPr>
                    </a:p>
                  </a:txBody>
                  <a:tcPr anchor="ctr"/>
                </a:tc>
                <a:tc>
                  <a:txBody>
                    <a:bodyPr/>
                    <a:lstStyle/>
                    <a:p>
                      <a:pPr>
                        <a:buNone/>
                      </a:pPr>
                      <a:r>
                        <a:rPr lang="en-IN" sz="1200" dirty="0">
                          <a:latin typeface="Arial" panose="020B0604020202020204" pitchFamily="34" charset="0"/>
                          <a:cs typeface="Arial" panose="020B0604020202020204" pitchFamily="34" charset="0"/>
                        </a:rPr>
                        <a:t>Embeddings only</a:t>
                      </a:r>
                    </a:p>
                  </a:txBody>
                  <a:tcPr anchor="ctr"/>
                </a:tc>
                <a:tc>
                  <a:txBody>
                    <a:bodyPr/>
                    <a:lstStyle/>
                    <a:p>
                      <a:pPr>
                        <a:buNone/>
                      </a:pPr>
                      <a:r>
                        <a:rPr lang="en-IN" sz="1200" dirty="0">
                          <a:latin typeface="Arial" panose="020B0604020202020204" pitchFamily="34" charset="0"/>
                          <a:cs typeface="Arial" panose="020B0604020202020204" pitchFamily="34" charset="0"/>
                        </a:rPr>
                        <a:t>0.9407</a:t>
                      </a:r>
                    </a:p>
                  </a:txBody>
                  <a:tcPr anchor="ctr"/>
                </a:tc>
                <a:tc>
                  <a:txBody>
                    <a:bodyPr/>
                    <a:lstStyle/>
                    <a:p>
                      <a:pPr>
                        <a:buNone/>
                      </a:pPr>
                      <a:r>
                        <a:rPr lang="en-IN" sz="1200" dirty="0">
                          <a:latin typeface="Arial" panose="020B0604020202020204" pitchFamily="34" charset="0"/>
                          <a:cs typeface="Arial" panose="020B0604020202020204" pitchFamily="34" charset="0"/>
                        </a:rPr>
                        <a:t>0.9417</a:t>
                      </a:r>
                    </a:p>
                  </a:txBody>
                  <a:tcPr anchor="ctr"/>
                </a:tc>
                <a:tc>
                  <a:txBody>
                    <a:bodyPr/>
                    <a:lstStyle/>
                    <a:p>
                      <a:pPr>
                        <a:buNone/>
                      </a:pPr>
                      <a:r>
                        <a:rPr lang="en-IN" sz="1200" dirty="0">
                          <a:latin typeface="Arial" panose="020B0604020202020204" pitchFamily="34" charset="0"/>
                          <a:cs typeface="Arial" panose="020B0604020202020204" pitchFamily="34" charset="0"/>
                        </a:rPr>
                        <a:t>0.8566</a:t>
                      </a:r>
                    </a:p>
                  </a:txBody>
                  <a:tcPr anchor="ctr"/>
                </a:tc>
                <a:tc>
                  <a:txBody>
                    <a:bodyPr/>
                    <a:lstStyle/>
                    <a:p>
                      <a:pPr>
                        <a:buNone/>
                      </a:pPr>
                      <a:r>
                        <a:rPr lang="en-IN" sz="1200" dirty="0">
                          <a:latin typeface="Arial" panose="020B0604020202020204" pitchFamily="34" charset="0"/>
                          <a:cs typeface="Arial" panose="020B0604020202020204" pitchFamily="34" charset="0"/>
                        </a:rPr>
                        <a:t>0.8971</a:t>
                      </a:r>
                    </a:p>
                  </a:txBody>
                  <a:tcPr anchor="ctr"/>
                </a:tc>
                <a:tc>
                  <a:txBody>
                    <a:bodyPr/>
                    <a:lstStyle/>
                    <a:p>
                      <a:pPr>
                        <a:buNone/>
                      </a:pPr>
                      <a:r>
                        <a:rPr lang="en-IN" sz="1200" dirty="0">
                          <a:latin typeface="Arial" panose="020B0604020202020204" pitchFamily="34" charset="0"/>
                          <a:cs typeface="Arial" panose="020B0604020202020204" pitchFamily="34" charset="0"/>
                        </a:rPr>
                        <a:t>0.9720</a:t>
                      </a:r>
                    </a:p>
                  </a:txBody>
                  <a:tcPr anchor="ctr"/>
                </a:tc>
                <a:extLst>
                  <a:ext uri="{0D108BD9-81ED-4DB2-BD59-A6C34878D82A}">
                    <a16:rowId xmlns:a16="http://schemas.microsoft.com/office/drawing/2014/main" val="2947433991"/>
                  </a:ext>
                </a:extLst>
              </a:tr>
              <a:tr h="408878">
                <a:tc>
                  <a:txBody>
                    <a:bodyPr/>
                    <a:lstStyle/>
                    <a:p>
                      <a:pPr>
                        <a:buNone/>
                      </a:pPr>
                      <a:r>
                        <a:rPr lang="en-IN" sz="1200" dirty="0" err="1">
                          <a:latin typeface="Arial" panose="020B0604020202020204" pitchFamily="34" charset="0"/>
                          <a:cs typeface="Arial" panose="020B0604020202020204" pitchFamily="34" charset="0"/>
                        </a:rPr>
                        <a:t>XGBoost</a:t>
                      </a:r>
                      <a:endParaRPr lang="en-IN" sz="1200" dirty="0">
                        <a:latin typeface="Arial" panose="020B0604020202020204" pitchFamily="34" charset="0"/>
                        <a:cs typeface="Arial" panose="020B0604020202020204" pitchFamily="34" charset="0"/>
                      </a:endParaRPr>
                    </a:p>
                  </a:txBody>
                  <a:tcPr anchor="ctr"/>
                </a:tc>
                <a:tc>
                  <a:txBody>
                    <a:bodyPr/>
                    <a:lstStyle/>
                    <a:p>
                      <a:pPr>
                        <a:buNone/>
                      </a:pPr>
                      <a:r>
                        <a:rPr lang="en-IN" sz="1200" dirty="0">
                          <a:latin typeface="Arial" panose="020B0604020202020204" pitchFamily="34" charset="0"/>
                          <a:cs typeface="Arial" panose="020B0604020202020204" pitchFamily="34" charset="0"/>
                        </a:rPr>
                        <a:t>ML + Embeddings</a:t>
                      </a:r>
                    </a:p>
                  </a:txBody>
                  <a:tcPr anchor="ctr"/>
                </a:tc>
                <a:tc>
                  <a:txBody>
                    <a:bodyPr/>
                    <a:lstStyle/>
                    <a:p>
                      <a:pPr>
                        <a:buNone/>
                      </a:pPr>
                      <a:r>
                        <a:rPr lang="en-IN" sz="1200" dirty="0">
                          <a:latin typeface="Arial" panose="020B0604020202020204" pitchFamily="34" charset="0"/>
                          <a:cs typeface="Arial" panose="020B0604020202020204" pitchFamily="34" charset="0"/>
                        </a:rPr>
                        <a:t>0.9442</a:t>
                      </a:r>
                    </a:p>
                  </a:txBody>
                  <a:tcPr anchor="ctr"/>
                </a:tc>
                <a:tc>
                  <a:txBody>
                    <a:bodyPr/>
                    <a:lstStyle/>
                    <a:p>
                      <a:pPr>
                        <a:buNone/>
                      </a:pPr>
                      <a:r>
                        <a:rPr lang="en-IN" sz="1200" dirty="0">
                          <a:latin typeface="Arial" panose="020B0604020202020204" pitchFamily="34" charset="0"/>
                          <a:cs typeface="Arial" panose="020B0604020202020204" pitchFamily="34" charset="0"/>
                        </a:rPr>
                        <a:t>0.9448</a:t>
                      </a:r>
                    </a:p>
                  </a:txBody>
                  <a:tcPr anchor="ctr"/>
                </a:tc>
                <a:tc>
                  <a:txBody>
                    <a:bodyPr/>
                    <a:lstStyle/>
                    <a:p>
                      <a:pPr>
                        <a:buNone/>
                      </a:pPr>
                      <a:r>
                        <a:rPr lang="en-IN" sz="1200" dirty="0">
                          <a:latin typeface="Arial" panose="020B0604020202020204" pitchFamily="34" charset="0"/>
                          <a:cs typeface="Arial" panose="020B0604020202020204" pitchFamily="34" charset="0"/>
                        </a:rPr>
                        <a:t>0.8657</a:t>
                      </a:r>
                    </a:p>
                  </a:txBody>
                  <a:tcPr anchor="ctr"/>
                </a:tc>
                <a:tc>
                  <a:txBody>
                    <a:bodyPr/>
                    <a:lstStyle/>
                    <a:p>
                      <a:pPr>
                        <a:buNone/>
                      </a:pPr>
                      <a:r>
                        <a:rPr lang="en-IN" sz="1200" dirty="0">
                          <a:latin typeface="Arial" panose="020B0604020202020204" pitchFamily="34" charset="0"/>
                          <a:cs typeface="Arial" panose="020B0604020202020204" pitchFamily="34" charset="0"/>
                        </a:rPr>
                        <a:t>0.9035</a:t>
                      </a:r>
                    </a:p>
                  </a:txBody>
                  <a:tcPr anchor="ctr"/>
                </a:tc>
                <a:tc>
                  <a:txBody>
                    <a:bodyPr/>
                    <a:lstStyle/>
                    <a:p>
                      <a:pPr>
                        <a:buNone/>
                      </a:pPr>
                      <a:r>
                        <a:rPr lang="en-IN" sz="1200" dirty="0">
                          <a:latin typeface="Arial" panose="020B0604020202020204" pitchFamily="34" charset="0"/>
                          <a:cs typeface="Arial" panose="020B0604020202020204" pitchFamily="34" charset="0"/>
                        </a:rPr>
                        <a:t>0.9750</a:t>
                      </a:r>
                    </a:p>
                  </a:txBody>
                  <a:tcPr anchor="ctr"/>
                </a:tc>
                <a:extLst>
                  <a:ext uri="{0D108BD9-81ED-4DB2-BD59-A6C34878D82A}">
                    <a16:rowId xmlns:a16="http://schemas.microsoft.com/office/drawing/2014/main" val="2196295646"/>
                  </a:ext>
                </a:extLst>
              </a:tr>
              <a:tr h="371708">
                <a:tc>
                  <a:txBody>
                    <a:bodyPr/>
                    <a:lstStyle/>
                    <a:p>
                      <a:pPr>
                        <a:buNone/>
                      </a:pPr>
                      <a:r>
                        <a:rPr lang="en-IN" sz="1200">
                          <a:latin typeface="Arial" panose="020B0604020202020204" pitchFamily="34" charset="0"/>
                          <a:cs typeface="Arial" panose="020B0604020202020204" pitchFamily="34" charset="0"/>
                        </a:rPr>
                        <a:t>RandomForest</a:t>
                      </a:r>
                    </a:p>
                  </a:txBody>
                  <a:tcPr anchor="ctr"/>
                </a:tc>
                <a:tc>
                  <a:txBody>
                    <a:bodyPr/>
                    <a:lstStyle/>
                    <a:p>
                      <a:pPr>
                        <a:buNone/>
                      </a:pPr>
                      <a:r>
                        <a:rPr lang="en-IN" sz="1200" dirty="0">
                          <a:latin typeface="Arial" panose="020B0604020202020204" pitchFamily="34" charset="0"/>
                          <a:cs typeface="Arial" panose="020B0604020202020204" pitchFamily="34" charset="0"/>
                        </a:rPr>
                        <a:t>ML only</a:t>
                      </a:r>
                    </a:p>
                  </a:txBody>
                  <a:tcPr anchor="ctr"/>
                </a:tc>
                <a:tc>
                  <a:txBody>
                    <a:bodyPr/>
                    <a:lstStyle/>
                    <a:p>
                      <a:pPr>
                        <a:buNone/>
                      </a:pPr>
                      <a:r>
                        <a:rPr lang="en-IN" sz="1200" dirty="0">
                          <a:latin typeface="Arial" panose="020B0604020202020204" pitchFamily="34" charset="0"/>
                          <a:cs typeface="Arial" panose="020B0604020202020204" pitchFamily="34" charset="0"/>
                        </a:rPr>
                        <a:t>0.9422</a:t>
                      </a:r>
                    </a:p>
                  </a:txBody>
                  <a:tcPr anchor="ctr"/>
                </a:tc>
                <a:tc>
                  <a:txBody>
                    <a:bodyPr/>
                    <a:lstStyle/>
                    <a:p>
                      <a:pPr>
                        <a:buNone/>
                      </a:pPr>
                      <a:r>
                        <a:rPr lang="en-IN" sz="1200" dirty="0">
                          <a:latin typeface="Arial" panose="020B0604020202020204" pitchFamily="34" charset="0"/>
                          <a:cs typeface="Arial" panose="020B0604020202020204" pitchFamily="34" charset="0"/>
                        </a:rPr>
                        <a:t>0.9586</a:t>
                      </a:r>
                    </a:p>
                  </a:txBody>
                  <a:tcPr anchor="ctr"/>
                </a:tc>
                <a:tc>
                  <a:txBody>
                    <a:bodyPr/>
                    <a:lstStyle/>
                    <a:p>
                      <a:pPr>
                        <a:buNone/>
                      </a:pPr>
                      <a:r>
                        <a:rPr lang="en-IN" sz="1200" dirty="0">
                          <a:latin typeface="Arial" panose="020B0604020202020204" pitchFamily="34" charset="0"/>
                          <a:cs typeface="Arial" panose="020B0604020202020204" pitchFamily="34" charset="0"/>
                        </a:rPr>
                        <a:t>0.8450</a:t>
                      </a:r>
                    </a:p>
                  </a:txBody>
                  <a:tcPr anchor="ctr"/>
                </a:tc>
                <a:tc>
                  <a:txBody>
                    <a:bodyPr/>
                    <a:lstStyle/>
                    <a:p>
                      <a:pPr>
                        <a:buNone/>
                      </a:pPr>
                      <a:r>
                        <a:rPr lang="en-IN" sz="1200" dirty="0">
                          <a:latin typeface="Arial" panose="020B0604020202020204" pitchFamily="34" charset="0"/>
                          <a:cs typeface="Arial" panose="020B0604020202020204" pitchFamily="34" charset="0"/>
                        </a:rPr>
                        <a:t>0.8982</a:t>
                      </a:r>
                    </a:p>
                  </a:txBody>
                  <a:tcPr anchor="ctr"/>
                </a:tc>
                <a:tc>
                  <a:txBody>
                    <a:bodyPr/>
                    <a:lstStyle/>
                    <a:p>
                      <a:pPr>
                        <a:buNone/>
                      </a:pPr>
                      <a:r>
                        <a:rPr lang="en-IN" sz="1200" dirty="0">
                          <a:latin typeface="Arial" panose="020B0604020202020204" pitchFamily="34" charset="0"/>
                          <a:cs typeface="Arial" panose="020B0604020202020204" pitchFamily="34" charset="0"/>
                        </a:rPr>
                        <a:t>0.9725</a:t>
                      </a:r>
                    </a:p>
                  </a:txBody>
                  <a:tcPr anchor="ctr"/>
                </a:tc>
                <a:extLst>
                  <a:ext uri="{0D108BD9-81ED-4DB2-BD59-A6C34878D82A}">
                    <a16:rowId xmlns:a16="http://schemas.microsoft.com/office/drawing/2014/main" val="247313554"/>
                  </a:ext>
                </a:extLst>
              </a:tr>
              <a:tr h="423745">
                <a:tc>
                  <a:txBody>
                    <a:bodyPr/>
                    <a:lstStyle/>
                    <a:p>
                      <a:pPr>
                        <a:buNone/>
                      </a:pPr>
                      <a:r>
                        <a:rPr lang="en-IN" sz="1200">
                          <a:latin typeface="Arial" panose="020B0604020202020204" pitchFamily="34" charset="0"/>
                          <a:cs typeface="Arial" panose="020B0604020202020204" pitchFamily="34" charset="0"/>
                        </a:rPr>
                        <a:t>RandomForest</a:t>
                      </a:r>
                    </a:p>
                  </a:txBody>
                  <a:tcPr anchor="ctr"/>
                </a:tc>
                <a:tc>
                  <a:txBody>
                    <a:bodyPr/>
                    <a:lstStyle/>
                    <a:p>
                      <a:pPr>
                        <a:buNone/>
                      </a:pPr>
                      <a:r>
                        <a:rPr lang="en-IN" sz="1200">
                          <a:latin typeface="Arial" panose="020B0604020202020204" pitchFamily="34" charset="0"/>
                          <a:cs typeface="Arial" panose="020B0604020202020204" pitchFamily="34" charset="0"/>
                        </a:rPr>
                        <a:t>Embeddings only</a:t>
                      </a:r>
                    </a:p>
                  </a:txBody>
                  <a:tcPr anchor="ctr"/>
                </a:tc>
                <a:tc>
                  <a:txBody>
                    <a:bodyPr/>
                    <a:lstStyle/>
                    <a:p>
                      <a:pPr>
                        <a:buNone/>
                      </a:pPr>
                      <a:r>
                        <a:rPr lang="en-IN" sz="1200" dirty="0">
                          <a:latin typeface="Arial" panose="020B0604020202020204" pitchFamily="34" charset="0"/>
                          <a:cs typeface="Arial" panose="020B0604020202020204" pitchFamily="34" charset="0"/>
                        </a:rPr>
                        <a:t>0.9420</a:t>
                      </a:r>
                    </a:p>
                  </a:txBody>
                  <a:tcPr anchor="ctr"/>
                </a:tc>
                <a:tc>
                  <a:txBody>
                    <a:bodyPr/>
                    <a:lstStyle/>
                    <a:p>
                      <a:pPr>
                        <a:buNone/>
                      </a:pPr>
                      <a:r>
                        <a:rPr lang="en-IN" sz="1200" dirty="0">
                          <a:latin typeface="Arial" panose="020B0604020202020204" pitchFamily="34" charset="0"/>
                          <a:cs typeface="Arial" panose="020B0604020202020204" pitchFamily="34" charset="0"/>
                        </a:rPr>
                        <a:t>0.9509</a:t>
                      </a:r>
                    </a:p>
                  </a:txBody>
                  <a:tcPr anchor="ctr"/>
                </a:tc>
                <a:tc>
                  <a:txBody>
                    <a:bodyPr/>
                    <a:lstStyle/>
                    <a:p>
                      <a:pPr>
                        <a:buNone/>
                      </a:pPr>
                      <a:r>
                        <a:rPr lang="en-IN" sz="1200" dirty="0">
                          <a:latin typeface="Arial" panose="020B0604020202020204" pitchFamily="34" charset="0"/>
                          <a:cs typeface="Arial" panose="020B0604020202020204" pitchFamily="34" charset="0"/>
                        </a:rPr>
                        <a:t>0.8516</a:t>
                      </a:r>
                    </a:p>
                  </a:txBody>
                  <a:tcPr anchor="ctr"/>
                </a:tc>
                <a:tc>
                  <a:txBody>
                    <a:bodyPr/>
                    <a:lstStyle/>
                    <a:p>
                      <a:pPr>
                        <a:buNone/>
                      </a:pPr>
                      <a:r>
                        <a:rPr lang="en-IN" sz="1200" dirty="0">
                          <a:latin typeface="Arial" panose="020B0604020202020204" pitchFamily="34" charset="0"/>
                          <a:cs typeface="Arial" panose="020B0604020202020204" pitchFamily="34" charset="0"/>
                        </a:rPr>
                        <a:t>0.8986</a:t>
                      </a:r>
                    </a:p>
                  </a:txBody>
                  <a:tcPr anchor="ctr"/>
                </a:tc>
                <a:tc>
                  <a:txBody>
                    <a:bodyPr/>
                    <a:lstStyle/>
                    <a:p>
                      <a:pPr>
                        <a:buNone/>
                      </a:pPr>
                      <a:r>
                        <a:rPr lang="en-IN" sz="1200" dirty="0">
                          <a:latin typeface="Arial" panose="020B0604020202020204" pitchFamily="34" charset="0"/>
                          <a:cs typeface="Arial" panose="020B0604020202020204" pitchFamily="34" charset="0"/>
                        </a:rPr>
                        <a:t>0.9731</a:t>
                      </a:r>
                    </a:p>
                  </a:txBody>
                  <a:tcPr anchor="ctr"/>
                </a:tc>
                <a:extLst>
                  <a:ext uri="{0D108BD9-81ED-4DB2-BD59-A6C34878D82A}">
                    <a16:rowId xmlns:a16="http://schemas.microsoft.com/office/drawing/2014/main" val="4123371464"/>
                  </a:ext>
                </a:extLst>
              </a:tr>
              <a:tr h="349405">
                <a:tc>
                  <a:txBody>
                    <a:bodyPr/>
                    <a:lstStyle/>
                    <a:p>
                      <a:pPr>
                        <a:buNone/>
                      </a:pPr>
                      <a:r>
                        <a:rPr lang="en-IN" sz="1200">
                          <a:latin typeface="Arial" panose="020B0604020202020204" pitchFamily="34" charset="0"/>
                          <a:cs typeface="Arial" panose="020B0604020202020204" pitchFamily="34" charset="0"/>
                        </a:rPr>
                        <a:t>RandomForest</a:t>
                      </a:r>
                    </a:p>
                  </a:txBody>
                  <a:tcPr anchor="ctr"/>
                </a:tc>
                <a:tc>
                  <a:txBody>
                    <a:bodyPr/>
                    <a:lstStyle/>
                    <a:p>
                      <a:pPr>
                        <a:buNone/>
                      </a:pPr>
                      <a:r>
                        <a:rPr lang="en-IN" sz="1200" dirty="0">
                          <a:latin typeface="Arial" panose="020B0604020202020204" pitchFamily="34" charset="0"/>
                          <a:cs typeface="Arial" panose="020B0604020202020204" pitchFamily="34" charset="0"/>
                        </a:rPr>
                        <a:t>ML + Embeddings</a:t>
                      </a:r>
                    </a:p>
                  </a:txBody>
                  <a:tcPr anchor="ctr"/>
                </a:tc>
                <a:tc>
                  <a:txBody>
                    <a:bodyPr/>
                    <a:lstStyle/>
                    <a:p>
                      <a:pPr>
                        <a:buNone/>
                      </a:pPr>
                      <a:r>
                        <a:rPr lang="en-IN" sz="1200" dirty="0">
                          <a:latin typeface="Arial" panose="020B0604020202020204" pitchFamily="34" charset="0"/>
                          <a:cs typeface="Arial" panose="020B0604020202020204" pitchFamily="34" charset="0"/>
                        </a:rPr>
                        <a:t>0.9435</a:t>
                      </a:r>
                    </a:p>
                  </a:txBody>
                  <a:tcPr anchor="ctr"/>
                </a:tc>
                <a:tc>
                  <a:txBody>
                    <a:bodyPr/>
                    <a:lstStyle/>
                    <a:p>
                      <a:pPr>
                        <a:buNone/>
                      </a:pPr>
                      <a:r>
                        <a:rPr lang="en-IN" sz="1200" dirty="0">
                          <a:latin typeface="Arial" panose="020B0604020202020204" pitchFamily="34" charset="0"/>
                          <a:cs typeface="Arial" panose="020B0604020202020204" pitchFamily="34" charset="0"/>
                        </a:rPr>
                        <a:t>0.9545</a:t>
                      </a:r>
                    </a:p>
                  </a:txBody>
                  <a:tcPr anchor="ctr"/>
                </a:tc>
                <a:tc>
                  <a:txBody>
                    <a:bodyPr/>
                    <a:lstStyle/>
                    <a:p>
                      <a:pPr>
                        <a:buNone/>
                      </a:pPr>
                      <a:r>
                        <a:rPr lang="en-IN" sz="1200" dirty="0">
                          <a:latin typeface="Arial" panose="020B0604020202020204" pitchFamily="34" charset="0"/>
                          <a:cs typeface="Arial" panose="020B0604020202020204" pitchFamily="34" charset="0"/>
                        </a:rPr>
                        <a:t>0.8533</a:t>
                      </a:r>
                    </a:p>
                  </a:txBody>
                  <a:tcPr anchor="ctr"/>
                </a:tc>
                <a:tc>
                  <a:txBody>
                    <a:bodyPr/>
                    <a:lstStyle/>
                    <a:p>
                      <a:pPr>
                        <a:buNone/>
                      </a:pPr>
                      <a:r>
                        <a:rPr lang="en-IN" sz="1200" dirty="0">
                          <a:latin typeface="Arial" panose="020B0604020202020204" pitchFamily="34" charset="0"/>
                          <a:cs typeface="Arial" panose="020B0604020202020204" pitchFamily="34" charset="0"/>
                        </a:rPr>
                        <a:t>0.9011</a:t>
                      </a:r>
                    </a:p>
                  </a:txBody>
                  <a:tcPr anchor="ctr"/>
                </a:tc>
                <a:tc>
                  <a:txBody>
                    <a:bodyPr/>
                    <a:lstStyle/>
                    <a:p>
                      <a:pPr>
                        <a:buNone/>
                      </a:pPr>
                      <a:r>
                        <a:rPr lang="en-IN" sz="1200" dirty="0">
                          <a:latin typeface="Arial" panose="020B0604020202020204" pitchFamily="34" charset="0"/>
                          <a:cs typeface="Arial" panose="020B0604020202020204" pitchFamily="34" charset="0"/>
                        </a:rPr>
                        <a:t>0.9755</a:t>
                      </a:r>
                    </a:p>
                  </a:txBody>
                  <a:tcPr anchor="ctr"/>
                </a:tc>
                <a:extLst>
                  <a:ext uri="{0D108BD9-81ED-4DB2-BD59-A6C34878D82A}">
                    <a16:rowId xmlns:a16="http://schemas.microsoft.com/office/drawing/2014/main" val="3665308310"/>
                  </a:ext>
                </a:extLst>
              </a:tr>
            </a:tbl>
          </a:graphicData>
        </a:graphic>
      </p:graphicFrame>
      <p:sp>
        <p:nvSpPr>
          <p:cNvPr id="3" name="Slide Number Placeholder 2">
            <a:extLst>
              <a:ext uri="{FF2B5EF4-FFF2-40B4-BE49-F238E27FC236}">
                <a16:creationId xmlns:a16="http://schemas.microsoft.com/office/drawing/2014/main" id="{8F7FDD51-B68F-7C2C-1AE1-7C664907793B}"/>
              </a:ext>
            </a:extLst>
          </p:cNvPr>
          <p:cNvSpPr>
            <a:spLocks noGrp="1"/>
          </p:cNvSpPr>
          <p:nvPr>
            <p:ph type="sldNum" sz="quarter" idx="7"/>
          </p:nvPr>
        </p:nvSpPr>
        <p:spPr/>
        <p:txBody>
          <a:bodyPr/>
          <a:lstStyle/>
          <a:p>
            <a:fld id="{B6F15528-21DE-4FAA-801E-634DDDAF4B2B}" type="slidenum">
              <a:rPr lang="en-IN" smtClean="0"/>
              <a:t>25</a:t>
            </a:fld>
            <a:endParaRPr lang="en-IN"/>
          </a:p>
        </p:txBody>
      </p:sp>
    </p:spTree>
    <p:extLst>
      <p:ext uri="{BB962C8B-B14F-4D97-AF65-F5344CB8AC3E}">
        <p14:creationId xmlns:p14="http://schemas.microsoft.com/office/powerpoint/2010/main" val="33756938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7310B17D-2011-8FA8-F6AE-545BCBF7B802}"/>
              </a:ext>
            </a:extLst>
          </p:cNvPr>
          <p:cNvSpPr txBox="1"/>
          <p:nvPr/>
        </p:nvSpPr>
        <p:spPr>
          <a:xfrm>
            <a:off x="241197" y="433556"/>
            <a:ext cx="2427112" cy="369332"/>
          </a:xfrm>
          <a:prstGeom prst="rect">
            <a:avLst/>
          </a:prstGeom>
          <a:noFill/>
        </p:spPr>
        <p:txBody>
          <a:bodyPr wrap="square" rtlCol="0">
            <a:spAutoFit/>
          </a:bodyPr>
          <a:lstStyle/>
          <a:p>
            <a:r>
              <a:rPr lang="en-IN" b="1" dirty="0">
                <a:latin typeface="Arial" panose="020B0604020202020204" pitchFamily="34" charset="0"/>
                <a:cs typeface="Arial" panose="020B0604020202020204" pitchFamily="34" charset="0"/>
              </a:rPr>
              <a:t>Frontend Input page</a:t>
            </a:r>
          </a:p>
        </p:txBody>
      </p:sp>
      <p:sp>
        <p:nvSpPr>
          <p:cNvPr id="6" name="object 5">
            <a:extLst>
              <a:ext uri="{FF2B5EF4-FFF2-40B4-BE49-F238E27FC236}">
                <a16:creationId xmlns:a16="http://schemas.microsoft.com/office/drawing/2014/main" id="{EFB89B2E-4A88-EFAE-DB41-B02A92C23254}"/>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7" name="Picture 6">
            <a:extLst>
              <a:ext uri="{FF2B5EF4-FFF2-40B4-BE49-F238E27FC236}">
                <a16:creationId xmlns:a16="http://schemas.microsoft.com/office/drawing/2014/main" id="{2DF2A7B2-1E67-42E0-96EA-B4D0ABA36E1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8" name="Slide Number Placeholder 7">
            <a:extLst>
              <a:ext uri="{FF2B5EF4-FFF2-40B4-BE49-F238E27FC236}">
                <a16:creationId xmlns:a16="http://schemas.microsoft.com/office/drawing/2014/main" id="{CC81E4E1-92A6-E94A-E294-F1B57F38F5D1}"/>
              </a:ext>
            </a:extLst>
          </p:cNvPr>
          <p:cNvSpPr>
            <a:spLocks noGrp="1"/>
          </p:cNvSpPr>
          <p:nvPr>
            <p:ph type="sldNum" sz="quarter" idx="7"/>
          </p:nvPr>
        </p:nvSpPr>
        <p:spPr/>
        <p:txBody>
          <a:bodyPr/>
          <a:lstStyle/>
          <a:p>
            <a:fld id="{B6F15528-21DE-4FAA-801E-634DDDAF4B2B}" type="slidenum">
              <a:rPr lang="en-IN" smtClean="0"/>
              <a:t>26</a:t>
            </a:fld>
            <a:endParaRPr lang="en-IN"/>
          </a:p>
        </p:txBody>
      </p:sp>
      <p:pic>
        <p:nvPicPr>
          <p:cNvPr id="3" name="Picture 2">
            <a:extLst>
              <a:ext uri="{FF2B5EF4-FFF2-40B4-BE49-F238E27FC236}">
                <a16:creationId xmlns:a16="http://schemas.microsoft.com/office/drawing/2014/main" id="{9DDB9F57-8B33-DBDB-81D4-F9BFAC37721E}"/>
              </a:ext>
            </a:extLst>
          </p:cNvPr>
          <p:cNvPicPr>
            <a:picLocks noChangeAspect="1"/>
          </p:cNvPicPr>
          <p:nvPr/>
        </p:nvPicPr>
        <p:blipFill>
          <a:blip r:embed="rId3">
            <a:extLst>
              <a:ext uri="{28A0092B-C50C-407E-A947-70E740481C1C}">
                <a14:useLocalDpi xmlns:a14="http://schemas.microsoft.com/office/drawing/2010/main" val="0"/>
              </a:ext>
            </a:extLst>
          </a:blip>
          <a:srcRect t="13548" b="4716"/>
          <a:stretch>
            <a:fillRect/>
          </a:stretch>
        </p:blipFill>
        <p:spPr>
          <a:xfrm>
            <a:off x="467313" y="1033347"/>
            <a:ext cx="8156578" cy="3750108"/>
          </a:xfrm>
          <a:prstGeom prst="rect">
            <a:avLst/>
          </a:prstGeom>
        </p:spPr>
      </p:pic>
    </p:spTree>
    <p:extLst>
      <p:ext uri="{BB962C8B-B14F-4D97-AF65-F5344CB8AC3E}">
        <p14:creationId xmlns:p14="http://schemas.microsoft.com/office/powerpoint/2010/main" val="1452501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5">
            <a:extLst>
              <a:ext uri="{FF2B5EF4-FFF2-40B4-BE49-F238E27FC236}">
                <a16:creationId xmlns:a16="http://schemas.microsoft.com/office/drawing/2014/main" id="{53360BDA-3E83-3C0E-1B86-451C6FBAB2D5}"/>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7" name="Picture 6">
            <a:extLst>
              <a:ext uri="{FF2B5EF4-FFF2-40B4-BE49-F238E27FC236}">
                <a16:creationId xmlns:a16="http://schemas.microsoft.com/office/drawing/2014/main" id="{FD0852F4-397C-8562-B2B1-81D907AF990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8" name="Slide Number Placeholder 7">
            <a:extLst>
              <a:ext uri="{FF2B5EF4-FFF2-40B4-BE49-F238E27FC236}">
                <a16:creationId xmlns:a16="http://schemas.microsoft.com/office/drawing/2014/main" id="{E46EC836-FFFA-5D5D-17CD-71E7D8E6CA53}"/>
              </a:ext>
            </a:extLst>
          </p:cNvPr>
          <p:cNvSpPr>
            <a:spLocks noGrp="1"/>
          </p:cNvSpPr>
          <p:nvPr>
            <p:ph type="sldNum" sz="quarter" idx="7"/>
          </p:nvPr>
        </p:nvSpPr>
        <p:spPr/>
        <p:txBody>
          <a:bodyPr/>
          <a:lstStyle/>
          <a:p>
            <a:fld id="{B6F15528-21DE-4FAA-801E-634DDDAF4B2B}" type="slidenum">
              <a:rPr lang="en-IN" smtClean="0"/>
              <a:t>27</a:t>
            </a:fld>
            <a:endParaRPr lang="en-IN"/>
          </a:p>
        </p:txBody>
      </p:sp>
      <p:sp>
        <p:nvSpPr>
          <p:cNvPr id="2" name="TextBox 1">
            <a:extLst>
              <a:ext uri="{FF2B5EF4-FFF2-40B4-BE49-F238E27FC236}">
                <a16:creationId xmlns:a16="http://schemas.microsoft.com/office/drawing/2014/main" id="{568239DB-AB09-2553-8085-C70D7703E2C9}"/>
              </a:ext>
            </a:extLst>
          </p:cNvPr>
          <p:cNvSpPr txBox="1"/>
          <p:nvPr/>
        </p:nvSpPr>
        <p:spPr>
          <a:xfrm>
            <a:off x="148409" y="549994"/>
            <a:ext cx="3133672" cy="369332"/>
          </a:xfrm>
          <a:prstGeom prst="rect">
            <a:avLst/>
          </a:prstGeom>
          <a:noFill/>
        </p:spPr>
        <p:txBody>
          <a:bodyPr wrap="square" rtlCol="0">
            <a:spAutoFit/>
          </a:bodyPr>
          <a:lstStyle/>
          <a:p>
            <a:r>
              <a:rPr lang="en-IN" b="1" dirty="0"/>
              <a:t>Lime output</a:t>
            </a:r>
          </a:p>
        </p:txBody>
      </p:sp>
      <p:pic>
        <p:nvPicPr>
          <p:cNvPr id="9" name="Picture 8">
            <a:extLst>
              <a:ext uri="{FF2B5EF4-FFF2-40B4-BE49-F238E27FC236}">
                <a16:creationId xmlns:a16="http://schemas.microsoft.com/office/drawing/2014/main" id="{AEB549B1-2F78-508D-0A9A-8C154F2B7FCE}"/>
              </a:ext>
            </a:extLst>
          </p:cNvPr>
          <p:cNvPicPr>
            <a:picLocks noChangeAspect="1"/>
          </p:cNvPicPr>
          <p:nvPr/>
        </p:nvPicPr>
        <p:blipFill>
          <a:blip r:embed="rId3">
            <a:extLst>
              <a:ext uri="{28A0092B-C50C-407E-A947-70E740481C1C}">
                <a14:useLocalDpi xmlns:a14="http://schemas.microsoft.com/office/drawing/2010/main" val="0"/>
              </a:ext>
            </a:extLst>
          </a:blip>
          <a:srcRect t="14520" b="4851"/>
          <a:stretch>
            <a:fillRect/>
          </a:stretch>
        </p:blipFill>
        <p:spPr>
          <a:xfrm>
            <a:off x="549937" y="1068758"/>
            <a:ext cx="8190536" cy="3714697"/>
          </a:xfrm>
          <a:prstGeom prst="rect">
            <a:avLst/>
          </a:prstGeom>
        </p:spPr>
      </p:pic>
    </p:spTree>
    <p:extLst>
      <p:ext uri="{BB962C8B-B14F-4D97-AF65-F5344CB8AC3E}">
        <p14:creationId xmlns:p14="http://schemas.microsoft.com/office/powerpoint/2010/main" val="19880365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a:extLst>
              <a:ext uri="{FF2B5EF4-FFF2-40B4-BE49-F238E27FC236}">
                <a16:creationId xmlns:a16="http://schemas.microsoft.com/office/drawing/2014/main" id="{15EF21E4-5C5A-588E-9CF3-33C6506B7B6B}"/>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6" name="Picture 5">
            <a:extLst>
              <a:ext uri="{FF2B5EF4-FFF2-40B4-BE49-F238E27FC236}">
                <a16:creationId xmlns:a16="http://schemas.microsoft.com/office/drawing/2014/main" id="{09B12CFD-BDAA-4E9F-D49B-C1F58F0F116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8" name="Slide Number Placeholder 7">
            <a:extLst>
              <a:ext uri="{FF2B5EF4-FFF2-40B4-BE49-F238E27FC236}">
                <a16:creationId xmlns:a16="http://schemas.microsoft.com/office/drawing/2014/main" id="{80B63CBF-BA23-96BB-8DB1-5E31BBF5A9D8}"/>
              </a:ext>
            </a:extLst>
          </p:cNvPr>
          <p:cNvSpPr>
            <a:spLocks noGrp="1"/>
          </p:cNvSpPr>
          <p:nvPr>
            <p:ph type="sldNum" sz="quarter" idx="7"/>
          </p:nvPr>
        </p:nvSpPr>
        <p:spPr/>
        <p:txBody>
          <a:bodyPr/>
          <a:lstStyle/>
          <a:p>
            <a:fld id="{B6F15528-21DE-4FAA-801E-634DDDAF4B2B}" type="slidenum">
              <a:rPr lang="en-IN" smtClean="0"/>
              <a:t>28</a:t>
            </a:fld>
            <a:endParaRPr lang="en-IN"/>
          </a:p>
        </p:txBody>
      </p:sp>
      <p:sp>
        <p:nvSpPr>
          <p:cNvPr id="2" name="TextBox 1">
            <a:extLst>
              <a:ext uri="{FF2B5EF4-FFF2-40B4-BE49-F238E27FC236}">
                <a16:creationId xmlns:a16="http://schemas.microsoft.com/office/drawing/2014/main" id="{DCF9A8E8-7AC3-4EA8-420F-06887A207E8A}"/>
              </a:ext>
            </a:extLst>
          </p:cNvPr>
          <p:cNvSpPr txBox="1"/>
          <p:nvPr/>
        </p:nvSpPr>
        <p:spPr>
          <a:xfrm>
            <a:off x="152400" y="446740"/>
            <a:ext cx="3787422" cy="369332"/>
          </a:xfrm>
          <a:prstGeom prst="rect">
            <a:avLst/>
          </a:prstGeom>
          <a:noFill/>
        </p:spPr>
        <p:txBody>
          <a:bodyPr wrap="square" rtlCol="0">
            <a:spAutoFit/>
          </a:bodyPr>
          <a:lstStyle/>
          <a:p>
            <a:r>
              <a:rPr lang="en-IN" b="1" dirty="0"/>
              <a:t>LLM Summary</a:t>
            </a:r>
          </a:p>
        </p:txBody>
      </p:sp>
      <p:pic>
        <p:nvPicPr>
          <p:cNvPr id="9" name="Picture 8">
            <a:extLst>
              <a:ext uri="{FF2B5EF4-FFF2-40B4-BE49-F238E27FC236}">
                <a16:creationId xmlns:a16="http://schemas.microsoft.com/office/drawing/2014/main" id="{92452318-1241-496F-169A-8F55D314FD4B}"/>
              </a:ext>
            </a:extLst>
          </p:cNvPr>
          <p:cNvPicPr>
            <a:picLocks noChangeAspect="1"/>
          </p:cNvPicPr>
          <p:nvPr/>
        </p:nvPicPr>
        <p:blipFill>
          <a:blip r:embed="rId3">
            <a:extLst>
              <a:ext uri="{28A0092B-C50C-407E-A947-70E740481C1C}">
                <a14:useLocalDpi xmlns:a14="http://schemas.microsoft.com/office/drawing/2010/main" val="0"/>
              </a:ext>
            </a:extLst>
          </a:blip>
          <a:srcRect t="13875" b="5619"/>
          <a:stretch>
            <a:fillRect/>
          </a:stretch>
        </p:blipFill>
        <p:spPr>
          <a:xfrm>
            <a:off x="239212" y="816072"/>
            <a:ext cx="8665576" cy="3924168"/>
          </a:xfrm>
          <a:prstGeom prst="rect">
            <a:avLst/>
          </a:prstGeom>
        </p:spPr>
      </p:pic>
    </p:spTree>
    <p:extLst>
      <p:ext uri="{BB962C8B-B14F-4D97-AF65-F5344CB8AC3E}">
        <p14:creationId xmlns:p14="http://schemas.microsoft.com/office/powerpoint/2010/main" val="1118160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09BB353-1D3E-AC5C-2FA5-081CE118BF88}"/>
              </a:ext>
            </a:extLst>
          </p:cNvPr>
          <p:cNvSpPr>
            <a:spLocks noGrp="1"/>
          </p:cNvSpPr>
          <p:nvPr>
            <p:ph type="sldNum" sz="quarter" idx="7"/>
          </p:nvPr>
        </p:nvSpPr>
        <p:spPr/>
        <p:txBody>
          <a:bodyPr/>
          <a:lstStyle/>
          <a:p>
            <a:fld id="{B6F15528-21DE-4FAA-801E-634DDDAF4B2B}" type="slidenum">
              <a:rPr lang="en-IN" smtClean="0"/>
              <a:t>29</a:t>
            </a:fld>
            <a:endParaRPr lang="en-IN"/>
          </a:p>
        </p:txBody>
      </p:sp>
      <p:sp>
        <p:nvSpPr>
          <p:cNvPr id="3" name="TextBox 2">
            <a:extLst>
              <a:ext uri="{FF2B5EF4-FFF2-40B4-BE49-F238E27FC236}">
                <a16:creationId xmlns:a16="http://schemas.microsoft.com/office/drawing/2014/main" id="{CC4825FB-641B-1A61-68AA-B22E10820DFF}"/>
              </a:ext>
            </a:extLst>
          </p:cNvPr>
          <p:cNvSpPr txBox="1"/>
          <p:nvPr/>
        </p:nvSpPr>
        <p:spPr>
          <a:xfrm>
            <a:off x="200722" y="401444"/>
            <a:ext cx="1382751" cy="369332"/>
          </a:xfrm>
          <a:prstGeom prst="rect">
            <a:avLst/>
          </a:prstGeom>
          <a:noFill/>
        </p:spPr>
        <p:txBody>
          <a:bodyPr wrap="square" rtlCol="0">
            <a:spAutoFit/>
          </a:bodyPr>
          <a:lstStyle/>
          <a:p>
            <a:r>
              <a:rPr lang="en-IN" b="1" dirty="0"/>
              <a:t>VERDICT</a:t>
            </a:r>
          </a:p>
        </p:txBody>
      </p:sp>
      <p:sp>
        <p:nvSpPr>
          <p:cNvPr id="4" name="object 5">
            <a:extLst>
              <a:ext uri="{FF2B5EF4-FFF2-40B4-BE49-F238E27FC236}">
                <a16:creationId xmlns:a16="http://schemas.microsoft.com/office/drawing/2014/main" id="{A45A63B4-4326-8143-6454-58415C15EE4A}"/>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5" name="Picture 4">
            <a:extLst>
              <a:ext uri="{FF2B5EF4-FFF2-40B4-BE49-F238E27FC236}">
                <a16:creationId xmlns:a16="http://schemas.microsoft.com/office/drawing/2014/main" id="{F8751737-35E5-6E38-76C7-95968CA4D5EB}"/>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pic>
        <p:nvPicPr>
          <p:cNvPr id="7" name="Picture 6">
            <a:extLst>
              <a:ext uri="{FF2B5EF4-FFF2-40B4-BE49-F238E27FC236}">
                <a16:creationId xmlns:a16="http://schemas.microsoft.com/office/drawing/2014/main" id="{8A275B5B-8A14-BC1C-D226-77A10B9B2F43}"/>
              </a:ext>
            </a:extLst>
          </p:cNvPr>
          <p:cNvPicPr>
            <a:picLocks noChangeAspect="1"/>
          </p:cNvPicPr>
          <p:nvPr/>
        </p:nvPicPr>
        <p:blipFill>
          <a:blip r:embed="rId3">
            <a:extLst>
              <a:ext uri="{28A0092B-C50C-407E-A947-70E740481C1C}">
                <a14:useLocalDpi xmlns:a14="http://schemas.microsoft.com/office/drawing/2010/main" val="0"/>
              </a:ext>
            </a:extLst>
          </a:blip>
          <a:srcRect t="14985" b="5763"/>
          <a:stretch>
            <a:fillRect/>
          </a:stretch>
        </p:blipFill>
        <p:spPr>
          <a:xfrm>
            <a:off x="345688" y="897158"/>
            <a:ext cx="8452624" cy="3768080"/>
          </a:xfrm>
          <a:prstGeom prst="rect">
            <a:avLst/>
          </a:prstGeom>
        </p:spPr>
      </p:pic>
    </p:spTree>
    <p:extLst>
      <p:ext uri="{BB962C8B-B14F-4D97-AF65-F5344CB8AC3E}">
        <p14:creationId xmlns:p14="http://schemas.microsoft.com/office/powerpoint/2010/main" val="921753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183E7E1-5641-DA74-6C7D-3F0B3911B532}"/>
              </a:ext>
            </a:extLst>
          </p:cNvPr>
          <p:cNvSpPr>
            <a:spLocks noGrp="1"/>
          </p:cNvSpPr>
          <p:nvPr>
            <p:ph type="sldNum" sz="quarter" idx="7"/>
          </p:nvPr>
        </p:nvSpPr>
        <p:spPr/>
        <p:txBody>
          <a:bodyPr/>
          <a:lstStyle/>
          <a:p>
            <a:fld id="{B6F15528-21DE-4FAA-801E-634DDDAF4B2B}" type="slidenum">
              <a:rPr lang="en-IN" smtClean="0"/>
              <a:t>30</a:t>
            </a:fld>
            <a:endParaRPr lang="en-IN"/>
          </a:p>
        </p:txBody>
      </p:sp>
      <p:sp>
        <p:nvSpPr>
          <p:cNvPr id="3" name="TextBox 2">
            <a:extLst>
              <a:ext uri="{FF2B5EF4-FFF2-40B4-BE49-F238E27FC236}">
                <a16:creationId xmlns:a16="http://schemas.microsoft.com/office/drawing/2014/main" id="{F238A8F4-C5E2-560A-9162-5E7BCAD3678C}"/>
              </a:ext>
            </a:extLst>
          </p:cNvPr>
          <p:cNvSpPr txBox="1"/>
          <p:nvPr/>
        </p:nvSpPr>
        <p:spPr>
          <a:xfrm>
            <a:off x="367990" y="1056779"/>
            <a:ext cx="8318810" cy="2585323"/>
          </a:xfrm>
          <a:prstGeom prst="rect">
            <a:avLst/>
          </a:prstGeom>
          <a:noFill/>
        </p:spPr>
        <p:txBody>
          <a:bodyPr wrap="square" rtlCol="0">
            <a:spAutoFit/>
          </a:bodyPr>
          <a:lstStyle/>
          <a:p>
            <a:r>
              <a:rPr lang="en-IN" b="1" dirty="0"/>
              <a:t>Future work</a:t>
            </a:r>
          </a:p>
          <a:p>
            <a:endParaRPr lang="en-IN" b="1" dirty="0"/>
          </a:p>
          <a:p>
            <a:pPr marL="285750" indent="-285750">
              <a:buFont typeface="Arial" panose="020B0604020202020204" pitchFamily="34" charset="0"/>
              <a:buChar char="•"/>
            </a:pPr>
            <a:r>
              <a:rPr lang="en-US" dirty="0"/>
              <a:t>Using Twitter/X API and enable continuous model learning to handle evolving bot behavior.</a:t>
            </a:r>
          </a:p>
          <a:p>
            <a:endParaRPr lang="en-US" b="1" dirty="0"/>
          </a:p>
          <a:p>
            <a:pPr marL="285750" indent="-285750">
              <a:buFont typeface="Arial" panose="020B0604020202020204" pitchFamily="34" charset="0"/>
              <a:buChar char="•"/>
            </a:pPr>
            <a:r>
              <a:rPr lang="en-US" dirty="0"/>
              <a:t>Expand features like images, videos, metadata and accessing post </a:t>
            </a:r>
            <a:r>
              <a:rPr lang="en-US" dirty="0" err="1"/>
              <a:t>urls</a:t>
            </a:r>
            <a:r>
              <a:rPr lang="en-US" dirty="0"/>
              <a:t>.  </a:t>
            </a:r>
          </a:p>
          <a:p>
            <a:pPr marL="285750" indent="-285750">
              <a:buFont typeface="Arial" panose="020B0604020202020204" pitchFamily="34" charset="0"/>
              <a:buChar char="•"/>
            </a:pPr>
            <a:endParaRPr lang="en-US" b="1" dirty="0"/>
          </a:p>
          <a:p>
            <a:pPr marL="285750" indent="-285750">
              <a:buFont typeface="Arial" panose="020B0604020202020204" pitchFamily="34" charset="0"/>
              <a:buChar char="•"/>
            </a:pPr>
            <a:r>
              <a:rPr lang="en-IN" sz="1800" dirty="0"/>
              <a:t>Extension of the framework to additional platforms such as Instagram and Reddit, supported by the existing modular pipeline architecture</a:t>
            </a:r>
            <a:endParaRPr lang="en-IN" b="1" dirty="0"/>
          </a:p>
        </p:txBody>
      </p:sp>
      <p:sp>
        <p:nvSpPr>
          <p:cNvPr id="4" name="object 5">
            <a:extLst>
              <a:ext uri="{FF2B5EF4-FFF2-40B4-BE49-F238E27FC236}">
                <a16:creationId xmlns:a16="http://schemas.microsoft.com/office/drawing/2014/main" id="{E8491FE7-A434-D095-EA77-9F91E7C194A5}"/>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5" name="Picture 4">
            <a:extLst>
              <a:ext uri="{FF2B5EF4-FFF2-40B4-BE49-F238E27FC236}">
                <a16:creationId xmlns:a16="http://schemas.microsoft.com/office/drawing/2014/main" id="{C1EE95BD-7E05-50C9-DAA2-A19B8B17A0D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Tree>
    <p:extLst>
      <p:ext uri="{BB962C8B-B14F-4D97-AF65-F5344CB8AC3E}">
        <p14:creationId xmlns:p14="http://schemas.microsoft.com/office/powerpoint/2010/main" val="25726595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30946" y="541615"/>
            <a:ext cx="3215640" cy="380873"/>
          </a:xfrm>
          <a:prstGeom prst="rect">
            <a:avLst/>
          </a:prstGeom>
        </p:spPr>
        <p:txBody>
          <a:bodyPr vert="horz" wrap="square" lIns="0" tIns="11430" rIns="0" bIns="0" rtlCol="0" anchor="t">
            <a:spAutoFit/>
          </a:bodyPr>
          <a:lstStyle/>
          <a:p>
            <a:pPr marL="12700">
              <a:lnSpc>
                <a:spcPct val="100000"/>
              </a:lnSpc>
              <a:spcBef>
                <a:spcPts val="90"/>
              </a:spcBef>
            </a:pPr>
            <a:r>
              <a:rPr lang="en-US" sz="2400"/>
              <a:t>REFERENCES</a:t>
            </a:r>
            <a:endParaRPr lang="en-US" sz="2400" spc="195"/>
          </a:p>
        </p:txBody>
      </p:sp>
      <p:sp>
        <p:nvSpPr>
          <p:cNvPr id="3" name="object 3"/>
          <p:cNvSpPr txBox="1"/>
          <p:nvPr/>
        </p:nvSpPr>
        <p:spPr>
          <a:xfrm>
            <a:off x="623550" y="1169522"/>
            <a:ext cx="7990205" cy="207173"/>
          </a:xfrm>
          <a:prstGeom prst="rect">
            <a:avLst/>
          </a:prstGeom>
        </p:spPr>
        <p:txBody>
          <a:bodyPr vert="horz" wrap="square" lIns="0" tIns="12700" rIns="0" bIns="0" rtlCol="0">
            <a:spAutoFit/>
          </a:bodyPr>
          <a:lstStyle/>
          <a:p>
            <a:pPr marL="12700" marR="160020">
              <a:lnSpc>
                <a:spcPct val="114999"/>
              </a:lnSpc>
              <a:spcBef>
                <a:spcPts val="100"/>
              </a:spcBef>
            </a:pPr>
            <a:endParaRPr sz="1200">
              <a:latin typeface="Arial"/>
              <a:cs typeface="Arial"/>
            </a:endParaRPr>
          </a:p>
        </p:txBody>
      </p:sp>
      <p:sp>
        <p:nvSpPr>
          <p:cNvPr id="5" name="object 5"/>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GB" sz="1100" b="1" dirty="0">
                <a:latin typeface="Arial"/>
                <a:cs typeface="Arial"/>
              </a:rPr>
              <a:t>DEPARTMENT OF COMPUTER SCIENCE AND ENGINEERING </a:t>
            </a:r>
            <a:endParaRPr lang="en-GB" sz="1100" dirty="0">
              <a:latin typeface="Arial"/>
              <a:cs typeface="Arial"/>
            </a:endParaRPr>
          </a:p>
        </p:txBody>
      </p:sp>
      <p:pic>
        <p:nvPicPr>
          <p:cNvPr id="9" name="Picture 8">
            <a:extLst>
              <a:ext uri="{FF2B5EF4-FFF2-40B4-BE49-F238E27FC236}">
                <a16:creationId xmlns:a16="http://schemas.microsoft.com/office/drawing/2014/main" id="{DBCF415E-2524-9D2F-5E11-A2491BD308A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8" name="Rectangle 2">
            <a:extLst>
              <a:ext uri="{FF2B5EF4-FFF2-40B4-BE49-F238E27FC236}">
                <a16:creationId xmlns:a16="http://schemas.microsoft.com/office/drawing/2014/main" id="{372F057B-891C-A19B-DFBA-747D37D1B44B}"/>
              </a:ext>
            </a:extLst>
          </p:cNvPr>
          <p:cNvSpPr>
            <a:spLocks noChangeArrowheads="1"/>
          </p:cNvSpPr>
          <p:nvPr/>
        </p:nvSpPr>
        <p:spPr bwMode="auto">
          <a:xfrm>
            <a:off x="420652" y="890315"/>
            <a:ext cx="819310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just">
              <a:buAutoNum type="arabicPeriod"/>
            </a:pPr>
            <a:r>
              <a:rPr lang="en-IN" sz="1400" dirty="0">
                <a:latin typeface="Arial" panose="020B0604020202020204" pitchFamily="34" charset="0"/>
                <a:cs typeface="Arial" panose="020B0604020202020204" pitchFamily="34" charset="0"/>
              </a:rPr>
              <a:t>D. Javed, N. Z. </a:t>
            </a:r>
            <a:r>
              <a:rPr lang="en-IN" sz="1400" dirty="0" err="1">
                <a:latin typeface="Arial" panose="020B0604020202020204" pitchFamily="34" charset="0"/>
                <a:cs typeface="Arial" panose="020B0604020202020204" pitchFamily="34" charset="0"/>
              </a:rPr>
              <a:t>Jhanjhi</a:t>
            </a:r>
            <a:r>
              <a:rPr lang="en-IN" sz="1400" dirty="0">
                <a:latin typeface="Arial" panose="020B0604020202020204" pitchFamily="34" charset="0"/>
                <a:cs typeface="Arial" panose="020B0604020202020204" pitchFamily="34" charset="0"/>
              </a:rPr>
              <a:t>, N. A. Khan, S. K. Ray, A. Al-</a:t>
            </a:r>
            <a:r>
              <a:rPr lang="en-IN" sz="1400" dirty="0" err="1">
                <a:latin typeface="Arial" panose="020B0604020202020204" pitchFamily="34" charset="0"/>
                <a:cs typeface="Arial" panose="020B0604020202020204" pitchFamily="34" charset="0"/>
              </a:rPr>
              <a:t>Dhaqm</a:t>
            </a:r>
            <a:r>
              <a:rPr lang="en-IN" sz="1400" dirty="0">
                <a:latin typeface="Arial" panose="020B0604020202020204" pitchFamily="34" charset="0"/>
                <a:cs typeface="Arial" panose="020B0604020202020204" pitchFamily="34" charset="0"/>
              </a:rPr>
              <a:t>, and V. R. </a:t>
            </a:r>
            <a:r>
              <a:rPr lang="en-IN" sz="1400" dirty="0" err="1">
                <a:latin typeface="Arial" panose="020B0604020202020204" pitchFamily="34" charset="0"/>
                <a:cs typeface="Arial" panose="020B0604020202020204" pitchFamily="34" charset="0"/>
              </a:rPr>
              <a:t>Kebande</a:t>
            </a:r>
            <a:r>
              <a:rPr lang="en-IN" sz="1400" dirty="0">
                <a:latin typeface="Arial" panose="020B0604020202020204" pitchFamily="34" charset="0"/>
                <a:cs typeface="Arial" panose="020B0604020202020204" pitchFamily="34" charset="0"/>
              </a:rPr>
              <a:t>, “Identification of spambots and fake followers on social network via interpretable AI-based machine learning,” IEEE Access, vol. 13, pp. 52246–52259, 2025,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10.1109/ACCESS.2025.3551993.​</a:t>
            </a:r>
          </a:p>
          <a:p>
            <a:pPr marL="342900" indent="-342900" algn="just">
              <a:buAutoNum type="arabicPeriod"/>
            </a:pPr>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a:pPr>
            <a:r>
              <a:rPr lang="en-IN" sz="1400" dirty="0">
                <a:latin typeface="Arial" panose="020B0604020202020204" pitchFamily="34" charset="0"/>
                <a:cs typeface="Arial" panose="020B0604020202020204" pitchFamily="34" charset="0"/>
              </a:rPr>
              <a:t>A. Khan, A. Fatima, R. Jamil, H. Ahmed, and A. Saba, “Enhancing social media bot detection with cross-feature gating and residual learning,” ICCK Trans. Emerg. Top. </a:t>
            </a:r>
            <a:r>
              <a:rPr lang="en-IN" sz="1400" dirty="0" err="1">
                <a:latin typeface="Arial" panose="020B0604020202020204" pitchFamily="34" charset="0"/>
                <a:cs typeface="Arial" panose="020B0604020202020204" pitchFamily="34" charset="0"/>
              </a:rPr>
              <a:t>Artif</a:t>
            </a:r>
            <a:r>
              <a:rPr lang="en-IN" sz="1400" dirty="0">
                <a:latin typeface="Arial" panose="020B0604020202020204" pitchFamily="34" charset="0"/>
                <a:cs typeface="Arial" panose="020B0604020202020204" pitchFamily="34" charset="0"/>
              </a:rPr>
              <a:t>. Intell., vol. 3, no. 1, pp. 20–32, 2026,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10.62762/TETAI.2025.791029.​</a:t>
            </a:r>
          </a:p>
          <a:p>
            <a:pPr marL="342900" indent="-342900" algn="just">
              <a:buFont typeface="+mj-lt"/>
              <a:buAutoNum type="arabicPeriod"/>
            </a:pPr>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a:pPr>
            <a:r>
              <a:rPr lang="en-IN" sz="1400" dirty="0">
                <a:latin typeface="Arial" panose="020B0604020202020204" pitchFamily="34" charset="0"/>
                <a:cs typeface="Arial" panose="020B0604020202020204" pitchFamily="34" charset="0"/>
              </a:rPr>
              <a:t>L. H. X. Ng and K. M. Carley, “A global comparison of social media bot and human characteristics,” Sci. Rep., vol. 15, no. 10973, pp. 1–18, 2025,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10.1038/s41598-025-96372-1.​</a:t>
            </a:r>
          </a:p>
          <a:p>
            <a:pPr marL="342900" indent="-342900" algn="just">
              <a:buFont typeface="+mj-lt"/>
              <a:buAutoNum type="arabicPeriod"/>
            </a:pPr>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startAt="4"/>
            </a:pPr>
            <a:r>
              <a:rPr lang="en-IN" sz="1400" dirty="0">
                <a:latin typeface="Arial" panose="020B0604020202020204" pitchFamily="34" charset="0"/>
                <a:cs typeface="Arial" panose="020B0604020202020204" pitchFamily="34" charset="0"/>
              </a:rPr>
              <a:t>A. Sallah, S. </a:t>
            </a:r>
            <a:r>
              <a:rPr lang="en-IN" sz="1400" dirty="0" err="1">
                <a:latin typeface="Arial" panose="020B0604020202020204" pitchFamily="34" charset="0"/>
                <a:cs typeface="Arial" panose="020B0604020202020204" pitchFamily="34" charset="0"/>
              </a:rPr>
              <a:t>Agoujil</a:t>
            </a:r>
            <a:r>
              <a:rPr lang="en-IN" sz="1400" dirty="0">
                <a:latin typeface="Arial" panose="020B0604020202020204" pitchFamily="34" charset="0"/>
                <a:cs typeface="Arial" panose="020B0604020202020204" pitchFamily="34" charset="0"/>
              </a:rPr>
              <a:t>, M. A. Wani, M. Hammad, Y. Maleh, and A. A. Abd El-Latif, “Fine-tuned understanding: Enhancing social bot detection with transformer-based classification,” IEEE Access, vol. 12, pp. 118250–118269, 2024,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10.1109/ACCESS.2024.1234567.​</a:t>
            </a:r>
          </a:p>
          <a:p>
            <a:pPr marL="342900" indent="-342900" algn="just">
              <a:buFont typeface="+mj-lt"/>
              <a:buAutoNum type="arabicPeriod" startAt="4"/>
            </a:pPr>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startAt="4"/>
            </a:pPr>
            <a:r>
              <a:rPr lang="en-IN" sz="1400" dirty="0">
                <a:latin typeface="Arial" panose="020B0604020202020204" pitchFamily="34" charset="0"/>
                <a:cs typeface="Arial" panose="020B0604020202020204" pitchFamily="34" charset="0"/>
              </a:rPr>
              <a:t>Z. </a:t>
            </a:r>
            <a:r>
              <a:rPr lang="en-IN" sz="1400" dirty="0" err="1">
                <a:latin typeface="Arial" panose="020B0604020202020204" pitchFamily="34" charset="0"/>
                <a:cs typeface="Arial" panose="020B0604020202020204" pitchFamily="34" charset="0"/>
              </a:rPr>
              <a:t>Ellaky</a:t>
            </a:r>
            <a:r>
              <a:rPr lang="en-IN" sz="1400" dirty="0">
                <a:latin typeface="Arial" panose="020B0604020202020204" pitchFamily="34" charset="0"/>
                <a:cs typeface="Arial" panose="020B0604020202020204" pitchFamily="34" charset="0"/>
              </a:rPr>
              <a:t>, F. </a:t>
            </a:r>
            <a:r>
              <a:rPr lang="en-IN" sz="1400" dirty="0" err="1">
                <a:latin typeface="Arial" panose="020B0604020202020204" pitchFamily="34" charset="0"/>
                <a:cs typeface="Arial" panose="020B0604020202020204" pitchFamily="34" charset="0"/>
              </a:rPr>
              <a:t>Benabbou</a:t>
            </a:r>
            <a:r>
              <a:rPr lang="en-IN" sz="1400" dirty="0">
                <a:latin typeface="Arial" panose="020B0604020202020204" pitchFamily="34" charset="0"/>
                <a:cs typeface="Arial" panose="020B0604020202020204" pitchFamily="34" charset="0"/>
              </a:rPr>
              <a:t>, Y. </a:t>
            </a:r>
            <a:r>
              <a:rPr lang="en-IN" sz="1400" dirty="0" err="1">
                <a:latin typeface="Arial" panose="020B0604020202020204" pitchFamily="34" charset="0"/>
                <a:cs typeface="Arial" panose="020B0604020202020204" pitchFamily="34" charset="0"/>
              </a:rPr>
              <a:t>Matrane</a:t>
            </a:r>
            <a:r>
              <a:rPr lang="en-IN" sz="1400" dirty="0">
                <a:latin typeface="Arial" panose="020B0604020202020204" pitchFamily="34" charset="0"/>
                <a:cs typeface="Arial" panose="020B0604020202020204" pitchFamily="34" charset="0"/>
              </a:rPr>
              <a:t>, and S. Qaqa, “A hybrid deep learning architecture for social media bots detection based on </a:t>
            </a:r>
            <a:r>
              <a:rPr lang="en-IN" sz="1400" dirty="0" err="1">
                <a:latin typeface="Arial" panose="020B0604020202020204" pitchFamily="34" charset="0"/>
                <a:cs typeface="Arial" panose="020B0604020202020204" pitchFamily="34" charset="0"/>
              </a:rPr>
              <a:t>BiGRU</a:t>
            </a:r>
            <a:r>
              <a:rPr lang="en-IN" sz="1400" dirty="0">
                <a:latin typeface="Arial" panose="020B0604020202020204" pitchFamily="34" charset="0"/>
                <a:cs typeface="Arial" panose="020B0604020202020204" pitchFamily="34" charset="0"/>
              </a:rPr>
              <a:t>-LSTM and </a:t>
            </a:r>
            <a:r>
              <a:rPr lang="en-IN" sz="1400" dirty="0" err="1">
                <a:latin typeface="Arial" panose="020B0604020202020204" pitchFamily="34" charset="0"/>
                <a:cs typeface="Arial" panose="020B0604020202020204" pitchFamily="34" charset="0"/>
              </a:rPr>
              <a:t>GloVe</a:t>
            </a:r>
            <a:r>
              <a:rPr lang="en-IN" sz="1400" dirty="0">
                <a:latin typeface="Arial" panose="020B0604020202020204" pitchFamily="34" charset="0"/>
                <a:cs typeface="Arial" panose="020B0604020202020204" pitchFamily="34" charset="0"/>
              </a:rPr>
              <a:t> word embedding,” IEEE Access, vol. 12, pp. 100278–100292, 2024,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10.1109/ACCESS.2024.3430859.</a:t>
            </a:r>
          </a:p>
          <a:p>
            <a:pPr marL="342900" indent="-342900" algn="just">
              <a:buFont typeface="+mj-lt"/>
              <a:buAutoNum type="arabicPeriod"/>
            </a:pPr>
            <a:endParaRPr lang="en-IN" sz="14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BFFDB45-F088-F43B-F6D2-F5F830E40C7D}"/>
              </a:ext>
            </a:extLst>
          </p:cNvPr>
          <p:cNvSpPr>
            <a:spLocks noGrp="1"/>
          </p:cNvSpPr>
          <p:nvPr>
            <p:ph type="sldNum" sz="quarter" idx="7"/>
          </p:nvPr>
        </p:nvSpPr>
        <p:spPr/>
        <p:txBody>
          <a:bodyPr/>
          <a:lstStyle/>
          <a:p>
            <a:fld id="{B6F15528-21DE-4FAA-801E-634DDDAF4B2B}" type="slidenum">
              <a:rPr lang="en-IN" smtClean="0"/>
              <a:t>31</a:t>
            </a:fld>
            <a:endParaRPr lang="en-I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12173FA-96EB-BE17-18FF-366F17017ECF}"/>
              </a:ext>
            </a:extLst>
          </p:cNvPr>
          <p:cNvSpPr>
            <a:spLocks noGrp="1"/>
          </p:cNvSpPr>
          <p:nvPr>
            <p:ph type="body" idx="1"/>
          </p:nvPr>
        </p:nvSpPr>
        <p:spPr>
          <a:xfrm>
            <a:off x="388619" y="536935"/>
            <a:ext cx="8526780" cy="4524315"/>
          </a:xfrm>
        </p:spPr>
        <p:txBody>
          <a:bodyPr/>
          <a:lstStyle/>
          <a:p>
            <a:pPr marL="342900" indent="-342900" algn="just">
              <a:buFont typeface="+mj-lt"/>
              <a:buAutoNum type="arabicPeriod" startAt="4"/>
            </a:pPr>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startAt="6"/>
            </a:pPr>
            <a:r>
              <a:rPr lang="en-IN" sz="1400" dirty="0">
                <a:latin typeface="Arial" panose="020B0604020202020204" pitchFamily="34" charset="0"/>
                <a:cs typeface="Arial" panose="020B0604020202020204" pitchFamily="34" charset="0"/>
              </a:rPr>
              <a:t>R. Kenny, B. Fischhoff, A. Davis, and C. Canfield, “Improving social bot detection through aid and training,” Human Factors, vol. 66, no. 10, pp. 2323–2344, 2024,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10.1177/00187208231210145.​</a:t>
            </a:r>
          </a:p>
          <a:p>
            <a:pPr algn="just"/>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startAt="7"/>
            </a:pPr>
            <a:r>
              <a:rPr lang="en-IN" sz="1400" dirty="0">
                <a:latin typeface="Arial" panose="020B0604020202020204" pitchFamily="34" charset="0"/>
                <a:cs typeface="Arial" panose="020B0604020202020204" pitchFamily="34" charset="0"/>
              </a:rPr>
              <a:t>K. Hayawi, S. Saha, M. M. Masud, S. S. Mathew, and M. </a:t>
            </a:r>
            <a:r>
              <a:rPr lang="en-IN" sz="1400" dirty="0" err="1">
                <a:latin typeface="Arial" panose="020B0604020202020204" pitchFamily="34" charset="0"/>
                <a:cs typeface="Arial" panose="020B0604020202020204" pitchFamily="34" charset="0"/>
              </a:rPr>
              <a:t>Kaosar</a:t>
            </a:r>
            <a:r>
              <a:rPr lang="en-IN" sz="1400" dirty="0">
                <a:latin typeface="Arial" panose="020B0604020202020204" pitchFamily="34" charset="0"/>
                <a:cs typeface="Arial" panose="020B0604020202020204" pitchFamily="34" charset="0"/>
              </a:rPr>
              <a:t>, “Social media bot detection with deep learning methods: A systematic review,” Neural </a:t>
            </a:r>
            <a:r>
              <a:rPr lang="en-IN" sz="1400" dirty="0" err="1">
                <a:latin typeface="Arial" panose="020B0604020202020204" pitchFamily="34" charset="0"/>
                <a:cs typeface="Arial" panose="020B0604020202020204" pitchFamily="34" charset="0"/>
              </a:rPr>
              <a:t>Comput</a:t>
            </a:r>
            <a:r>
              <a:rPr lang="en-IN" sz="1400" dirty="0">
                <a:latin typeface="Arial" panose="020B0604020202020204" pitchFamily="34" charset="0"/>
                <a:cs typeface="Arial" panose="020B0604020202020204" pitchFamily="34" charset="0"/>
              </a:rPr>
              <a:t>. Appl., vol. 35, pp. 8903–8918, 2023,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10.1007/s00521-023-08352-z.​</a:t>
            </a:r>
          </a:p>
          <a:p>
            <a:pPr marL="342900" indent="-342900" algn="just">
              <a:buFont typeface="+mj-lt"/>
              <a:buAutoNum type="arabicPeriod" startAt="7"/>
            </a:pPr>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startAt="7"/>
            </a:pPr>
            <a:r>
              <a:rPr lang="en-IN" sz="1400" dirty="0">
                <a:latin typeface="Arial" panose="020B0604020202020204" pitchFamily="34" charset="0"/>
                <a:cs typeface="Arial" panose="020B0604020202020204" pitchFamily="34" charset="0"/>
              </a:rPr>
              <a:t>A. Aguilera, P. Quinteros, I. Dongo, and Y. Cardinale, “</a:t>
            </a:r>
            <a:r>
              <a:rPr lang="en-IN" sz="1400" dirty="0" err="1">
                <a:latin typeface="Arial" panose="020B0604020202020204" pitchFamily="34" charset="0"/>
                <a:cs typeface="Arial" panose="020B0604020202020204" pitchFamily="34" charset="0"/>
              </a:rPr>
              <a:t>CrediBot</a:t>
            </a:r>
            <a:r>
              <a:rPr lang="en-IN" sz="1400" dirty="0">
                <a:latin typeface="Arial" panose="020B0604020202020204" pitchFamily="34" charset="0"/>
                <a:cs typeface="Arial" panose="020B0604020202020204" pitchFamily="34" charset="0"/>
              </a:rPr>
              <a:t>: Applying bot detection for credibility analysis on Twitter,” IEEE Access, vol. 11, pp. 108365–108380, 2023,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10.1109/ACCESS.2023.3320687.</a:t>
            </a:r>
          </a:p>
          <a:p>
            <a:pPr marL="342900" indent="-342900" algn="just">
              <a:buFont typeface="+mj-lt"/>
              <a:buAutoNum type="arabicPeriod" startAt="7"/>
            </a:pPr>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startAt="7"/>
            </a:pPr>
            <a:r>
              <a:rPr lang="en-US" sz="1400" dirty="0">
                <a:latin typeface="Arial" panose="020B0604020202020204" pitchFamily="34" charset="0"/>
                <a:cs typeface="Arial" panose="020B0604020202020204" pitchFamily="34" charset="0"/>
              </a:rPr>
              <a:t>A. Dehghan et al., “Detecting bots in social-networks using node and structural embeddings,” J. Big Data, vol. 10, no. 119, pp. 1–37, 2023, </a:t>
            </a:r>
            <a:r>
              <a:rPr lang="en-US" sz="1400" dirty="0" err="1">
                <a:latin typeface="Arial" panose="020B0604020202020204" pitchFamily="34" charset="0"/>
                <a:cs typeface="Arial" panose="020B0604020202020204" pitchFamily="34" charset="0"/>
              </a:rPr>
              <a:t>doi</a:t>
            </a:r>
            <a:r>
              <a:rPr lang="en-US" sz="1400" dirty="0">
                <a:latin typeface="Arial" panose="020B0604020202020204" pitchFamily="34" charset="0"/>
                <a:cs typeface="Arial" panose="020B0604020202020204" pitchFamily="34" charset="0"/>
              </a:rPr>
              <a:t>: 10.1186/s40537-023-00796-3.</a:t>
            </a:r>
          </a:p>
          <a:p>
            <a:pPr marL="342900" indent="-342900" algn="just">
              <a:buFont typeface="+mj-lt"/>
              <a:buAutoNum type="arabicPeriod" startAt="7"/>
            </a:pPr>
            <a:endParaRPr lang="en-US" sz="1400" dirty="0">
              <a:latin typeface="Arial" panose="020B0604020202020204" pitchFamily="34" charset="0"/>
              <a:cs typeface="Arial" panose="020B0604020202020204" pitchFamily="34" charset="0"/>
            </a:endParaRPr>
          </a:p>
          <a:p>
            <a:pPr marL="342900" indent="-342900" algn="just">
              <a:buFont typeface="+mj-lt"/>
              <a:buAutoNum type="arabicPeriod" startAt="10"/>
            </a:pPr>
            <a:r>
              <a:rPr lang="en-IN" sz="1400" dirty="0">
                <a:latin typeface="Arial" panose="020B0604020202020204" pitchFamily="34" charset="0"/>
                <a:cs typeface="Arial" panose="020B0604020202020204" pitchFamily="34" charset="0"/>
              </a:rPr>
              <a:t>I. </a:t>
            </a:r>
            <a:r>
              <a:rPr lang="en-IN" sz="1400" dirty="0" err="1">
                <a:latin typeface="Arial" panose="020B0604020202020204" pitchFamily="34" charset="0"/>
                <a:cs typeface="Arial" panose="020B0604020202020204" pitchFamily="34" charset="0"/>
              </a:rPr>
              <a:t>Mbona</a:t>
            </a:r>
            <a:r>
              <a:rPr lang="en-IN" sz="1400" dirty="0">
                <a:latin typeface="Arial" panose="020B0604020202020204" pitchFamily="34" charset="0"/>
                <a:cs typeface="Arial" panose="020B0604020202020204" pitchFamily="34" charset="0"/>
              </a:rPr>
              <a:t> and J. H. P. Eloff, “Classifying social media bots as malicious or benign using semi-supervised machine learning,” J. </a:t>
            </a:r>
            <a:r>
              <a:rPr lang="en-IN" sz="1400" dirty="0" err="1">
                <a:latin typeface="Arial" panose="020B0604020202020204" pitchFamily="34" charset="0"/>
                <a:cs typeface="Arial" panose="020B0604020202020204" pitchFamily="34" charset="0"/>
              </a:rPr>
              <a:t>Cybersecur</a:t>
            </a:r>
            <a:r>
              <a:rPr lang="en-IN" sz="1400" dirty="0">
                <a:latin typeface="Arial" panose="020B0604020202020204" pitchFamily="34" charset="0"/>
                <a:cs typeface="Arial" panose="020B0604020202020204" pitchFamily="34" charset="0"/>
              </a:rPr>
              <a:t>., vol. 9, no. 1, Art. no. tyac015, 2023,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10.1093/</a:t>
            </a:r>
            <a:r>
              <a:rPr lang="en-IN" sz="1400" dirty="0" err="1">
                <a:latin typeface="Arial" panose="020B0604020202020204" pitchFamily="34" charset="0"/>
                <a:cs typeface="Arial" panose="020B0604020202020204" pitchFamily="34" charset="0"/>
              </a:rPr>
              <a:t>cybsec</a:t>
            </a:r>
            <a:r>
              <a:rPr lang="en-IN" sz="1400" dirty="0">
                <a:latin typeface="Arial" panose="020B0604020202020204" pitchFamily="34" charset="0"/>
                <a:cs typeface="Arial" panose="020B0604020202020204" pitchFamily="34" charset="0"/>
              </a:rPr>
              <a:t>/tyac015.​</a:t>
            </a:r>
          </a:p>
          <a:p>
            <a:pPr marL="342900" indent="-342900" algn="just">
              <a:buFont typeface="+mj-lt"/>
              <a:buAutoNum type="arabicPeriod" startAt="10"/>
            </a:pPr>
            <a:endParaRPr lang="en-IN" sz="1400" dirty="0">
              <a:latin typeface="Arial" panose="020B0604020202020204" pitchFamily="34" charset="0"/>
              <a:cs typeface="Arial" panose="020B0604020202020204" pitchFamily="34" charset="0"/>
            </a:endParaRPr>
          </a:p>
          <a:p>
            <a:pPr marL="342900" indent="-342900" algn="just">
              <a:buFont typeface="+mj-lt"/>
              <a:buAutoNum type="arabicPeriod" startAt="10"/>
            </a:pPr>
            <a:r>
              <a:rPr lang="en-IN" sz="1400" dirty="0">
                <a:latin typeface="Arial" panose="020B0604020202020204" pitchFamily="34" charset="0"/>
                <a:cs typeface="Arial" panose="020B0604020202020204" pitchFamily="34" charset="0"/>
              </a:rPr>
              <a:t>M. </a:t>
            </a:r>
            <a:r>
              <a:rPr lang="en-IN" sz="1400" dirty="0" err="1">
                <a:latin typeface="Arial" panose="020B0604020202020204" pitchFamily="34" charset="0"/>
                <a:cs typeface="Arial" panose="020B0604020202020204" pitchFamily="34" charset="0"/>
              </a:rPr>
              <a:t>Aljabri</a:t>
            </a:r>
            <a:r>
              <a:rPr lang="en-IN" sz="1400" dirty="0">
                <a:latin typeface="Arial" panose="020B0604020202020204" pitchFamily="34" charset="0"/>
                <a:cs typeface="Arial" panose="020B0604020202020204" pitchFamily="34" charset="0"/>
              </a:rPr>
              <a:t>, R. </a:t>
            </a:r>
            <a:r>
              <a:rPr lang="en-IN" sz="1400" dirty="0" err="1">
                <a:latin typeface="Arial" panose="020B0604020202020204" pitchFamily="34" charset="0"/>
                <a:cs typeface="Arial" panose="020B0604020202020204" pitchFamily="34" charset="0"/>
              </a:rPr>
              <a:t>Zagrouba</a:t>
            </a:r>
            <a:r>
              <a:rPr lang="en-IN" sz="1400" dirty="0">
                <a:latin typeface="Arial" panose="020B0604020202020204" pitchFamily="34" charset="0"/>
                <a:cs typeface="Arial" panose="020B0604020202020204" pitchFamily="34" charset="0"/>
              </a:rPr>
              <a:t>, A. Shaahid, F. Alnasser, A. Saleh, and D. M. Alomari, “Machine learning-based social media bot detection: A comprehensive literature review,” Soc. </a:t>
            </a:r>
            <a:r>
              <a:rPr lang="en-IN" sz="1400" dirty="0" err="1">
                <a:latin typeface="Arial" panose="020B0604020202020204" pitchFamily="34" charset="0"/>
                <a:cs typeface="Arial" panose="020B0604020202020204" pitchFamily="34" charset="0"/>
              </a:rPr>
              <a:t>Netw</a:t>
            </a:r>
            <a:r>
              <a:rPr lang="en-IN" sz="1400" dirty="0">
                <a:latin typeface="Arial" panose="020B0604020202020204" pitchFamily="34" charset="0"/>
                <a:cs typeface="Arial" panose="020B0604020202020204" pitchFamily="34" charset="0"/>
              </a:rPr>
              <a:t>. Anal. Min., vol. 13, no. 20, pp. 1–40, Jan. 2023, </a:t>
            </a:r>
            <a:r>
              <a:rPr lang="en-IN" sz="1400" dirty="0" err="1">
                <a:latin typeface="Arial" panose="020B0604020202020204" pitchFamily="34" charset="0"/>
                <a:cs typeface="Arial" panose="020B0604020202020204" pitchFamily="34" charset="0"/>
              </a:rPr>
              <a:t>doi</a:t>
            </a:r>
            <a:r>
              <a:rPr lang="en-IN" sz="1400" dirty="0">
                <a:latin typeface="Arial" panose="020B0604020202020204" pitchFamily="34" charset="0"/>
                <a:cs typeface="Arial" panose="020B0604020202020204" pitchFamily="34" charset="0"/>
              </a:rPr>
              <a:t>: 10.1007/s13278-022-01020-5.</a:t>
            </a:r>
          </a:p>
        </p:txBody>
      </p:sp>
      <p:sp>
        <p:nvSpPr>
          <p:cNvPr id="4" name="object 8">
            <a:extLst>
              <a:ext uri="{FF2B5EF4-FFF2-40B4-BE49-F238E27FC236}">
                <a16:creationId xmlns:a16="http://schemas.microsoft.com/office/drawing/2014/main" id="{6853E9C9-943D-2369-A9C5-A8228C12553B}"/>
              </a:ext>
            </a:extLst>
          </p:cNvPr>
          <p:cNvSpPr txBox="1"/>
          <p:nvPr/>
        </p:nvSpPr>
        <p:spPr>
          <a:xfrm>
            <a:off x="2376125" y="67424"/>
            <a:ext cx="4338955" cy="182101"/>
          </a:xfrm>
          <a:prstGeom prst="rect">
            <a:avLst/>
          </a:prstGeom>
        </p:spPr>
        <p:txBody>
          <a:bodyPr vert="horz" wrap="square" lIns="0" tIns="12700" rIns="0" bIns="0" rtlCol="0">
            <a:spAutoFit/>
          </a:bodyPr>
          <a:lstStyle/>
          <a:p>
            <a:pPr marL="12700" algn="ctr">
              <a:lnSpc>
                <a:spcPct val="100000"/>
              </a:lnSpc>
              <a:spcBef>
                <a:spcPts val="100"/>
              </a:spcBef>
            </a:pPr>
            <a:r>
              <a:rPr lang="en-IN" sz="1100" b="1">
                <a:latin typeface="Arial"/>
                <a:cs typeface="Arial"/>
              </a:rPr>
              <a:t>DEPARTMENT OF COMPUTER SCIENCE AND ENGINEERING </a:t>
            </a:r>
            <a:endParaRPr sz="1100">
              <a:latin typeface="Arial"/>
              <a:cs typeface="Arial"/>
            </a:endParaRPr>
          </a:p>
        </p:txBody>
      </p:sp>
      <p:pic>
        <p:nvPicPr>
          <p:cNvPr id="5" name="Picture 4">
            <a:extLst>
              <a:ext uri="{FF2B5EF4-FFF2-40B4-BE49-F238E27FC236}">
                <a16:creationId xmlns:a16="http://schemas.microsoft.com/office/drawing/2014/main" id="{47CBBF2F-F6FD-9DBB-C4D8-57ACC185D04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39000" y="82250"/>
            <a:ext cx="1838367" cy="501373"/>
          </a:xfrm>
          <a:prstGeom prst="rect">
            <a:avLst/>
          </a:prstGeom>
          <a:noFill/>
          <a:ln>
            <a:noFill/>
          </a:ln>
        </p:spPr>
      </p:pic>
      <p:sp>
        <p:nvSpPr>
          <p:cNvPr id="2" name="Slide Number Placeholder 1">
            <a:extLst>
              <a:ext uri="{FF2B5EF4-FFF2-40B4-BE49-F238E27FC236}">
                <a16:creationId xmlns:a16="http://schemas.microsoft.com/office/drawing/2014/main" id="{BA8474D6-0D49-31C4-2048-DAC1F769A700}"/>
              </a:ext>
            </a:extLst>
          </p:cNvPr>
          <p:cNvSpPr>
            <a:spLocks noGrp="1"/>
          </p:cNvSpPr>
          <p:nvPr>
            <p:ph type="sldNum" sz="quarter" idx="7"/>
          </p:nvPr>
        </p:nvSpPr>
        <p:spPr/>
        <p:txBody>
          <a:bodyPr/>
          <a:lstStyle/>
          <a:p>
            <a:fld id="{B6F15528-21DE-4FAA-801E-634DDDAF4B2B}" type="slidenum">
              <a:rPr lang="en-IN" smtClean="0"/>
              <a:t>32</a:t>
            </a:fld>
            <a:endParaRPr lang="en-IN"/>
          </a:p>
        </p:txBody>
      </p:sp>
    </p:spTree>
    <p:extLst>
      <p:ext uri="{BB962C8B-B14F-4D97-AF65-F5344CB8AC3E}">
        <p14:creationId xmlns:p14="http://schemas.microsoft.com/office/powerpoint/2010/main" val="5178129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2E453084D1406741856F7CDF9110FD1E" ma:contentTypeVersion="1" ma:contentTypeDescription="Create a new document." ma:contentTypeScope="" ma:versionID="381ac19b4f8a7c11efd556c9973283a6">
  <xsd:schema xmlns:xsd="http://www.w3.org/2001/XMLSchema" xmlns:xs="http://www.w3.org/2001/XMLSchema" xmlns:p="http://schemas.microsoft.com/office/2006/metadata/properties" xmlns:ns3="e6b3199f-b8d3-434a-857d-c7697354613d" targetNamespace="http://schemas.microsoft.com/office/2006/metadata/properties" ma:root="true" ma:fieldsID="bbafbaa9724966b945646200384f098a" ns3:_="">
    <xsd:import namespace="e6b3199f-b8d3-434a-857d-c7697354613d"/>
    <xsd:element name="properties">
      <xsd:complexType>
        <xsd:sequence>
          <xsd:element name="documentManagement">
            <xsd:complexType>
              <xsd:all>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b3199f-b8d3-434a-857d-c7697354613d"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85030C5-0041-4744-A8EE-668BBA0BC29D}">
  <ds:schemaRefs>
    <ds:schemaRef ds:uri="http://schemas.microsoft.com/office/2006/documentManagement/types"/>
    <ds:schemaRef ds:uri="http://www.w3.org/XML/1998/namespace"/>
    <ds:schemaRef ds:uri="http://purl.org/dc/elements/1.1/"/>
    <ds:schemaRef ds:uri="http://schemas.openxmlformats.org/package/2006/metadata/core-properties"/>
    <ds:schemaRef ds:uri="http://purl.org/dc/dcmitype/"/>
    <ds:schemaRef ds:uri="http://schemas.microsoft.com/office/2006/metadata/properties"/>
    <ds:schemaRef ds:uri="http://schemas.microsoft.com/office/infopath/2007/PartnerControls"/>
    <ds:schemaRef ds:uri="e6b3199f-b8d3-434a-857d-c7697354613d"/>
    <ds:schemaRef ds:uri="http://purl.org/dc/terms/"/>
  </ds:schemaRefs>
</ds:datastoreItem>
</file>

<file path=customXml/itemProps2.xml><?xml version="1.0" encoding="utf-8"?>
<ds:datastoreItem xmlns:ds="http://schemas.openxmlformats.org/officeDocument/2006/customXml" ds:itemID="{650F55AA-C64B-4A73-93D0-421374CC4FE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6b3199f-b8d3-434a-857d-c7697354613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8039B1-7881-4232-97F1-EB4C372715E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1529</TotalTime>
  <Words>2705</Words>
  <Application>Microsoft Office PowerPoint</Application>
  <PresentationFormat>On-screen Show (16:9)</PresentationFormat>
  <Paragraphs>419</Paragraphs>
  <Slides>32</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PowerPoint Presentation</vt:lpstr>
      <vt:lpstr>ABSTRACT</vt:lpstr>
      <vt:lpstr>PROBLEM STATEMENT</vt:lpstr>
      <vt:lpstr>RELATED WORK</vt:lpstr>
      <vt:lpstr>PowerPoint Presentation</vt:lpstr>
      <vt:lpstr>PowerPoint Presentation</vt:lpstr>
      <vt:lpstr>PowerPoint Presentation</vt:lpstr>
      <vt:lpstr>PROPOSED WORK</vt:lpstr>
      <vt:lpstr>EXISTING SYSTEM</vt:lpstr>
      <vt:lpstr>PROPOSED SYSTEM</vt:lpstr>
      <vt:lpstr>ARCHITECTURE DIAGRAM</vt:lpstr>
      <vt:lpstr>Workflow diagram</vt:lpstr>
      <vt:lpstr>INPUT</vt:lpstr>
      <vt:lpstr>OUTPUT</vt:lpstr>
      <vt:lpstr>MODULES</vt:lpstr>
      <vt:lpstr>MODULES DESCRIPTION</vt:lpstr>
      <vt:lpstr>PowerPoint Presentation</vt:lpstr>
      <vt:lpstr>PowerPoint Presentation</vt:lpstr>
      <vt:lpstr>ALGORITHMS USED</vt:lpstr>
      <vt:lpstr>Algorithmic description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 zeroth review</dc:title>
  <cp:lastModifiedBy>Abdul Rahim</cp:lastModifiedBy>
  <cp:revision>5</cp:revision>
  <dcterms:created xsi:type="dcterms:W3CDTF">2025-11-05T07:05:17Z</dcterms:created>
  <dcterms:modified xsi:type="dcterms:W3CDTF">2026-04-24T19:28:23Z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2025-11-05T00:00:00Z</vt:filetime>
  </property>
  <property fmtid="{D5CDD505-2E9C-101B-9397-08002B2CF9AE}" pid="3" name="Creator">
    <vt:lpwstr>Google</vt:lpwstr>
  </property>
  <property fmtid="{D5CDD505-2E9C-101B-9397-08002B2CF9AE}" pid="4" name="LastSaved">
    <vt:filetime>2025-11-05T00:00:00Z</vt:filetime>
  </property>
  <property fmtid="{D5CDD505-2E9C-101B-9397-08002B2CF9AE}" pid="5" name="ContentTypeId">
    <vt:lpwstr>0x0101002E453084D1406741856F7CDF9110FD1E</vt:lpwstr>
  </property>
</Properties>
</file>